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1" r:id="rId22"/>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6" d="100"/>
          <a:sy n="126"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4ACDA-BAF9-487D-9E1F-3242422FF8C3}"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712C-76FF-4C7E-80DC-7CFF49E48671}" type="slidenum">
              <a:rPr lang="en-US" smtClean="0"/>
              <a:t>‹#›</a:t>
            </a:fld>
            <a:endParaRPr lang="en-US"/>
          </a:p>
        </p:txBody>
      </p:sp>
    </p:spTree>
    <p:extLst>
      <p:ext uri="{BB962C8B-B14F-4D97-AF65-F5344CB8AC3E}">
        <p14:creationId xmlns:p14="http://schemas.microsoft.com/office/powerpoint/2010/main" val="4239485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AI engineers and developers moving beyond prototypes. Fibey helps a technician prepare a synthetic fiber work order by combining inventory, work orders, documented procedures and network status. This session demonstrates one Microsoft Foundry hosted agent and five supporting Azure Container Apps. It is a protected demonstration, not a production-ready field-service system. Five instruction skills are not five agents. Multi-agent coordination is discussed as an extension, not shown as deployed functionality.</a:t>
            </a:r>
          </a:p>
          <a:p>
            <a:r>
              <a:t>Repository: https://github.com/leestott/fibey-toolbox-demo. Start with README.md, deployment_guide.md, docs/architecture.md and docs/session-overview.md. All endpoints, identities and accepted versions are environment-specific.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840535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engineering challenge shifts from choosing a model to operating the system around it. Fibey replaces separate agent-side integrations with a common toolbox boundary, but each backend still needs credentials, permissions and a working contract.</a:t>
            </a:r>
          </a:p>
          <a:p>
            <a:r>
              <a:t>The right column describes the direction, not a claim that this demo has finished the production journey. The gateway and work orders use in-memory state and one replica. The application has no per-user session authorization or enforced write approval. Show those limits before discussing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317712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Compose: six inventory/status operations, four work-order operations and one knowledge-retrieval tool are exposed through one MCP endpoint. Operate: azure.yaml deploys a GPT-5.4-mini hosted agent using Responses protocol 2.0.0 and five supporting ACA apps. Coordinate: five skills guide a single agent's tool use; no specialist agents are instantiated. Govern: UI Entra authentication, scoped roles and connection credentials are implemented; durable state, user-owned sessions and enforced write approvals are not.</a:t>
            </a:r>
          </a:p>
          <a:p>
            <a:r>
              <a:t>Managed runtime capabilities are not the same as application readiness. Keep that distinction throughout the walkthrough.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56010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Fibey's tool surface, not a claim that every platform capability is deployed. The toolbox exposes six inventory/status tools, four work-order operations and knowledge_base_retrieve directly. The agent should use advertised names and schemas; tool_search and call_tool wrappers apply only when a toolbox actually exposes them.</a:t>
            </a:r>
          </a:p>
          <a:p>
            <a:r>
              <a:t>Five bundled skills guide routing and formatting. Hosted auto discovery can prefer published skills by name with bundled fallback; explicit mcp mode fails when published skills are unavailable. Skills are instructions, not agents or authorization boundaries.</a:t>
            </a:r>
          </a:p>
          <a:p>
            <a:r>
              <a:t>Inventory's get_network_status fetches only the configured internal dashboard. It is not browser automation. There is no A2A agent in the deployed sample.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59260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services/inventory-mcp/server.py, services/work-orders-api/server.py and scripts/setup-toolbox.ps1. The toolbox script reads the live OpenAPI spec, keeps four approved work-order operations and stores API keys in Foundry connections. The inventory connection provides five inventory tools plus the fixed-dashboard status tool. Foundry IQ is a separate identity-authenticated knowledge connection.</a:t>
            </a:r>
          </a:p>
          <a:p>
            <a:r>
              <a:t>The diagram groups capabilities, not independent agent instances. Skill instructions shape behavior but cannot enforce permissions. Curated domains can become separate toolboxes when ownership or authorization needs justify it; Fibey currently uses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22285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src/fibey/agent/hosted.py. FoundryToolbox resolves TOOLBOX_ENDPOINT or the project endpoint plus TOOLBOX_NAME, authenticates requests and forwards per-request platform context including the call ID. ResponsesHostServer.run_async() supplies the supported hosting lifecycle. AsyncExitStack closes the credential, project/model clients and toolbox on success or failure.</a:t>
            </a:r>
          </a:p>
          <a:p>
            <a:r>
              <a:t>Do not replace the supported helper with a bearer-only transport or global MCP validation patches. Do not silently discard failed history retrieval. Work-order OpenAPI auth uses project_connection with the connection key named x-api-key, not the APIKeyHeader schema identifier.</a:t>
            </a:r>
          </a:p>
          <a:p>
            <a:r>
              <a:t>The cards show configured authentication paths, not a live readiness status.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96574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Prompt: Brief me on WO-007, including stock, relevant procedures, safety and network status. Show the activity sidebar and the final cited briefing. Tool order and wording may vary. Missing backend information must be reported, not invented.</a:t>
            </a:r>
          </a:p>
          <a:p>
            <a:r>
              <a:t>Multi-agent extension, NOT deployed: introduce a coordinator plus read-only inventory and procedure specialists and a restricted work-order writer only when needed. Define typed handoffs containing task/correlation ID, work-order ID, allowed operation, schema version, deadline and result evidence. Propagate cancellation and token/call budgets. Use durable state and idempotency; bind approval to the exact write arguments. MCP is the tool boundary; sharing a toolbox is not itself a coordination protocol.</a:t>
            </a:r>
          </a:p>
          <a:p>
            <a:r>
              <a:t>See docs/session-overview.md for the proposed extension diagram. The optional video link is platform background, not evidence that this sample has A2A agents.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37951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 each identity rather than referring to one universal user token. Browser: Entra sign-in plus allowed-user object ID at the UI. UI to gateway: internal ACA path and a fixed Nginx upstream. Gateway to Foundry: gateway managed identity with project-scoped Azure AI User and the ai.azure.com audience. Hosted model/toolbox calls: platform-provided agent identity. Toolbox to inventory/orders: separate API keys. Toolbox to Search knowledge base: project managed identity with Search Index Data Reader. Search indexer to Blob: Search managed identity with Storage Blob Data Reader.</a:t>
            </a:r>
          </a:p>
          <a:p>
            <a:r>
              <a:t>The project identity used for registry infrastructure is distinct from the runtime agent identity. Contributor is not a role-assignment permission and does not establish all data-plane rights. Show the deployment guide's role matrix and read-only checks. Gateway and dashboard are internal, but inventory/orders and Search remain publicly reachable with their access controls. No full private-network isolation or per-user session authorization is claimed.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81371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preceding slide (slide 9) shows the application's hosted Azure architecture. Use it to establish the five supporting ACA services, Foundry agent/model/toolbox, identities, document pipeline and telemetry before switching to this demo.</a:t>
            </a:r>
          </a:p>
          <a:p>
            <a:r>
              <a:t>This slide contains an actual screenshot captured on 2026-09-17 from the Entra-authenticated deployment at https://leestott-mcpchennai-ui.delightfulwave-889e74b6.northcentralus.azurecontainerapps.io/. It shows the user's synthetic WO-007 briefing, parts availability and activity sidebar. The screenshot asset is docs/images/fibey-live-app.jpg. It is an environment-specific illustration, not proof that another deployment is ready. The image hyperlink opens that deployment; sign-in and the allowlist still apply.</a:t>
            </a:r>
          </a:p>
          <a:p>
            <a:r>
              <a:t>Preflight with deployment_guide.md. Walkthrough: 1) Which OTDR equipment is in stock? 2) Show me WO-007. 3) Find the documented fiber-splicing safety procedure. 4) Check the network status. 5) Brief me on WO-007, including stock, relevant procedures, safety and network status. 6) Which of those parts are low in stock? Then reset chat and demonstrate a fresh context.</a:t>
            </a:r>
          </a:p>
          <a:p>
            <a:r>
              <a:t>Optional synthetic write: read current WO-007 state, set status to in_progress, and read back. There is NO enforced approval UI. Do not retry an uncertain write before reading state. Chat reset does not reset work orders; an operator restart reloads all work-order seed data and discards changes.</a:t>
            </a:r>
          </a:p>
          <a:p>
            <a:r>
              <a:t>Retained recording links are background references from the supplied deck, not evidence of current deployment. Prefer the live verified sample.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2622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Verify anonymous sign-in redirect and denial for a non-allowlisted user. Verify inventory/orders reject absent or incorrect keys. A successful health probe is not authorization evidence. The gateway accepts UUID session handles but does not bind them to authenticated user ownership. Session mappings and work-order data are in memory.</a:t>
            </a:r>
          </a:p>
          <a:p>
            <a:r>
              <a:t>The toolbox uses require_approval never for unattended MCP operations; the UI cannot pause and resume an approved write. Under the platform contract, approval metadata alone does not block tools/call. The application runtime must enforce approval before the exact action. The sidebar is not a durable audit store. No Azure Policy package, Key Vault integration or full private-network topology is provisioned by this sample.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69892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ACA environment system and console logs go to a Log Analytics workspace. Hosted code enables OpenTelemetry but the repository does not provision Application Insights. Confirm the Foundry project's linked telemetry/exporter destination and receipt of a synthetic trace before demonstrating it. Sensitive message events remain off unless ENABLE_SENSITIVE_TELEMETRY=true is explicitly enabled for a controlled synthetic investigation.</a:t>
            </a:r>
          </a:p>
          <a:p>
            <a:r>
              <a:t>Examples: UI 502 means inspect target port, internal upstream, SNI and trusted CA chain, not disable TLS. Hosted 401/403 means inspect the current hop's identity/audience and project role. Knowledge failures mean inspect ingestion, project Search data role, preview API and advertised query_variants schema. A 429 means check model allocation and concurrency. A truncated SSE stream must show an error, not a false completed operation. Do not promise hidden model reasoning or every selection rationale is recorded.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08279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tool has an operation and input/output schema. A skill is an instruction document that guides which operations to call and how to present results. A toolbox is the MCP surface and curated connection configuration. The hosted agent is code running in Foundry that reasons and orchestrates these capabilities.</a:t>
            </a:r>
          </a:p>
          <a:p>
            <a:r>
              <a:t>Fibey has five skills: inventory-lookup, work-order-management, knowledge-retrieval, work-order-preparation and field-briefing. The last two combine tools; they are not persistent routines or additional agents. The sample has no scheduled triggers, GitHub event integration, coordinator service or durable workflow engine. Discuss these as future designs, with explicit state, identities, cancellation, budgets and approval enforcement. Do not imply the original deck's platform roadmap is already part of azure.yaml.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66444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deployment_guide.md as the single maintained procedure. Initial order: azd provision foundry; configure aliases, Entra and API keys; azd provision infra for placeholders; verify pull roles and registry associations; azd publish status-dashboard, inventory-mcp, work-orders-api, gateway and ui; confirm all five SERVICE_*_IMAGE_NAME values; azd provision infra again to apply images, ports and probes; run setup-knowledge-base.ps1 then setup-toolbox.ps1; azd deploy fibey-agent.</a:t>
            </a:r>
          </a:p>
          <a:p>
            <a:r>
              <a:t>Plain azd deploy of a supporting service preserves placeholder port 80 and must not perform the initial image/port switch. Keep image settings so subsequent provision does not revert to placeholders.</a:t>
            </a:r>
          </a:p>
          <a:p>
            <a:r>
              <a:t>For a future CI/GitOps implementation, use a scoped federated identity, reviewed desired state, locked dependencies, immutable artifacts and acceptance gates. None of that pipeline or reconciliation automation ships here. Record accepted toolbox default, hosted version and image digests; retain known-good artifacts for a supported rollback and reverify. Git revert alone does not undo remote data or configuration.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57811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replaces the generic triggers slide: no timer, cron or GitHub trigger is deployed by Fibey. The current entrypoint is chat. Before real operations, externalize gateway mappings and order data, enforce per-user session ownership and backend authorization, add durable approval/audit and idempotency, and test concurrency and recovery.</a:t>
            </a:r>
          </a:p>
          <a:p>
            <a:r>
              <a:t>Model quotas, hosted compute, downstream API capacity and ACA scaling are separate limits. Measure latency, errors, tokens and tool counts against service-level objectives. Plan secret rotation, private networking/egress policy, backup/restore and rollback. Search knowledge-base configuration uses preview APIs; review service support and terms. Synthetic demo success is not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31609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Engineering overview of the deployed sample. Foundry layer: AIServices account and system identity, project and project managed identity, GPT-5.4-mini model deployment, hosted agent endpoint/version/runtime identity, toolbox, project connections and registry integration. Agent protocol is Responses 2.0.0; gateway uses Responses API v1. Five ACA apps share a Container Apps environment: external UI :80, internal gateway :8000, external API-key-protected inventory :8001, external API-key-protected orders :8002, internal dashboard :8003. All five have system identities and registry associations. The UI Entra app registration and secrets are operator prerequisites configured into ACA auth/secrets.</a:t>
            </a:r>
          </a:p>
          <a:p>
            <a:r>
              <a:t>Search Basic has a system identity, one replica/partition, semantic ranker and public network access with local auth disabled. Blob Storage is Standard_LRS StorageV2 with a private foundry-iq-docs container and shared keys disabled. setup-knowledge-base.ps1 uploads eight Markdown files, configures the Blob data source, indexer, index, knowledge source and minimal/extractive KB. Search reads blobs using Storage Blob Data Reader. The toolbox's knowledge connection uses project managed identity with Search Index Data Reader. Inventory/orders use separate x-api-key credentials in Foundry connections.</a:t>
            </a:r>
          </a:p>
          <a:p>
            <a:r>
              <a:t>ACR supplies hosted and ACA images; verify pull roles and explicit registry identity links. ACA logs go to Log Analytics with 30-day workspace retention. Hosted OpenTelemetry can export to the project's linked Application Insights sink; no Application Insights resource is created by this repository. Verify actual trace ingestion. Optional Foundry network modules are not full default isolation; no APIM, Key Vault, separate agent ACA, browser service or multi-agent coordinator is provisioned.</a:t>
            </a:r>
          </a:p>
          <a:p>
            <a:r>
              <a:t>Control-plane deployment uses azure.yaml, Foundry/supporting Bicep and scoped ARM RBAC. See docs/architecture.md for the complete resource/identity diagram and deployment_guide.md for the staged image, ports, probes and acceptance procedure.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30315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6A74-1367-D900-2CAC-D59B9E6F62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96BF1F-6DA6-F443-12C8-B36AF2AD9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2EFBC6-441B-6402-2E69-7E505E6BB61F}"/>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5" name="Footer Placeholder 4">
            <a:extLst>
              <a:ext uri="{FF2B5EF4-FFF2-40B4-BE49-F238E27FC236}">
                <a16:creationId xmlns:a16="http://schemas.microsoft.com/office/drawing/2014/main" id="{2BEC8B01-C178-9B07-5BDD-80CD2B6F70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46C59-5494-BFF4-0C4C-5ACA90E26FE5}"/>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1258311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7AA8-9599-9185-8BA8-7A39F55BAE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BD8A2-A2F7-EC5F-BF5F-3782E5627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A5B27-D117-A2DB-9DCE-F363148926CA}"/>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5" name="Footer Placeholder 4">
            <a:extLst>
              <a:ext uri="{FF2B5EF4-FFF2-40B4-BE49-F238E27FC236}">
                <a16:creationId xmlns:a16="http://schemas.microsoft.com/office/drawing/2014/main" id="{4F3DAC36-6902-3B73-9775-6E298906B3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71C734-6FC0-E6AE-0115-57E257140327}"/>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2035575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D8187-56F7-D83E-FBA4-5C388FAAAB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90B1B0-EA08-9C38-7B64-9084890D98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44593A-DE34-E73F-DD1E-AE95282431F7}"/>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5" name="Footer Placeholder 4">
            <a:extLst>
              <a:ext uri="{FF2B5EF4-FFF2-40B4-BE49-F238E27FC236}">
                <a16:creationId xmlns:a16="http://schemas.microsoft.com/office/drawing/2014/main" id="{D20C453C-DCED-B47D-86B9-AFB50391B3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7BACA-E534-5A6F-2E57-42DCB1422A89}"/>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905775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255A4-8DF6-8270-A590-2E1247D4B4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B06DEF-AF78-6C32-0B64-A07C67546E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76486E-92F0-55D9-9E2B-919F0D505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4D47AE-7ED5-FA54-02B5-3CA2FD37E666}"/>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6" name="Footer Placeholder 5">
            <a:extLst>
              <a:ext uri="{FF2B5EF4-FFF2-40B4-BE49-F238E27FC236}">
                <a16:creationId xmlns:a16="http://schemas.microsoft.com/office/drawing/2014/main" id="{7441A706-426D-1450-DFD3-6A4BDCC4BB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D2C39C-37CF-17EA-0C71-CF6B66CC9639}"/>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351814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60BA-365B-085E-11BE-266DAB8B95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47A047-157D-5B82-F5D3-88975E5498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A82F1F-F73C-2C34-59B1-1E0A05FDD5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F0C040-C660-3F8E-0384-351735F475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F04E3F-4C52-96F2-EE08-0B7DD1252E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3B4AF7-3B65-7C4B-B7EC-618883F48EB8}"/>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8" name="Footer Placeholder 7">
            <a:extLst>
              <a:ext uri="{FF2B5EF4-FFF2-40B4-BE49-F238E27FC236}">
                <a16:creationId xmlns:a16="http://schemas.microsoft.com/office/drawing/2014/main" id="{DB0B71FA-84FF-C2DB-6467-A1D3074AD8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A97EFA-DAB3-407A-63B9-9BE113625964}"/>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2259909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D5B29-7440-8596-3969-8C7AB3699E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4F5278-D1F9-3BB4-99FF-E2E44ED72BBC}"/>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4" name="Footer Placeholder 3">
            <a:extLst>
              <a:ext uri="{FF2B5EF4-FFF2-40B4-BE49-F238E27FC236}">
                <a16:creationId xmlns:a16="http://schemas.microsoft.com/office/drawing/2014/main" id="{D745E1F5-6406-7D95-4576-7FCC19EE53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058FA0-7720-EDC5-7818-531A68182C3B}"/>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3714104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499D52-B56A-3891-DE7F-BCDDF3CBDFD6}"/>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3" name="Footer Placeholder 2">
            <a:extLst>
              <a:ext uri="{FF2B5EF4-FFF2-40B4-BE49-F238E27FC236}">
                <a16:creationId xmlns:a16="http://schemas.microsoft.com/office/drawing/2014/main" id="{D7686086-05B8-6FD1-EB96-9F70D747FE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0FD72A-FBB9-1FE3-DABA-5E079BDF4EE5}"/>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3757909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6A97A-BEEF-A1D6-1411-0794142CD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D93A4F-8307-C578-9C3A-A52D3F6BBB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29D173-4160-49C7-9B9C-E1390F6602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31A73A-7B5F-5F11-83CF-336074423B99}"/>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6" name="Footer Placeholder 5">
            <a:extLst>
              <a:ext uri="{FF2B5EF4-FFF2-40B4-BE49-F238E27FC236}">
                <a16:creationId xmlns:a16="http://schemas.microsoft.com/office/drawing/2014/main" id="{A66F9181-A3A6-57E0-0740-D75606BED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42D41-EEBD-219F-2FF0-D6851D15CE3B}"/>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321053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5E528-735B-1767-47B0-4ACAEE2CC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A93F94-DA29-AB36-2577-5E39358581C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BEA16E-036C-43B7-63E8-A85BE48CFD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8EDA20-6B9B-C408-66E6-1B6E24AC4C59}"/>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6" name="Footer Placeholder 5">
            <a:extLst>
              <a:ext uri="{FF2B5EF4-FFF2-40B4-BE49-F238E27FC236}">
                <a16:creationId xmlns:a16="http://schemas.microsoft.com/office/drawing/2014/main" id="{D176D419-E5D2-7AB2-2ADE-90CF35723E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611BCB-BF1D-4085-4698-8BB72A289D80}"/>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2019658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CD7D6-4F10-BD72-98F7-CE19245735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E674B3-53BE-44B9-8DF8-F1FD84A3DA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3DB5-8C5A-FF54-E771-E2E33E1EDC09}"/>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5" name="Footer Placeholder 4">
            <a:extLst>
              <a:ext uri="{FF2B5EF4-FFF2-40B4-BE49-F238E27FC236}">
                <a16:creationId xmlns:a16="http://schemas.microsoft.com/office/drawing/2014/main" id="{616047BA-7E9F-09F3-A738-EC291004FA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0ACF1-0DBA-405E-551C-CD03AECECA50}"/>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279785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E6EEE6-6DEA-8195-585F-9A56386EE8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66FEB9-5E08-BE45-2352-2D8300793B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FD77A-0845-0AAE-CC84-115614D9F3C4}"/>
              </a:ext>
            </a:extLst>
          </p:cNvPr>
          <p:cNvSpPr>
            <a:spLocks noGrp="1"/>
          </p:cNvSpPr>
          <p:nvPr>
            <p:ph type="dt" sz="half" idx="10"/>
          </p:nvPr>
        </p:nvSpPr>
        <p:spPr/>
        <p:txBody>
          <a:bodyPr/>
          <a:lstStyle/>
          <a:p>
            <a:fld id="{7F9A3F9B-0177-4173-86AC-56ACBB277D77}" type="datetimeFigureOut">
              <a:rPr lang="en-US" smtClean="0"/>
              <a:t>9/17/2026</a:t>
            </a:fld>
            <a:endParaRPr lang="en-US"/>
          </a:p>
        </p:txBody>
      </p:sp>
      <p:sp>
        <p:nvSpPr>
          <p:cNvPr id="5" name="Footer Placeholder 4">
            <a:extLst>
              <a:ext uri="{FF2B5EF4-FFF2-40B4-BE49-F238E27FC236}">
                <a16:creationId xmlns:a16="http://schemas.microsoft.com/office/drawing/2014/main" id="{A91AFD7C-7235-CC97-7105-E3AC78D14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5D32C-0E5A-65BE-93DC-2C81055532C2}"/>
              </a:ext>
            </a:extLst>
          </p:cNvPr>
          <p:cNvSpPr>
            <a:spLocks noGrp="1"/>
          </p:cNvSpPr>
          <p:nvPr>
            <p:ph type="sldNum" sz="quarter" idx="12"/>
          </p:nvPr>
        </p:nvSpPr>
        <p:spPr/>
        <p:txBody>
          <a:bodyPr/>
          <a:lstStyle/>
          <a:p>
            <a:fld id="{B2B00C18-28D7-47E8-A002-94C8FC4AD7BC}" type="slidenum">
              <a:rPr lang="en-US" smtClean="0"/>
              <a:t>‹#›</a:t>
            </a:fld>
            <a:endParaRPr lang="en-US"/>
          </a:p>
        </p:txBody>
      </p:sp>
    </p:spTree>
    <p:extLst>
      <p:ext uri="{BB962C8B-B14F-4D97-AF65-F5344CB8AC3E}">
        <p14:creationId xmlns:p14="http://schemas.microsoft.com/office/powerpoint/2010/main" val="3346769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421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725D8F-779B-6F70-2365-32AAC53B0D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1A8C1-15C3-3428-6D9D-2FE1F5014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1A0FE8-3AE3-CFC7-8D7B-3792B34A34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9A3F9B-0177-4173-86AC-56ACBB277D77}" type="datetimeFigureOut">
              <a:rPr lang="en-US" smtClean="0"/>
              <a:t>9/17/2026</a:t>
            </a:fld>
            <a:endParaRPr lang="en-US"/>
          </a:p>
        </p:txBody>
      </p:sp>
      <p:sp>
        <p:nvSpPr>
          <p:cNvPr id="5" name="Footer Placeholder 4">
            <a:extLst>
              <a:ext uri="{FF2B5EF4-FFF2-40B4-BE49-F238E27FC236}">
                <a16:creationId xmlns:a16="http://schemas.microsoft.com/office/drawing/2014/main" id="{92F29EEC-59E5-D5F9-3720-F3FD499499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B4DA6E-05D8-3583-C69F-D90C9C9ED8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B00C18-28D7-47E8-A002-94C8FC4AD7BC}" type="slidenum">
              <a:rPr lang="en-US" smtClean="0"/>
              <a:t>‹#›</a:t>
            </a:fld>
            <a:endParaRPr lang="en-US"/>
          </a:p>
        </p:txBody>
      </p:sp>
    </p:spTree>
    <p:extLst>
      <p:ext uri="{BB962C8B-B14F-4D97-AF65-F5344CB8AC3E}">
        <p14:creationId xmlns:p14="http://schemas.microsoft.com/office/powerpoint/2010/main" val="3164081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7bBvmifVMew"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leestott-mcpchennai-ui.delightfulwave-889e74b6.northcentralus.azurecontainerapps.io/"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hyperlink" Target="https://www.youtube.com/watch?v=7bBvmifVMew" TargetMode="External"/><Relationship Id="rId5" Type="http://schemas.openxmlformats.org/officeDocument/2006/relationships/image" Target="../media/image1.jpg"/><Relationship Id="rId4" Type="http://schemas.openxmlformats.org/officeDocument/2006/relationships/hyperlink" Target="https://www.youtube.com/watch?v=Gd5QHgTtecQ"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118872" cy="118872"/>
          </a:xfrm>
          <a:prstGeom prst="rect">
            <a:avLst/>
          </a:prstGeom>
          <a:solidFill>
            <a:srgbClr val="F25022"/>
          </a:solidFill>
          <a:ln/>
        </p:spPr>
        <p:txBody>
          <a:bodyPr/>
          <a:lstStyle/>
          <a:p>
            <a:endParaRPr lang="en-US"/>
          </a:p>
        </p:txBody>
      </p:sp>
      <p:sp>
        <p:nvSpPr>
          <p:cNvPr id="3" name="Shape 1"/>
          <p:cNvSpPr/>
          <p:nvPr/>
        </p:nvSpPr>
        <p:spPr>
          <a:xfrm>
            <a:off x="694944" y="502920"/>
            <a:ext cx="118872" cy="118872"/>
          </a:xfrm>
          <a:prstGeom prst="rect">
            <a:avLst/>
          </a:prstGeom>
          <a:solidFill>
            <a:srgbClr val="7FBA00"/>
          </a:solidFill>
          <a:ln/>
        </p:spPr>
        <p:txBody>
          <a:bodyPr/>
          <a:lstStyle/>
          <a:p>
            <a:endParaRPr lang="en-US"/>
          </a:p>
        </p:txBody>
      </p:sp>
      <p:sp>
        <p:nvSpPr>
          <p:cNvPr id="4" name="Shape 2"/>
          <p:cNvSpPr/>
          <p:nvPr/>
        </p:nvSpPr>
        <p:spPr>
          <a:xfrm>
            <a:off x="548640" y="649224"/>
            <a:ext cx="118872" cy="118872"/>
          </a:xfrm>
          <a:prstGeom prst="rect">
            <a:avLst/>
          </a:prstGeom>
          <a:solidFill>
            <a:srgbClr val="00A4EF"/>
          </a:solidFill>
          <a:ln/>
        </p:spPr>
        <p:txBody>
          <a:bodyPr/>
          <a:lstStyle/>
          <a:p>
            <a:endParaRPr lang="en-US"/>
          </a:p>
        </p:txBody>
      </p:sp>
      <p:sp>
        <p:nvSpPr>
          <p:cNvPr id="5" name="Shape 3"/>
          <p:cNvSpPr/>
          <p:nvPr/>
        </p:nvSpPr>
        <p:spPr>
          <a:xfrm>
            <a:off x="694944" y="649224"/>
            <a:ext cx="118872" cy="118872"/>
          </a:xfrm>
          <a:prstGeom prst="rect">
            <a:avLst/>
          </a:prstGeom>
          <a:solidFill>
            <a:srgbClr val="FFB900"/>
          </a:solidFill>
          <a:ln/>
        </p:spPr>
        <p:txBody>
          <a:bodyPr/>
          <a:lstStyle/>
          <a:p>
            <a:endParaRPr lang="en-US"/>
          </a:p>
        </p:txBody>
      </p:sp>
      <p:sp>
        <p:nvSpPr>
          <p:cNvPr id="6" name="Text 4"/>
          <p:cNvSpPr/>
          <p:nvPr/>
        </p:nvSpPr>
        <p:spPr>
          <a:xfrm>
            <a:off x="923544" y="448056"/>
            <a:ext cx="2926080" cy="365760"/>
          </a:xfrm>
          <a:prstGeom prst="rect">
            <a:avLst/>
          </a:prstGeom>
          <a:noFill/>
          <a:ln/>
        </p:spPr>
        <p:txBody>
          <a:bodyPr wrap="square" lIns="0" tIns="0" rIns="0" bIns="0" rtlCol="0" anchor="ctr"/>
          <a:lstStyle/>
          <a:p>
            <a:pPr marL="0" indent="0">
              <a:buNone/>
            </a:pPr>
            <a:r>
              <a:rPr lang="en-US" sz="1500" dirty="0">
                <a:solidFill>
                  <a:srgbClr val="595963"/>
                </a:solidFill>
                <a:latin typeface="Segoe UI Semibold" pitchFamily="34" charset="0"/>
                <a:ea typeface="Segoe UI Semibold" pitchFamily="34" charset="-122"/>
                <a:cs typeface="Segoe UI Semibold" pitchFamily="34" charset="-120"/>
              </a:rPr>
              <a:t>Microsoft Foundry</a:t>
            </a:r>
            <a:endParaRPr lang="en-US" sz="1500" dirty="0"/>
          </a:p>
        </p:txBody>
      </p:sp>
      <p:sp>
        <p:nvSpPr>
          <p:cNvPr id="7" name="Text 5"/>
          <p:cNvSpPr/>
          <p:nvPr/>
        </p:nvSpPr>
        <p:spPr>
          <a:xfrm>
            <a:off x="530352" y="1965960"/>
            <a:ext cx="10515600" cy="1554480"/>
          </a:xfrm>
          <a:prstGeom prst="rect">
            <a:avLst/>
          </a:prstGeom>
          <a:noFill/>
          <a:ln/>
        </p:spPr>
        <p:txBody>
          <a:bodyPr wrap="square" rtlCol="0" anchor="ctr"/>
          <a:lstStyle/>
          <a:p>
            <a:pPr marL="0" indent="0" algn="l">
              <a:lnSpc>
                <a:spcPct val="98000"/>
              </a:lnSpc>
              <a:buNone/>
            </a:pPr>
            <a:r>
              <a:rPr lang="en-US" dirty="0" err="1" sz="4000">
                <a:solidFill>
                  <a:srgbClr val="242424"/>
                </a:solidFill>
                <a:latin typeface="Segoe UI Light" pitchFamily="34" charset="0"/>
                <a:ea typeface="Segoe UI Light" pitchFamily="34" charset="-122"/>
                <a:cs typeface="Segoe UI Light" pitchFamily="34" charset="-120"/>
              </a:rPr>
              <a:t>Fibey Field Ops:</a:t>
            </a:r>
            <a:r>
              <a:rPr lang="en-US" dirty="0" sz="4000">
                <a:solidFill>
                  <a:srgbClr val="242424"/>
                </a:solidFill>
                <a:latin typeface="Segoe UI Light" pitchFamily="34" charset="0"/>
                <a:ea typeface="Segoe UI Light" pitchFamily="34" charset="-122"/>
                <a:cs typeface="Segoe UI Light" pitchFamily="34" charset="-120"/>
              </a:rPr>
              <a:t xml:space="preserve"> Hosted Agents and MCP on Azure</a:t>
            </a:r>
            <a:endParaRPr lang="en-US" sz="4800" dirty="0"/>
          </a:p>
        </p:txBody>
      </p:sp>
      <p:sp>
        <p:nvSpPr>
          <p:cNvPr id="8" name="Text 6"/>
          <p:cNvSpPr/>
          <p:nvPr/>
        </p:nvSpPr>
        <p:spPr>
          <a:xfrm>
            <a:off x="548640" y="4160520"/>
            <a:ext cx="9326880" cy="548640"/>
          </a:xfrm>
          <a:prstGeom prst="rect">
            <a:avLst/>
          </a:prstGeom>
          <a:noFill/>
          <a:ln/>
        </p:spPr>
        <p:txBody>
          <a:bodyPr wrap="square" rtlCol="0" anchor="ctr"/>
          <a:lstStyle/>
          <a:p>
            <a:pPr marL="0" indent="0" algn="l">
              <a:buNone/>
            </a:pPr>
            <a:r>
              <a:rPr lang="en-US" sz="1700" dirty="0">
                <a:solidFill>
                  <a:srgbClr val="33333A"/>
                </a:solidFill>
                <a:latin typeface="Segoe UI" pitchFamily="34" charset="0"/>
                <a:ea typeface="Segoe UI" pitchFamily="34" charset="-122"/>
                <a:cs typeface="Segoe UI" pitchFamily="34" charset="-120"/>
              </a:rPr>
              <a:t>From a working prototype to an operated solution: orchestration, identity and reproducible deployment.</a:t>
            </a:r>
            <a:endParaRPr lang="en-US" sz="1700" dirty="0"/>
          </a:p>
        </p:txBody>
      </p:sp>
      <p:sp>
        <p:nvSpPr>
          <p:cNvPr id="60" name="Wave back"/>
          <p:cNvSpPr/>
          <p:nvPr/>
        </p:nvSpPr>
        <p:spPr>
          <a:xfrm>
            <a:off x="0" y="5458933"/>
            <a:ext cx="12192000" cy="1399067"/>
          </a:xfrm>
          <a:custGeom>
            <a:avLst/>
            <a:gdLst/>
            <a:ahLst/>
            <a:cxnLst/>
            <a:rect l="0" t="0" r="r" b="b"/>
            <a:pathLst>
              <a:path w="12192000" h="1399067">
                <a:moveTo>
                  <a:pt x="0" y="330000"/>
                </a:moveTo>
                <a:cubicBezTo>
                  <a:pt x="2032000" y="140000"/>
                  <a:pt x="4064000" y="520000"/>
                  <a:pt x="6096000" y="330000"/>
                </a:cubicBezTo>
                <a:cubicBezTo>
                  <a:pt x="8128000" y="140000"/>
                  <a:pt x="10160000" y="425000"/>
                  <a:pt x="12192000" y="235000"/>
                </a:cubicBezTo>
                <a:lnTo>
                  <a:pt x="12192000" y="1399067"/>
                </a:lnTo>
                <a:lnTo>
                  <a:pt x="0" y="1399067"/>
                </a:lnTo>
                <a:close/>
              </a:path>
            </a:pathLst>
          </a:custGeom>
          <a:solidFill>
            <a:srgbClr val="EDEAFB"/>
          </a:solidFill>
          <a:ln>
            <a:noFill/>
          </a:ln>
        </p:spPr>
        <p:txBody>
          <a:bodyPr/>
          <a:lstStyle/>
          <a:p>
            <a:endParaRPr/>
          </a:p>
        </p:txBody>
      </p:sp>
      <p:sp>
        <p:nvSpPr>
          <p:cNvPr id="61" name="Wave mid"/>
          <p:cNvSpPr/>
          <p:nvPr/>
        </p:nvSpPr>
        <p:spPr>
          <a:xfrm>
            <a:off x="0" y="5458933"/>
            <a:ext cx="12192000" cy="1399067"/>
          </a:xfrm>
          <a:custGeom>
            <a:avLst/>
            <a:gdLst/>
            <a:ahLst/>
            <a:cxnLst/>
            <a:rect l="0" t="0" r="r" b="b"/>
            <a:pathLst>
              <a:path w="12192000" h="1399067">
                <a:moveTo>
                  <a:pt x="0" y="620000"/>
                </a:moveTo>
                <a:cubicBezTo>
                  <a:pt x="2032000" y="400000"/>
                  <a:pt x="4064000" y="840000"/>
                  <a:pt x="6096000" y="620000"/>
                </a:cubicBezTo>
                <a:cubicBezTo>
                  <a:pt x="8128000" y="400000"/>
                  <a:pt x="10160000" y="730000"/>
                  <a:pt x="12192000" y="510000"/>
                </a:cubicBezTo>
                <a:lnTo>
                  <a:pt x="12192000" y="1399067"/>
                </a:lnTo>
                <a:lnTo>
                  <a:pt x="0" y="1399067"/>
                </a:lnTo>
                <a:close/>
              </a:path>
            </a:pathLst>
          </a:custGeom>
          <a:gradFill flip="none" rotWithShape="1">
            <a:gsLst>
              <a:gs pos="0">
                <a:srgbClr val="BDB4F5"/>
              </a:gs>
              <a:gs pos="100000">
                <a:srgbClr val="8C7CF0"/>
              </a:gs>
            </a:gsLst>
            <a:lin ang="0" scaled="0"/>
          </a:gradFill>
          <a:ln>
            <a:noFill/>
          </a:ln>
        </p:spPr>
        <p:txBody>
          <a:bodyPr/>
          <a:lstStyle/>
          <a:p>
            <a:endParaRPr/>
          </a:p>
        </p:txBody>
      </p:sp>
      <p:sp>
        <p:nvSpPr>
          <p:cNvPr id="62" name="Wave front"/>
          <p:cNvSpPr/>
          <p:nvPr/>
        </p:nvSpPr>
        <p:spPr>
          <a:xfrm>
            <a:off x="0" y="5458933"/>
            <a:ext cx="12192000" cy="1399067"/>
          </a:xfrm>
          <a:custGeom>
            <a:avLst/>
            <a:gdLst/>
            <a:ahLst/>
            <a:cxnLst/>
            <a:rect l="0" t="0" r="r" b="b"/>
            <a:pathLst>
              <a:path w="12192000" h="1399067">
                <a:moveTo>
                  <a:pt x="0" y="900000"/>
                </a:moveTo>
                <a:cubicBezTo>
                  <a:pt x="2032000" y="730000"/>
                  <a:pt x="4064000" y="1070000"/>
                  <a:pt x="6096000" y="900000"/>
                </a:cubicBezTo>
                <a:cubicBezTo>
                  <a:pt x="8128000" y="730000"/>
                  <a:pt x="10160000" y="985000"/>
                  <a:pt x="12192000" y="815000"/>
                </a:cubicBezTo>
                <a:lnTo>
                  <a:pt x="12192000" y="1399067"/>
                </a:lnTo>
                <a:lnTo>
                  <a:pt x="0" y="1399067"/>
                </a:lnTo>
                <a:close/>
              </a:path>
            </a:pathLst>
          </a:custGeom>
          <a:gradFill flip="none" rotWithShape="1">
            <a:gsLst>
              <a:gs pos="0">
                <a:srgbClr val="4B3FCE"/>
              </a:gs>
              <a:gs pos="100000">
                <a:srgbClr val="7A5CF0"/>
              </a:gs>
            </a:gsLst>
            <a:lin ang="0" scaled="0"/>
          </a:gradFill>
          <a:ln>
            <a:noFill/>
          </a:ln>
        </p:spPr>
        <p:txBody>
          <a:bodyPr/>
          <a:lstStyle/>
          <a:p>
            <a:endParaRPr/>
          </a:p>
        </p:txBody>
      </p:sp>
    </p:spTree>
    <p:extLst>
      <p:ext uri="{BB962C8B-B14F-4D97-AF65-F5344CB8AC3E}">
        <p14:creationId xmlns:p14="http://schemas.microsoft.com/office/powerpoint/2010/main" val="619500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rtlCol="0" anchor="ctr"/>
          <a:lstStyle/>
          <a:p>
            <a:pPr marL="0" indent="0" algn="l">
              <a:buNone/>
            </a:pPr>
            <a:r>
              <a:rPr lang="en-US" sz="3400">
                <a:solidFill>
                  <a:srgbClr val="242424"/>
                </a:solidFill>
                <a:latin typeface="Segoe UI Light" pitchFamily="34" charset="0"/>
                <a:ea typeface="Segoe UI Light" pitchFamily="34" charset="-122"/>
                <a:cs typeface="Segoe UI Light" pitchFamily="34" charset="-120"/>
              </a:rPr>
              <a:t>The hard part is no longer model capability</a:t>
            </a:r>
            <a:endParaRPr lang="en-US" sz="3400" dirty="0"/>
          </a:p>
        </p:txBody>
      </p:sp>
      <p:sp>
        <p:nvSpPr>
          <p:cNvPr id="3" name="Text 1"/>
          <p:cNvSpPr/>
          <p:nvPr/>
        </p:nvSpPr>
        <p:spPr>
          <a:xfrm>
            <a:off x="566928" y="1325880"/>
            <a:ext cx="10789920" cy="640080"/>
          </a:xfrm>
          <a:prstGeom prst="rect">
            <a:avLst/>
          </a:prstGeom>
          <a:noFill/>
          <a:ln/>
        </p:spPr>
        <p:txBody>
          <a:bodyPr wrap="square" rtlCol="0" anchor="ctr"/>
          <a:lstStyle/>
          <a:p>
            <a:pPr marL="0" indent="0" algn="l">
              <a:lnSpc>
                <a:spcPct val="102000"/>
              </a:lnSpc>
              <a:buNone/>
            </a:pPr>
            <a:r>
              <a:rPr lang="en-US" sz="1650">
                <a:solidFill>
                  <a:srgbClr val="4B44E0"/>
                </a:solidFill>
                <a:latin typeface="Segoe UI Semibold" pitchFamily="34" charset="0"/>
                <a:ea typeface="Segoe UI Semibold" pitchFamily="34" charset="-122"/>
                <a:cs typeface="Segoe UI Semibold" pitchFamily="34" charset="-120"/>
              </a:rPr>
              <a:t>Moving from experimentation to production shifts the problem to orchestration, governance and scale.</a:t>
            </a:r>
            <a:endParaRPr lang="en-US" sz="1650" dirty="0"/>
          </a:p>
        </p:txBody>
      </p:sp>
      <p:sp>
        <p:nvSpPr>
          <p:cNvPr id="4" name="Shape 2"/>
          <p:cNvSpPr/>
          <p:nvPr/>
        </p:nvSpPr>
        <p:spPr>
          <a:xfrm>
            <a:off x="548640" y="2331720"/>
            <a:ext cx="5074920" cy="3566160"/>
          </a:xfrm>
          <a:prstGeom prst="roundRect">
            <a:avLst>
              <a:gd name="adj" fmla="val 2308"/>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5" name="Text 3"/>
          <p:cNvSpPr/>
          <p:nvPr/>
        </p:nvSpPr>
        <p:spPr>
          <a:xfrm>
            <a:off x="868680" y="2606040"/>
            <a:ext cx="3657600" cy="274320"/>
          </a:xfrm>
          <a:prstGeom prst="rect">
            <a:avLst/>
          </a:prstGeom>
          <a:noFill/>
          <a:ln/>
        </p:spPr>
        <p:txBody>
          <a:bodyPr wrap="square" rtlCol="0" anchor="ctr"/>
          <a:lstStyle/>
          <a:p>
            <a:pPr marL="0" indent="0">
              <a:buNone/>
            </a:pPr>
            <a:r>
              <a:rPr lang="en-US" sz="1100" kern="0" spc="200">
                <a:solidFill>
                  <a:srgbClr val="6B6B75"/>
                </a:solidFill>
                <a:latin typeface="Segoe UI Semibold" pitchFamily="34" charset="0"/>
                <a:ea typeface="Segoe UI Semibold" pitchFamily="34" charset="-122"/>
                <a:cs typeface="Segoe UI Semibold" pitchFamily="34" charset="-120"/>
              </a:rPr>
              <a:t>PROTOTYPE</a:t>
            </a:r>
            <a:endParaRPr lang="en-US" sz="1100" dirty="0"/>
          </a:p>
        </p:txBody>
      </p:sp>
      <p:sp>
        <p:nvSpPr>
          <p:cNvPr id="6" name="Text 4"/>
          <p:cNvSpPr/>
          <p:nvPr/>
        </p:nvSpPr>
        <p:spPr>
          <a:xfrm>
            <a:off x="868680" y="2880360"/>
            <a:ext cx="4480560" cy="457200"/>
          </a:xfrm>
          <a:prstGeom prst="rect">
            <a:avLst/>
          </a:prstGeom>
          <a:noFill/>
          <a:ln/>
        </p:spPr>
        <p:txBody>
          <a:bodyPr wrap="square" rtlCol="0" anchor="ctr"/>
          <a:lstStyle/>
          <a:p>
            <a:pPr marL="0" indent="0">
              <a:buNone/>
            </a:pPr>
            <a:r>
              <a:rPr lang="en-US" sz="1800">
                <a:solidFill>
                  <a:srgbClr val="242424"/>
                </a:solidFill>
                <a:latin typeface="Segoe UI Semibold" pitchFamily="34" charset="0"/>
                <a:ea typeface="Segoe UI Semibold" pitchFamily="34" charset="-122"/>
                <a:cs typeface="Segoe UI Semibold" pitchFamily="34" charset="-120"/>
              </a:rPr>
              <a:t>Hand-wired, hard to operate</a:t>
            </a:r>
            <a:endParaRPr lang="en-US" sz="1800" dirty="0"/>
          </a:p>
        </p:txBody>
      </p:sp>
      <p:sp>
        <p:nvSpPr>
          <p:cNvPr id="7" name="Text 5"/>
          <p:cNvSpPr/>
          <p:nvPr/>
        </p:nvSpPr>
        <p:spPr>
          <a:xfrm>
            <a:off x="868680" y="3566160"/>
            <a:ext cx="4526280" cy="3657600"/>
          </a:xfrm>
          <a:prstGeom prst="rect">
            <a:avLst/>
          </a:prstGeom>
          <a:noFill/>
          <a:ln/>
        </p:spPr>
        <p:txBody>
          <a:bodyPr wrap="square" lIns="0" tIns="0" rIns="0" bIns="0" rtlCol="0" anchor="t"/>
          <a:lstStyle/>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Bespoke glue code per tool and per API</a:t>
            </a:r>
          </a:p>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Credentials and identity handled ad hoc in the agent</a:t>
            </a:r>
          </a:p>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No shared versioning, rollout or rollback path</a:t>
            </a:r>
          </a:p>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Debugging means guessing which step failed</a:t>
            </a:r>
            <a:endParaRPr lang="en-US" sz="1400" dirty="0"/>
          </a:p>
        </p:txBody>
      </p:sp>
      <p:sp>
        <p:nvSpPr>
          <p:cNvPr id="8" name="Text 6"/>
          <p:cNvSpPr/>
          <p:nvPr/>
        </p:nvSpPr>
        <p:spPr>
          <a:xfrm>
            <a:off x="5623560" y="3703320"/>
            <a:ext cx="822960" cy="822960"/>
          </a:xfrm>
          <a:prstGeom prst="rect">
            <a:avLst/>
          </a:prstGeom>
          <a:noFill/>
          <a:ln/>
        </p:spPr>
        <p:txBody>
          <a:bodyPr wrap="square" lIns="0" tIns="0" rIns="0" bIns="0" rtlCol="0" anchor="ctr"/>
          <a:lstStyle/>
          <a:p>
            <a:pPr marL="0" indent="0" algn="ctr">
              <a:buNone/>
            </a:pPr>
            <a:r>
              <a:rPr lang="en-US" sz="3000" dirty="0">
                <a:solidFill>
                  <a:srgbClr val="4B44E0"/>
                </a:solidFill>
                <a:latin typeface="Segoe UI" pitchFamily="34" charset="0"/>
                <a:ea typeface="Segoe UI" pitchFamily="34" charset="-122"/>
                <a:cs typeface="Segoe UI" pitchFamily="34" charset="-120"/>
              </a:rPr>
              <a:t>→</a:t>
            </a:r>
            <a:endParaRPr lang="en-US" sz="3000" dirty="0"/>
          </a:p>
        </p:txBody>
      </p:sp>
      <p:sp>
        <p:nvSpPr>
          <p:cNvPr id="9" name="Shape 7"/>
          <p:cNvSpPr/>
          <p:nvPr/>
        </p:nvSpPr>
        <p:spPr>
          <a:xfrm>
            <a:off x="6537960" y="2331720"/>
            <a:ext cx="5074920" cy="3566160"/>
          </a:xfrm>
          <a:prstGeom prst="roundRect">
            <a:avLst>
              <a:gd name="adj" fmla="val 2308"/>
            </a:avLst>
          </a:prstGeom>
          <a:solidFill>
            <a:srgbClr val="ECEAFB"/>
          </a:solidFill>
          <a:ln w="12700">
            <a:solidFill>
              <a:srgbClr val="D9D3F7"/>
            </a:solidFill>
            <a:prstDash val="solid"/>
          </a:ln>
          <a:effectLst>
            <a:outerShdw blurRad="63500" dist="19050" dir="5400000" algn="bl" rotWithShape="0">
              <a:srgbClr val="B9B9C6">
                <a:alpha val="25000"/>
              </a:srgbClr>
            </a:outerShdw>
          </a:effectLst>
        </p:spPr>
        <p:txBody>
          <a:bodyPr/>
          <a:lstStyle/>
          <a:p>
            <a:endParaRPr lang="en-US"/>
          </a:p>
        </p:txBody>
      </p:sp>
      <p:sp>
        <p:nvSpPr>
          <p:cNvPr id="10" name="Text 8"/>
          <p:cNvSpPr/>
          <p:nvPr/>
        </p:nvSpPr>
        <p:spPr>
          <a:xfrm>
            <a:off x="6858000" y="2606040"/>
            <a:ext cx="4206240" cy="274320"/>
          </a:xfrm>
          <a:prstGeom prst="rect">
            <a:avLst/>
          </a:prstGeom>
          <a:noFill/>
          <a:ln/>
        </p:spPr>
        <p:txBody>
          <a:bodyPr wrap="square" rtlCol="0" anchor="ctr"/>
          <a:lstStyle/>
          <a:p>
            <a:pPr marL="0" indent="0">
              <a:buNone/>
            </a:pPr>
            <a:r>
              <a:rPr lang="en-US" sz="1100" kern="0" spc="200">
                <a:solidFill>
                  <a:srgbClr val="4B44E0"/>
                </a:solidFill>
                <a:latin typeface="Segoe UI Semibold" pitchFamily="34" charset="0"/>
                <a:ea typeface="Segoe UI Semibold" pitchFamily="34" charset="-122"/>
                <a:cs typeface="Segoe UI Semibold" pitchFamily="34" charset="-120"/>
              </a:rPr>
              <a:t>PRODUCTION DIRECTION</a:t>
            </a:r>
            <a:endParaRPr lang="en-US" sz="1100" dirty="0"/>
          </a:p>
        </p:txBody>
      </p:sp>
      <p:sp>
        <p:nvSpPr>
          <p:cNvPr id="11" name="Text 9"/>
          <p:cNvSpPr/>
          <p:nvPr/>
        </p:nvSpPr>
        <p:spPr>
          <a:xfrm>
            <a:off x="6858000" y="2880360"/>
            <a:ext cx="4480560" cy="457200"/>
          </a:xfrm>
          <a:prstGeom prst="rect">
            <a:avLst/>
          </a:prstGeom>
          <a:noFill/>
          <a:ln/>
        </p:spPr>
        <p:txBody>
          <a:bodyPr wrap="square" rtlCol="0" anchor="ctr"/>
          <a:lstStyle/>
          <a:p>
            <a:pPr marL="0" indent="0">
              <a:buNone/>
            </a:pPr>
            <a:r>
              <a:rPr lang="en-US" sz="1800">
                <a:solidFill>
                  <a:srgbClr val="242424"/>
                </a:solidFill>
                <a:latin typeface="Segoe UI Semibold" pitchFamily="34" charset="0"/>
                <a:ea typeface="Segoe UI Semibold" pitchFamily="34" charset="-122"/>
                <a:cs typeface="Segoe UI Semibold" pitchFamily="34" charset="-120"/>
              </a:rPr>
              <a:t>Reproducible, observable, governed</a:t>
            </a:r>
            <a:endParaRPr lang="en-US" sz="1800" dirty="0"/>
          </a:p>
        </p:txBody>
      </p:sp>
      <p:sp>
        <p:nvSpPr>
          <p:cNvPr id="12" name="Text 10"/>
          <p:cNvSpPr/>
          <p:nvPr/>
        </p:nvSpPr>
        <p:spPr>
          <a:xfrm>
            <a:off x="6858000" y="3566160"/>
            <a:ext cx="4526280" cy="3657600"/>
          </a:xfrm>
          <a:prstGeom prst="rect">
            <a:avLst/>
          </a:prstGeom>
          <a:noFill/>
          <a:ln/>
        </p:spPr>
        <p:txBody>
          <a:bodyPr wrap="square" lIns="0" tIns="0" rIns="0" bIns="0" rtlCol="0" anchor="t"/>
          <a:lstStyle/>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MCP toolbox over inventory, work orders and knowledge</a:t>
            </a:r>
          </a:p>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Managed hosted runtime; explicit identity boundaries</a:t>
            </a:r>
          </a:p>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Reviewed Bicep, locked builds and staged azd deployment</a:t>
            </a:r>
          </a:p>
          <a:p>
            <a:pPr marL="228600" indent="-228600" algn="l">
              <a:lnSpc>
                <a:spcPct val="105000"/>
              </a:lnSpc>
              <a:spcAft>
                <a:spcPts val="1000"/>
              </a:spcAft>
              <a:buSzPct val="100000"/>
              <a:buChar char="•"/>
            </a:pPr>
            <a:r>
              <a:rPr lang="en-US" sz="1400">
                <a:solidFill>
                  <a:srgbClr val="33333A"/>
                </a:solidFill>
                <a:latin typeface="Segoe UI" pitchFamily="34" charset="0"/>
                <a:ea typeface="Segoe UI" pitchFamily="34" charset="-122"/>
                <a:cs typeface="Segoe UI" pitchFamily="34" charset="-120"/>
              </a:rPr>
              <a:t>Tool activity and configured traces; verify every boundary</a:t>
            </a:r>
            <a:endParaRPr lang="en-US" sz="1400" dirty="0"/>
          </a:p>
        </p:txBody>
      </p:sp>
      <p:sp>
        <p:nvSpPr>
          <p:cNvPr id="13" name="Text 11"/>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3491389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rtlCol="0" anchor="ctr"/>
          <a:lstStyle/>
          <a:p>
            <a:pPr marL="0" indent="0" algn="l">
              <a:buNone/>
            </a:pPr>
            <a:r>
              <a:rPr lang="en-US" sz="3400">
                <a:solidFill>
                  <a:srgbClr val="242424"/>
                </a:solidFill>
                <a:latin typeface="Segoe UI Light" pitchFamily="34" charset="0"/>
                <a:ea typeface="Segoe UI Light" pitchFamily="34" charset="-122"/>
                <a:cs typeface="Segoe UI Light" pitchFamily="34" charset="-120"/>
              </a:rPr>
              <a:t>Four engineering concerns, one concrete sample</a:t>
            </a:r>
            <a:endParaRPr lang="en-US" sz="3400" dirty="0"/>
          </a:p>
        </p:txBody>
      </p:sp>
      <p:sp>
        <p:nvSpPr>
          <p:cNvPr id="3" name="Text 1"/>
          <p:cNvSpPr/>
          <p:nvPr/>
        </p:nvSpPr>
        <p:spPr>
          <a:xfrm>
            <a:off x="566928" y="1325880"/>
            <a:ext cx="10789920" cy="640080"/>
          </a:xfrm>
          <a:prstGeom prst="rect">
            <a:avLst/>
          </a:prstGeom>
          <a:noFill/>
          <a:ln/>
        </p:spPr>
        <p:txBody>
          <a:bodyPr wrap="square" rtlCol="0" anchor="ctr"/>
          <a:lstStyle/>
          <a:p>
            <a:pPr marL="0" indent="0" algn="l">
              <a:lnSpc>
                <a:spcPct val="102000"/>
              </a:lnSpc>
              <a:buNone/>
            </a:pPr>
            <a:r>
              <a:rPr lang="en-US" sz="1650">
                <a:solidFill>
                  <a:srgbClr val="4B44E0"/>
                </a:solidFill>
                <a:latin typeface="Segoe UI Semibold" pitchFamily="34" charset="0"/>
                <a:ea typeface="Segoe UI Semibold" pitchFamily="34" charset="-122"/>
                <a:cs typeface="Segoe UI Semibold" pitchFamily="34" charset="-120"/>
              </a:rPr>
              <a:t>Show what runs today, then identify the controls needed before real operations.</a:t>
            </a:r>
            <a:endParaRPr lang="en-US" sz="1650" dirty="0"/>
          </a:p>
        </p:txBody>
      </p:sp>
      <p:sp>
        <p:nvSpPr>
          <p:cNvPr id="4" name="Shape 2"/>
          <p:cNvSpPr/>
          <p:nvPr/>
        </p:nvSpPr>
        <p:spPr>
          <a:xfrm>
            <a:off x="548640" y="2103120"/>
            <a:ext cx="2688336" cy="3794760"/>
          </a:xfrm>
          <a:prstGeom prst="roundRect">
            <a:avLst>
              <a:gd name="adj" fmla="val 3401"/>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5" name="Shape 3"/>
          <p:cNvSpPr/>
          <p:nvPr/>
        </p:nvSpPr>
        <p:spPr>
          <a:xfrm>
            <a:off x="548640" y="2103120"/>
            <a:ext cx="2688336" cy="146304"/>
          </a:xfrm>
          <a:prstGeom prst="roundRect">
            <a:avLst>
              <a:gd name="adj" fmla="val 37500"/>
            </a:avLst>
          </a:prstGeom>
          <a:solidFill>
            <a:srgbClr val="4F5BF0"/>
          </a:solidFill>
          <a:ln/>
        </p:spPr>
        <p:txBody>
          <a:bodyPr/>
          <a:lstStyle/>
          <a:p>
            <a:endParaRPr lang="en-US"/>
          </a:p>
        </p:txBody>
      </p:sp>
      <p:sp>
        <p:nvSpPr>
          <p:cNvPr id="6" name="Text 4"/>
          <p:cNvSpPr/>
          <p:nvPr/>
        </p:nvSpPr>
        <p:spPr>
          <a:xfrm>
            <a:off x="804672" y="2468880"/>
            <a:ext cx="2231136" cy="731520"/>
          </a:xfrm>
          <a:prstGeom prst="rect">
            <a:avLst/>
          </a:prstGeom>
          <a:noFill/>
          <a:ln/>
        </p:spPr>
        <p:txBody>
          <a:bodyPr wrap="square" lIns="0" tIns="0" rIns="0" bIns="0" rtlCol="0" anchor="ctr"/>
          <a:lstStyle/>
          <a:p>
            <a:pPr marL="0" indent="0">
              <a:buNone/>
            </a:pPr>
            <a:r>
              <a:rPr lang="en-US" sz="4000" dirty="0">
                <a:solidFill>
                  <a:srgbClr val="4F5BF0"/>
                </a:solidFill>
                <a:latin typeface="Segoe UI Light" pitchFamily="34" charset="0"/>
                <a:ea typeface="Segoe UI Light" pitchFamily="34" charset="-122"/>
                <a:cs typeface="Segoe UI Light" pitchFamily="34" charset="-120"/>
              </a:rPr>
              <a:t>01</a:t>
            </a:r>
            <a:endParaRPr lang="en-US" sz="4000" dirty="0"/>
          </a:p>
        </p:txBody>
      </p:sp>
      <p:sp>
        <p:nvSpPr>
          <p:cNvPr id="7" name="Text 5"/>
          <p:cNvSpPr/>
          <p:nvPr/>
        </p:nvSpPr>
        <p:spPr>
          <a:xfrm>
            <a:off x="822960" y="3246120"/>
            <a:ext cx="2231136" cy="411480"/>
          </a:xfrm>
          <a:prstGeom prst="rect">
            <a:avLst/>
          </a:prstGeom>
          <a:noFill/>
          <a:ln/>
        </p:spPr>
        <p:txBody>
          <a:bodyPr wrap="square" lIns="0" tIns="0" rIns="0" bIns="0" rtlCol="0" anchor="ctr"/>
          <a:lstStyle/>
          <a:p>
            <a:pPr marL="0" indent="0">
              <a:buNone/>
            </a:pPr>
            <a:r>
              <a:rPr lang="en-US" sz="1800">
                <a:solidFill>
                  <a:srgbClr val="242424"/>
                </a:solidFill>
                <a:latin typeface="Segoe UI Semibold" pitchFamily="34" charset="0"/>
                <a:ea typeface="Segoe UI Semibold" pitchFamily="34" charset="-122"/>
                <a:cs typeface="Segoe UI Semibold" pitchFamily="34" charset="-120"/>
              </a:rPr>
              <a:t>Compose</a:t>
            </a:r>
            <a:endParaRPr lang="en-US" sz="1800" dirty="0"/>
          </a:p>
        </p:txBody>
      </p:sp>
      <p:sp>
        <p:nvSpPr>
          <p:cNvPr id="8" name="Text 6"/>
          <p:cNvSpPr/>
          <p:nvPr/>
        </p:nvSpPr>
        <p:spPr>
          <a:xfrm>
            <a:off x="822960" y="3703320"/>
            <a:ext cx="2185416" cy="2011680"/>
          </a:xfrm>
          <a:prstGeom prst="rect">
            <a:avLst/>
          </a:prstGeom>
          <a:noFill/>
          <a:ln/>
        </p:spPr>
        <p:txBody>
          <a:bodyPr wrap="square" lIns="0" tIns="0" rIns="0" bIns="0" rtlCol="0" anchor="t"/>
          <a:lstStyle/>
          <a:p>
            <a:pPr marL="0" indent="0">
              <a:lnSpc>
                <a:spcPct val="108000"/>
              </a:lnSpc>
              <a:buNone/>
            </a:pPr>
            <a:r>
              <a:rPr lang="en-US" sz="1250">
                <a:solidFill>
                  <a:srgbClr val="33333A"/>
                </a:solidFill>
                <a:latin typeface="Segoe UI" pitchFamily="34" charset="0"/>
                <a:ea typeface="Segoe UI" pitchFamily="34" charset="-122"/>
                <a:cs typeface="Segoe UI" pitchFamily="34" charset="-120"/>
              </a:rPr>
              <a:t>Inventory MCP, Work Orders OpenAPI and Foundry IQ through one toolbox.</a:t>
            </a:r>
            <a:endParaRPr lang="en-US" sz="1250" dirty="0"/>
          </a:p>
        </p:txBody>
      </p:sp>
      <p:sp>
        <p:nvSpPr>
          <p:cNvPr id="9" name="Shape 7"/>
          <p:cNvSpPr/>
          <p:nvPr/>
        </p:nvSpPr>
        <p:spPr>
          <a:xfrm>
            <a:off x="3410712" y="2103120"/>
            <a:ext cx="2688336" cy="3794760"/>
          </a:xfrm>
          <a:prstGeom prst="roundRect">
            <a:avLst>
              <a:gd name="adj" fmla="val 3401"/>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0" name="Shape 8"/>
          <p:cNvSpPr/>
          <p:nvPr/>
        </p:nvSpPr>
        <p:spPr>
          <a:xfrm>
            <a:off x="3410712" y="2103120"/>
            <a:ext cx="2688336" cy="146304"/>
          </a:xfrm>
          <a:prstGeom prst="roundRect">
            <a:avLst>
              <a:gd name="adj" fmla="val 37500"/>
            </a:avLst>
          </a:prstGeom>
          <a:solidFill>
            <a:srgbClr val="6E5BF2"/>
          </a:solidFill>
          <a:ln/>
        </p:spPr>
        <p:txBody>
          <a:bodyPr/>
          <a:lstStyle/>
          <a:p>
            <a:endParaRPr lang="en-US"/>
          </a:p>
        </p:txBody>
      </p:sp>
      <p:sp>
        <p:nvSpPr>
          <p:cNvPr id="11" name="Text 9"/>
          <p:cNvSpPr/>
          <p:nvPr/>
        </p:nvSpPr>
        <p:spPr>
          <a:xfrm>
            <a:off x="3666744" y="2468880"/>
            <a:ext cx="2231136" cy="731520"/>
          </a:xfrm>
          <a:prstGeom prst="rect">
            <a:avLst/>
          </a:prstGeom>
          <a:noFill/>
          <a:ln/>
        </p:spPr>
        <p:txBody>
          <a:bodyPr wrap="square" lIns="0" tIns="0" rIns="0" bIns="0" rtlCol="0" anchor="ctr"/>
          <a:lstStyle/>
          <a:p>
            <a:pPr marL="0" indent="0">
              <a:buNone/>
            </a:pPr>
            <a:r>
              <a:rPr lang="en-US" sz="4000" dirty="0">
                <a:solidFill>
                  <a:srgbClr val="6E5BF2"/>
                </a:solidFill>
                <a:latin typeface="Segoe UI Light" pitchFamily="34" charset="0"/>
                <a:ea typeface="Segoe UI Light" pitchFamily="34" charset="-122"/>
                <a:cs typeface="Segoe UI Light" pitchFamily="34" charset="-120"/>
              </a:rPr>
              <a:t>02</a:t>
            </a:r>
            <a:endParaRPr lang="en-US" sz="4000" dirty="0"/>
          </a:p>
        </p:txBody>
      </p:sp>
      <p:sp>
        <p:nvSpPr>
          <p:cNvPr id="12" name="Text 10"/>
          <p:cNvSpPr/>
          <p:nvPr/>
        </p:nvSpPr>
        <p:spPr>
          <a:xfrm>
            <a:off x="3685032" y="3246120"/>
            <a:ext cx="2231136" cy="411480"/>
          </a:xfrm>
          <a:prstGeom prst="rect">
            <a:avLst/>
          </a:prstGeom>
          <a:noFill/>
          <a:ln/>
        </p:spPr>
        <p:txBody>
          <a:bodyPr wrap="square" lIns="0" tIns="0" rIns="0" bIns="0" rtlCol="0" anchor="ctr"/>
          <a:lstStyle/>
          <a:p>
            <a:pPr marL="0" indent="0">
              <a:buNone/>
            </a:pPr>
            <a:r>
              <a:rPr lang="en-US" sz="1800">
                <a:solidFill>
                  <a:srgbClr val="242424"/>
                </a:solidFill>
                <a:latin typeface="Segoe UI Semibold" pitchFamily="34" charset="0"/>
                <a:ea typeface="Segoe UI Semibold" pitchFamily="34" charset="-122"/>
                <a:cs typeface="Segoe UI Semibold" pitchFamily="34" charset="-120"/>
              </a:rPr>
              <a:t>Operate</a:t>
            </a:r>
            <a:endParaRPr lang="en-US" sz="1800" dirty="0"/>
          </a:p>
        </p:txBody>
      </p:sp>
      <p:sp>
        <p:nvSpPr>
          <p:cNvPr id="13" name="Text 11"/>
          <p:cNvSpPr/>
          <p:nvPr/>
        </p:nvSpPr>
        <p:spPr>
          <a:xfrm>
            <a:off x="3685032" y="3703320"/>
            <a:ext cx="2185416" cy="2011680"/>
          </a:xfrm>
          <a:prstGeom prst="rect">
            <a:avLst/>
          </a:prstGeom>
          <a:noFill/>
          <a:ln/>
        </p:spPr>
        <p:txBody>
          <a:bodyPr wrap="square" lIns="0" tIns="0" rIns="0" bIns="0" rtlCol="0" anchor="t"/>
          <a:lstStyle/>
          <a:p>
            <a:pPr marL="0" indent="0">
              <a:lnSpc>
                <a:spcPct val="108000"/>
              </a:lnSpc>
              <a:buNone/>
            </a:pPr>
            <a:r>
              <a:rPr lang="en-US" sz="1250">
                <a:solidFill>
                  <a:srgbClr val="33333A"/>
                </a:solidFill>
                <a:latin typeface="Segoe UI" pitchFamily="34" charset="0"/>
                <a:ea typeface="Segoe UI" pitchFamily="34" charset="-122"/>
                <a:cs typeface="Segoe UI" pitchFamily="34" charset="-120"/>
              </a:rPr>
              <a:t>Foundry hosts the agent; five ACA services support the application.</a:t>
            </a:r>
            <a:endParaRPr lang="en-US" sz="1250" dirty="0"/>
          </a:p>
        </p:txBody>
      </p:sp>
      <p:sp>
        <p:nvSpPr>
          <p:cNvPr id="14" name="Shape 12"/>
          <p:cNvSpPr/>
          <p:nvPr/>
        </p:nvSpPr>
        <p:spPr>
          <a:xfrm>
            <a:off x="6272784" y="2103120"/>
            <a:ext cx="2688336" cy="3794760"/>
          </a:xfrm>
          <a:prstGeom prst="roundRect">
            <a:avLst>
              <a:gd name="adj" fmla="val 3401"/>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5" name="Shape 13"/>
          <p:cNvSpPr/>
          <p:nvPr/>
        </p:nvSpPr>
        <p:spPr>
          <a:xfrm>
            <a:off x="6272784" y="2103120"/>
            <a:ext cx="2688336" cy="146304"/>
          </a:xfrm>
          <a:prstGeom prst="roundRect">
            <a:avLst>
              <a:gd name="adj" fmla="val 37500"/>
            </a:avLst>
          </a:prstGeom>
          <a:solidFill>
            <a:srgbClr val="16168F"/>
          </a:solidFill>
          <a:ln/>
        </p:spPr>
        <p:txBody>
          <a:bodyPr/>
          <a:lstStyle/>
          <a:p>
            <a:endParaRPr lang="en-US"/>
          </a:p>
        </p:txBody>
      </p:sp>
      <p:sp>
        <p:nvSpPr>
          <p:cNvPr id="16" name="Text 14"/>
          <p:cNvSpPr/>
          <p:nvPr/>
        </p:nvSpPr>
        <p:spPr>
          <a:xfrm>
            <a:off x="6528816" y="2468880"/>
            <a:ext cx="2231136" cy="731520"/>
          </a:xfrm>
          <a:prstGeom prst="rect">
            <a:avLst/>
          </a:prstGeom>
          <a:noFill/>
          <a:ln/>
        </p:spPr>
        <p:txBody>
          <a:bodyPr wrap="square" lIns="0" tIns="0" rIns="0" bIns="0" rtlCol="0" anchor="ctr"/>
          <a:lstStyle/>
          <a:p>
            <a:pPr marL="0" indent="0">
              <a:buNone/>
            </a:pPr>
            <a:r>
              <a:rPr lang="en-US" sz="4000" dirty="0">
                <a:solidFill>
                  <a:srgbClr val="16168F"/>
                </a:solidFill>
                <a:latin typeface="Segoe UI Light" pitchFamily="34" charset="0"/>
                <a:ea typeface="Segoe UI Light" pitchFamily="34" charset="-122"/>
                <a:cs typeface="Segoe UI Light" pitchFamily="34" charset="-120"/>
              </a:rPr>
              <a:t>03</a:t>
            </a:r>
            <a:endParaRPr lang="en-US" sz="4000" dirty="0"/>
          </a:p>
        </p:txBody>
      </p:sp>
      <p:sp>
        <p:nvSpPr>
          <p:cNvPr id="17" name="Text 15"/>
          <p:cNvSpPr/>
          <p:nvPr/>
        </p:nvSpPr>
        <p:spPr>
          <a:xfrm>
            <a:off x="6547104" y="3246120"/>
            <a:ext cx="2231136" cy="411480"/>
          </a:xfrm>
          <a:prstGeom prst="rect">
            <a:avLst/>
          </a:prstGeom>
          <a:noFill/>
          <a:ln/>
        </p:spPr>
        <p:txBody>
          <a:bodyPr wrap="square" lIns="0" tIns="0" rIns="0" bIns="0" rtlCol="0" anchor="ctr"/>
          <a:lstStyle/>
          <a:p>
            <a:pPr marL="0" indent="0">
              <a:buNone/>
            </a:pPr>
            <a:r>
              <a:rPr lang="en-US" sz="1800">
                <a:solidFill>
                  <a:srgbClr val="242424"/>
                </a:solidFill>
                <a:latin typeface="Segoe UI Semibold" pitchFamily="34" charset="0"/>
                <a:ea typeface="Segoe UI Semibold" pitchFamily="34" charset="-122"/>
                <a:cs typeface="Segoe UI Semibold" pitchFamily="34" charset="-120"/>
              </a:rPr>
              <a:t>Coordinate</a:t>
            </a:r>
            <a:endParaRPr lang="en-US" sz="1800" dirty="0"/>
          </a:p>
        </p:txBody>
      </p:sp>
      <p:sp>
        <p:nvSpPr>
          <p:cNvPr id="18" name="Text 16"/>
          <p:cNvSpPr/>
          <p:nvPr/>
        </p:nvSpPr>
        <p:spPr>
          <a:xfrm>
            <a:off x="6547104" y="3703320"/>
            <a:ext cx="2185416" cy="2011680"/>
          </a:xfrm>
          <a:prstGeom prst="rect">
            <a:avLst/>
          </a:prstGeom>
          <a:noFill/>
          <a:ln/>
        </p:spPr>
        <p:txBody>
          <a:bodyPr wrap="square" lIns="0" tIns="0" rIns="0" bIns="0" rtlCol="0" anchor="t"/>
          <a:lstStyle/>
          <a:p>
            <a:pPr marL="0" indent="0">
              <a:lnSpc>
                <a:spcPct val="108000"/>
              </a:lnSpc>
              <a:buNone/>
            </a:pPr>
            <a:r>
              <a:rPr lang="en-US" sz="1250">
                <a:solidFill>
                  <a:srgbClr val="33333A"/>
                </a:solidFill>
                <a:latin typeface="Segoe UI" pitchFamily="34" charset="0"/>
                <a:ea typeface="Segoe UI" pitchFamily="34" charset="-122"/>
                <a:cs typeface="Segoe UI" pitchFamily="34" charset="-120"/>
              </a:rPr>
              <a:t>One agent combines tools today. Specialist-agent handoffs are an extension.</a:t>
            </a:r>
            <a:endParaRPr lang="en-US" sz="1250" dirty="0"/>
          </a:p>
        </p:txBody>
      </p:sp>
      <p:sp>
        <p:nvSpPr>
          <p:cNvPr id="19" name="Shape 17"/>
          <p:cNvSpPr/>
          <p:nvPr/>
        </p:nvSpPr>
        <p:spPr>
          <a:xfrm>
            <a:off x="9134856" y="2103120"/>
            <a:ext cx="2688336" cy="3794760"/>
          </a:xfrm>
          <a:prstGeom prst="roundRect">
            <a:avLst>
              <a:gd name="adj" fmla="val 3401"/>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20" name="Shape 18"/>
          <p:cNvSpPr/>
          <p:nvPr/>
        </p:nvSpPr>
        <p:spPr>
          <a:xfrm>
            <a:off x="9134856" y="2103120"/>
            <a:ext cx="2688336" cy="146304"/>
          </a:xfrm>
          <a:prstGeom prst="roundRect">
            <a:avLst>
              <a:gd name="adj" fmla="val 37500"/>
            </a:avLst>
          </a:prstGeom>
          <a:solidFill>
            <a:srgbClr val="4B44E0"/>
          </a:solidFill>
          <a:ln/>
        </p:spPr>
        <p:txBody>
          <a:bodyPr/>
          <a:lstStyle/>
          <a:p>
            <a:endParaRPr lang="en-US"/>
          </a:p>
        </p:txBody>
      </p:sp>
      <p:sp>
        <p:nvSpPr>
          <p:cNvPr id="21" name="Text 19"/>
          <p:cNvSpPr/>
          <p:nvPr/>
        </p:nvSpPr>
        <p:spPr>
          <a:xfrm>
            <a:off x="9390888" y="2468880"/>
            <a:ext cx="2231136" cy="731520"/>
          </a:xfrm>
          <a:prstGeom prst="rect">
            <a:avLst/>
          </a:prstGeom>
          <a:noFill/>
          <a:ln/>
        </p:spPr>
        <p:txBody>
          <a:bodyPr wrap="square" lIns="0" tIns="0" rIns="0" bIns="0" rtlCol="0" anchor="ctr"/>
          <a:lstStyle/>
          <a:p>
            <a:pPr marL="0" indent="0">
              <a:buNone/>
            </a:pPr>
            <a:r>
              <a:rPr lang="en-US" sz="4000" dirty="0">
                <a:solidFill>
                  <a:srgbClr val="4B44E0"/>
                </a:solidFill>
                <a:latin typeface="Segoe UI Light" pitchFamily="34" charset="0"/>
                <a:ea typeface="Segoe UI Light" pitchFamily="34" charset="-122"/>
                <a:cs typeface="Segoe UI Light" pitchFamily="34" charset="-120"/>
              </a:rPr>
              <a:t>04</a:t>
            </a:r>
            <a:endParaRPr lang="en-US" sz="4000" dirty="0"/>
          </a:p>
        </p:txBody>
      </p:sp>
      <p:sp>
        <p:nvSpPr>
          <p:cNvPr id="22" name="Text 20"/>
          <p:cNvSpPr/>
          <p:nvPr/>
        </p:nvSpPr>
        <p:spPr>
          <a:xfrm>
            <a:off x="9409176" y="3246120"/>
            <a:ext cx="2231136" cy="411480"/>
          </a:xfrm>
          <a:prstGeom prst="rect">
            <a:avLst/>
          </a:prstGeom>
          <a:noFill/>
          <a:ln/>
        </p:spPr>
        <p:txBody>
          <a:bodyPr wrap="square" lIns="0" tIns="0" rIns="0" bIns="0" rtlCol="0" anchor="ctr"/>
          <a:lstStyle/>
          <a:p>
            <a:pPr marL="0" indent="0">
              <a:buNone/>
            </a:pPr>
            <a:r>
              <a:rPr lang="en-US" sz="1800">
                <a:solidFill>
                  <a:srgbClr val="242424"/>
                </a:solidFill>
                <a:latin typeface="Segoe UI Semibold" pitchFamily="34" charset="0"/>
                <a:ea typeface="Segoe UI Semibold" pitchFamily="34" charset="-122"/>
                <a:cs typeface="Segoe UI Semibold" pitchFamily="34" charset="-120"/>
              </a:rPr>
              <a:t>Govern</a:t>
            </a:r>
            <a:endParaRPr lang="en-US" sz="1800" dirty="0"/>
          </a:p>
        </p:txBody>
      </p:sp>
      <p:sp>
        <p:nvSpPr>
          <p:cNvPr id="23" name="Text 21"/>
          <p:cNvSpPr/>
          <p:nvPr/>
        </p:nvSpPr>
        <p:spPr>
          <a:xfrm>
            <a:off x="9409176" y="3703320"/>
            <a:ext cx="2185416" cy="2011680"/>
          </a:xfrm>
          <a:prstGeom prst="rect">
            <a:avLst/>
          </a:prstGeom>
          <a:noFill/>
          <a:ln/>
        </p:spPr>
        <p:txBody>
          <a:bodyPr wrap="square" lIns="0" tIns="0" rIns="0" bIns="0" rtlCol="0" anchor="t"/>
          <a:lstStyle/>
          <a:p>
            <a:pPr marL="0" indent="0">
              <a:lnSpc>
                <a:spcPct val="108000"/>
              </a:lnSpc>
              <a:buNone/>
            </a:pPr>
            <a:r>
              <a:rPr lang="en-US" sz="1250">
                <a:solidFill>
                  <a:srgbClr val="33333A"/>
                </a:solidFill>
                <a:latin typeface="Segoe UI" pitchFamily="34" charset="0"/>
                <a:ea typeface="Segoe UI" pitchFamily="34" charset="-122"/>
                <a:cs typeface="Segoe UI" pitchFamily="34" charset="-120"/>
              </a:rPr>
              <a:t>Verify identities and access. Add durable state, approvals and audit for production.</a:t>
            </a:r>
            <a:endParaRPr lang="en-US" sz="1250" dirty="0"/>
          </a:p>
        </p:txBody>
      </p:sp>
      <p:sp>
        <p:nvSpPr>
          <p:cNvPr id="24" name="Text 22"/>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3051868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 10"/>
          <p:cNvSpPr/>
          <p:nvPr/>
        </p:nvSpPr>
        <p:spPr>
          <a:xfrm>
            <a:off x="457200" y="411480"/>
            <a:ext cx="11274552" cy="6035040"/>
          </a:xfrm>
          <a:prstGeom prst="roundRect">
            <a:avLst>
              <a:gd name="adj" fmla="val 3000"/>
            </a:avLst>
          </a:prstGeom>
          <a:solidFill>
            <a:srgbClr val="F7F7F6"/>
          </a:solidFill>
          <a:ln>
            <a:noFill/>
          </a:ln>
        </p:spPr>
        <p:txBody>
          <a:bodyPr/>
          <a:lstStyle/>
          <a:p>
            <a:endParaRPr/>
          </a:p>
        </p:txBody>
      </p:sp>
      <p:sp>
        <p:nvSpPr>
          <p:cNvPr id="11" name="Rect 11"/>
          <p:cNvSpPr/>
          <p:nvPr/>
        </p:nvSpPr>
        <p:spPr>
          <a:xfrm>
            <a:off x="4480560" y="914400"/>
            <a:ext cx="3246120" cy="4206240"/>
          </a:xfrm>
          <a:prstGeom prst="roundRect">
            <a:avLst>
              <a:gd name="adj" fmla="val 8000"/>
            </a:avLst>
          </a:prstGeom>
          <a:solidFill>
            <a:srgbClr val="EDEAFB"/>
          </a:solidFill>
          <a:ln>
            <a:noFill/>
          </a:ln>
        </p:spPr>
        <p:txBody>
          <a:bodyPr/>
          <a:lstStyle/>
          <a:p>
            <a:endParaRPr/>
          </a:p>
        </p:txBody>
      </p:sp>
      <p:sp>
        <p:nvSpPr>
          <p:cNvPr id="12" name="Text 12"/>
          <p:cNvSpPr txBox="1"/>
          <p:nvPr/>
        </p:nvSpPr>
        <p:spPr>
          <a:xfrm>
            <a:off x="4526280" y="1024128"/>
            <a:ext cx="3154680" cy="502920"/>
          </a:xfrm>
          <a:prstGeom prst="rect">
            <a:avLst/>
          </a:prstGeom>
          <a:noFill/>
        </p:spPr>
        <p:txBody>
          <a:bodyPr wrap="square" lIns="0" tIns="0" rIns="0" bIns="0" anchor="ctr">
            <a:normAutofit/>
          </a:bodyPr>
          <a:lstStyle/>
          <a:p>
            <a:pPr algn="ctr"/>
            <a:r>
              <a:rPr lang="en-US" sz="2800" b="1" i="0" dirty="0">
                <a:solidFill>
                  <a:srgbClr val="4B3FCE"/>
                </a:solidFill>
                <a:latin typeface="Segoe UI"/>
              </a:rPr>
              <a:t>Toolbox</a:t>
            </a:r>
          </a:p>
        </p:txBody>
      </p:sp>
      <p:sp>
        <p:nvSpPr>
          <p:cNvPr id="13" name="Text 13"/>
          <p:cNvSpPr txBox="1"/>
          <p:nvPr/>
        </p:nvSpPr>
        <p:spPr>
          <a:xfrm>
            <a:off x="4526280" y="1536192"/>
            <a:ext cx="3154680" cy="274320"/>
          </a:xfrm>
          <a:prstGeom prst="rect">
            <a:avLst/>
          </a:prstGeom>
          <a:noFill/>
        </p:spPr>
        <p:txBody>
          <a:bodyPr wrap="square" lIns="0" tIns="0" rIns="0" bIns="0" anchor="ctr">
            <a:normAutofit/>
          </a:bodyPr>
          <a:lstStyle/>
          <a:p>
            <a:pPr algn="ctr"/>
            <a:r>
              <a:rPr lang="en-US" sz="1200" b="0" i="0" dirty="0">
                <a:solidFill>
                  <a:srgbClr val="5A4EDB"/>
                </a:solidFill>
                <a:latin typeface="Segoe UI"/>
              </a:rPr>
              <a:t>Fibey: one MCP endpoint</a:t>
            </a:r>
          </a:p>
        </p:txBody>
      </p:sp>
      <p:cxnSp>
        <p:nvCxnSpPr>
          <p:cNvPr id="14" name="Conn 14"/>
          <p:cNvCxnSpPr/>
          <p:nvPr/>
        </p:nvCxnSpPr>
        <p:spPr>
          <a:xfrm>
            <a:off x="4709160" y="1947672"/>
            <a:ext cx="2788920" cy="0"/>
          </a:xfrm>
          <a:prstGeom prst="line">
            <a:avLst/>
          </a:prstGeom>
          <a:ln w="9525" cap="rnd">
            <a:solidFill>
              <a:srgbClr val="CFC7F5"/>
            </a:solidFill>
            <a:round/>
          </a:ln>
        </p:spPr>
      </p:cxnSp>
      <p:sp>
        <p:nvSpPr>
          <p:cNvPr id="15" name="Text 15"/>
          <p:cNvSpPr txBox="1"/>
          <p:nvPr/>
        </p:nvSpPr>
        <p:spPr>
          <a:xfrm>
            <a:off x="4709160" y="2103120"/>
            <a:ext cx="1051560" cy="640080"/>
          </a:xfrm>
          <a:prstGeom prst="rect">
            <a:avLst/>
          </a:prstGeom>
          <a:noFill/>
        </p:spPr>
        <p:txBody>
          <a:bodyPr wrap="square" lIns="0" tIns="0" rIns="0" bIns="0" anchor="ctr">
            <a:normAutofit/>
          </a:bodyPr>
          <a:lstStyle/>
          <a:p>
            <a:pPr algn="l"/>
            <a:r>
              <a:rPr lang="en-US" sz="1200" b="1" i="0" dirty="0">
                <a:solidFill>
                  <a:srgbClr val="4B3FCE"/>
                </a:solidFill>
                <a:latin typeface="Segoe UI"/>
              </a:rPr>
              <a:t>Build</a:t>
            </a:r>
          </a:p>
        </p:txBody>
      </p:sp>
      <p:sp>
        <p:nvSpPr>
          <p:cNvPr id="16" name="Text 16"/>
          <p:cNvSpPr txBox="1"/>
          <p:nvPr/>
        </p:nvSpPr>
        <p:spPr>
          <a:xfrm>
            <a:off x="5806440" y="2103120"/>
            <a:ext cx="1691640" cy="640080"/>
          </a:xfrm>
          <a:prstGeom prst="rect">
            <a:avLst/>
          </a:prstGeom>
          <a:noFill/>
        </p:spPr>
        <p:txBody>
          <a:bodyPr wrap="square" lIns="0" tIns="0" rIns="0" bIns="0" anchor="ctr">
            <a:normAutofit/>
          </a:bodyPr>
          <a:lstStyle/>
          <a:p>
            <a:pPr algn="r"/>
            <a:r>
              <a:rPr lang="en-US" sz="1050" b="0" i="0" dirty="0">
                <a:solidFill>
                  <a:srgbClr val="5A4EDB"/>
                </a:solidFill>
                <a:latin typeface="Segoe UI"/>
              </a:rPr>
              <a:t>11 operational tools</a:t>
            </a:r>
          </a:p>
        </p:txBody>
      </p:sp>
      <p:cxnSp>
        <p:nvCxnSpPr>
          <p:cNvPr id="17" name="Conn 17"/>
          <p:cNvCxnSpPr/>
          <p:nvPr/>
        </p:nvCxnSpPr>
        <p:spPr>
          <a:xfrm>
            <a:off x="4709160" y="2816352"/>
            <a:ext cx="2788920" cy="0"/>
          </a:xfrm>
          <a:prstGeom prst="line">
            <a:avLst/>
          </a:prstGeom>
          <a:ln w="9525" cap="rnd">
            <a:solidFill>
              <a:srgbClr val="CFC7F5"/>
            </a:solidFill>
            <a:round/>
          </a:ln>
        </p:spPr>
      </p:cxnSp>
      <p:sp>
        <p:nvSpPr>
          <p:cNvPr id="18" name="Text 18"/>
          <p:cNvSpPr txBox="1"/>
          <p:nvPr/>
        </p:nvSpPr>
        <p:spPr>
          <a:xfrm>
            <a:off x="4709160" y="2971800"/>
            <a:ext cx="1051560" cy="640080"/>
          </a:xfrm>
          <a:prstGeom prst="rect">
            <a:avLst/>
          </a:prstGeom>
          <a:noFill/>
        </p:spPr>
        <p:txBody>
          <a:bodyPr wrap="square" lIns="0" tIns="0" rIns="0" bIns="0" anchor="ctr">
            <a:normAutofit/>
          </a:bodyPr>
          <a:lstStyle/>
          <a:p>
            <a:pPr algn="l"/>
            <a:r>
              <a:rPr lang="en-US" sz="1200" b="1" i="0" dirty="0">
                <a:solidFill>
                  <a:srgbClr val="4B3FCE"/>
                </a:solidFill>
                <a:latin typeface="Segoe UI"/>
              </a:rPr>
              <a:t>Discover</a:t>
            </a:r>
          </a:p>
        </p:txBody>
      </p:sp>
      <p:sp>
        <p:nvSpPr>
          <p:cNvPr id="19" name="Text 19"/>
          <p:cNvSpPr txBox="1"/>
          <p:nvPr/>
        </p:nvSpPr>
        <p:spPr>
          <a:xfrm>
            <a:off x="5806440" y="2971800"/>
            <a:ext cx="1691640" cy="640080"/>
          </a:xfrm>
          <a:prstGeom prst="rect">
            <a:avLst/>
          </a:prstGeom>
          <a:noFill/>
        </p:spPr>
        <p:txBody>
          <a:bodyPr wrap="square" lIns="0" tIns="0" rIns="0" bIns="0" anchor="ctr">
            <a:normAutofit/>
          </a:bodyPr>
          <a:lstStyle/>
          <a:p>
            <a:pPr algn="r"/>
            <a:r>
              <a:rPr lang="en-US" sz="1050" b="0" i="0" dirty="0">
                <a:solidFill>
                  <a:srgbClr val="5A4EDB"/>
                </a:solidFill>
                <a:latin typeface="Segoe UI"/>
              </a:rPr>
              <a:t>Use visible tool schemas; wrappers only if exposed</a:t>
            </a:r>
          </a:p>
        </p:txBody>
      </p:sp>
      <p:cxnSp>
        <p:nvCxnSpPr>
          <p:cNvPr id="20" name="Conn 20"/>
          <p:cNvCxnSpPr/>
          <p:nvPr/>
        </p:nvCxnSpPr>
        <p:spPr>
          <a:xfrm>
            <a:off x="4709160" y="3685032"/>
            <a:ext cx="2788920" cy="0"/>
          </a:xfrm>
          <a:prstGeom prst="line">
            <a:avLst/>
          </a:prstGeom>
          <a:ln w="9525" cap="rnd">
            <a:solidFill>
              <a:srgbClr val="CFC7F5"/>
            </a:solidFill>
            <a:round/>
          </a:ln>
        </p:spPr>
      </p:cxnSp>
      <p:sp>
        <p:nvSpPr>
          <p:cNvPr id="21" name="Text 21"/>
          <p:cNvSpPr txBox="1"/>
          <p:nvPr/>
        </p:nvSpPr>
        <p:spPr>
          <a:xfrm>
            <a:off x="4709160" y="3840480"/>
            <a:ext cx="1051560" cy="640080"/>
          </a:xfrm>
          <a:prstGeom prst="rect">
            <a:avLst/>
          </a:prstGeom>
          <a:noFill/>
        </p:spPr>
        <p:txBody>
          <a:bodyPr wrap="square" lIns="0" tIns="0" rIns="0" bIns="0" anchor="ctr">
            <a:normAutofit/>
          </a:bodyPr>
          <a:lstStyle/>
          <a:p>
            <a:pPr algn="l"/>
            <a:r>
              <a:rPr lang="en-US" sz="1200" b="1" i="0" dirty="0">
                <a:solidFill>
                  <a:srgbClr val="4B3FCE"/>
                </a:solidFill>
                <a:latin typeface="Segoe UI"/>
              </a:rPr>
              <a:t>Consume</a:t>
            </a:r>
          </a:p>
        </p:txBody>
      </p:sp>
      <p:sp>
        <p:nvSpPr>
          <p:cNvPr id="22" name="Text 22"/>
          <p:cNvSpPr txBox="1"/>
          <p:nvPr/>
        </p:nvSpPr>
        <p:spPr>
          <a:xfrm>
            <a:off x="5806440" y="3840480"/>
            <a:ext cx="1691640" cy="640080"/>
          </a:xfrm>
          <a:prstGeom prst="rect">
            <a:avLst/>
          </a:prstGeom>
          <a:noFill/>
        </p:spPr>
        <p:txBody>
          <a:bodyPr wrap="square" lIns="0" tIns="0" rIns="0" bIns="0" anchor="ctr">
            <a:normAutofit/>
          </a:bodyPr>
          <a:lstStyle/>
          <a:p>
            <a:pPr algn="r"/>
            <a:r>
              <a:rPr lang="en-US" sz="1050" b="0" i="0" dirty="0">
                <a:solidFill>
                  <a:srgbClr val="5A4EDB"/>
                </a:solidFill>
                <a:latin typeface="Segoe UI"/>
              </a:rPr>
              <a:t>Authenticated runtime and downstream connections</a:t>
            </a:r>
          </a:p>
        </p:txBody>
      </p:sp>
      <p:sp>
        <p:nvSpPr>
          <p:cNvPr id="23" name="Text 23"/>
          <p:cNvSpPr txBox="1"/>
          <p:nvPr/>
        </p:nvSpPr>
        <p:spPr>
          <a:xfrm>
            <a:off x="868680" y="1325880"/>
            <a:ext cx="3017520" cy="329184"/>
          </a:xfrm>
          <a:prstGeom prst="rect">
            <a:avLst/>
          </a:prstGeom>
          <a:noFill/>
        </p:spPr>
        <p:txBody>
          <a:bodyPr wrap="square" lIns="0" tIns="0" rIns="0" bIns="0" anchor="ctr">
            <a:normAutofit/>
          </a:bodyPr>
          <a:lstStyle/>
          <a:p>
            <a:pPr algn="l"/>
            <a:r>
              <a:rPr lang="en-US" sz="1500" b="0" i="0" dirty="0">
                <a:solidFill>
                  <a:srgbClr val="3B3B3B"/>
                </a:solidFill>
                <a:latin typeface="Segoe UI"/>
              </a:rPr>
              <a:t>Fibey hosted agent</a:t>
            </a:r>
          </a:p>
        </p:txBody>
      </p:sp>
      <p:sp>
        <p:nvSpPr>
          <p:cNvPr id="24" name="Text 24"/>
          <p:cNvSpPr txBox="1"/>
          <p:nvPr/>
        </p:nvSpPr>
        <p:spPr>
          <a:xfrm>
            <a:off x="868680" y="1691640"/>
            <a:ext cx="3017520" cy="256032"/>
          </a:xfrm>
          <a:prstGeom prst="rect">
            <a:avLst/>
          </a:prstGeom>
          <a:noFill/>
        </p:spPr>
        <p:txBody>
          <a:bodyPr wrap="square" lIns="0" tIns="0" rIns="0" bIns="0" anchor="ctr">
            <a:normAutofit/>
          </a:bodyPr>
          <a:lstStyle/>
          <a:p>
            <a:pPr algn="l"/>
            <a:r>
              <a:rPr lang="en-US" sz="900" b="0" i="0" dirty="0">
                <a:solidFill>
                  <a:srgbClr val="70706E"/>
                </a:solidFill>
                <a:latin typeface="Segoe UI"/>
              </a:rPr>
              <a:t>Responses 2.0.0</a:t>
            </a:r>
          </a:p>
        </p:txBody>
      </p:sp>
      <p:sp>
        <p:nvSpPr>
          <p:cNvPr id="25" name="Text 25"/>
          <p:cNvSpPr txBox="1"/>
          <p:nvPr/>
        </p:nvSpPr>
        <p:spPr>
          <a:xfrm>
            <a:off x="868680" y="2221992"/>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Microsoft Agent Framework</a:t>
            </a:r>
          </a:p>
        </p:txBody>
      </p:sp>
      <p:sp>
        <p:nvSpPr>
          <p:cNvPr id="26" name="Text 26"/>
          <p:cNvSpPr txBox="1"/>
          <p:nvPr/>
        </p:nvSpPr>
        <p:spPr>
          <a:xfrm>
            <a:off x="868680" y="3044952"/>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Five instruction skills</a:t>
            </a:r>
          </a:p>
        </p:txBody>
      </p:sp>
      <p:sp>
        <p:nvSpPr>
          <p:cNvPr id="27" name="Text 27"/>
          <p:cNvSpPr txBox="1"/>
          <p:nvPr/>
        </p:nvSpPr>
        <p:spPr>
          <a:xfrm>
            <a:off x="868680" y="3867912"/>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Local gateway / CLI</a:t>
            </a:r>
          </a:p>
        </p:txBody>
      </p:sp>
      <p:cxnSp>
        <p:nvCxnSpPr>
          <p:cNvPr id="28" name="Conn 28"/>
          <p:cNvCxnSpPr/>
          <p:nvPr/>
        </p:nvCxnSpPr>
        <p:spPr>
          <a:xfrm>
            <a:off x="3977640" y="1600200"/>
            <a:ext cx="502920" cy="1417320"/>
          </a:xfrm>
          <a:prstGeom prst="curvedConnector3">
            <a:avLst/>
          </a:prstGeom>
          <a:ln w="15875" cap="rnd">
            <a:solidFill>
              <a:srgbClr val="8C80E6"/>
            </a:solidFill>
            <a:round/>
          </a:ln>
        </p:spPr>
      </p:cxnSp>
      <p:cxnSp>
        <p:nvCxnSpPr>
          <p:cNvPr id="29" name="Conn 29"/>
          <p:cNvCxnSpPr/>
          <p:nvPr/>
        </p:nvCxnSpPr>
        <p:spPr>
          <a:xfrm>
            <a:off x="3977640" y="2423160"/>
            <a:ext cx="502920" cy="594360"/>
          </a:xfrm>
          <a:prstGeom prst="curvedConnector3">
            <a:avLst/>
          </a:prstGeom>
          <a:ln w="15875" cap="rnd">
            <a:solidFill>
              <a:srgbClr val="8C80E6"/>
            </a:solidFill>
            <a:round/>
          </a:ln>
        </p:spPr>
      </p:cxnSp>
      <p:cxnSp>
        <p:nvCxnSpPr>
          <p:cNvPr id="30" name="Conn 30"/>
          <p:cNvCxnSpPr/>
          <p:nvPr/>
        </p:nvCxnSpPr>
        <p:spPr>
          <a:xfrm flipV="1">
            <a:off x="3977640" y="3017520"/>
            <a:ext cx="502920" cy="228600"/>
          </a:xfrm>
          <a:prstGeom prst="curvedConnector3">
            <a:avLst/>
          </a:prstGeom>
          <a:ln w="15875" cap="rnd">
            <a:solidFill>
              <a:srgbClr val="8C80E6"/>
            </a:solidFill>
            <a:round/>
          </a:ln>
        </p:spPr>
      </p:cxnSp>
      <p:cxnSp>
        <p:nvCxnSpPr>
          <p:cNvPr id="31" name="Conn 31"/>
          <p:cNvCxnSpPr/>
          <p:nvPr/>
        </p:nvCxnSpPr>
        <p:spPr>
          <a:xfrm flipV="1">
            <a:off x="3977640" y="3017520"/>
            <a:ext cx="502920" cy="1051560"/>
          </a:xfrm>
          <a:prstGeom prst="curvedConnector3">
            <a:avLst/>
          </a:prstGeom>
          <a:ln w="15875" cap="rnd">
            <a:solidFill>
              <a:srgbClr val="8C80E6"/>
            </a:solidFill>
            <a:round/>
          </a:ln>
        </p:spPr>
      </p:cxnSp>
      <p:sp>
        <p:nvSpPr>
          <p:cNvPr id="32" name="Text 32"/>
          <p:cNvSpPr txBox="1"/>
          <p:nvPr/>
        </p:nvSpPr>
        <p:spPr>
          <a:xfrm>
            <a:off x="8229600" y="1170432"/>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Inventory MCP</a:t>
            </a:r>
          </a:p>
        </p:txBody>
      </p:sp>
      <p:cxnSp>
        <p:nvCxnSpPr>
          <p:cNvPr id="33" name="Conn 33"/>
          <p:cNvCxnSpPr/>
          <p:nvPr/>
        </p:nvCxnSpPr>
        <p:spPr>
          <a:xfrm flipV="1">
            <a:off x="7726680" y="1371600"/>
            <a:ext cx="457200" cy="1645920"/>
          </a:xfrm>
          <a:prstGeom prst="curvedConnector3">
            <a:avLst/>
          </a:prstGeom>
          <a:ln w="15875" cap="rnd">
            <a:solidFill>
              <a:srgbClr val="2FA08C"/>
            </a:solidFill>
            <a:round/>
          </a:ln>
        </p:spPr>
      </p:cxnSp>
      <p:sp>
        <p:nvSpPr>
          <p:cNvPr id="34" name="Text 34"/>
          <p:cNvSpPr txBox="1"/>
          <p:nvPr/>
        </p:nvSpPr>
        <p:spPr>
          <a:xfrm>
            <a:off x="8229600" y="1737360"/>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Status via MCP</a:t>
            </a:r>
          </a:p>
        </p:txBody>
      </p:sp>
      <p:cxnSp>
        <p:nvCxnSpPr>
          <p:cNvPr id="35" name="Conn 35"/>
          <p:cNvCxnSpPr/>
          <p:nvPr/>
        </p:nvCxnSpPr>
        <p:spPr>
          <a:xfrm flipV="1">
            <a:off x="7726680" y="1938528"/>
            <a:ext cx="457200" cy="1078992"/>
          </a:xfrm>
          <a:prstGeom prst="curvedConnector3">
            <a:avLst/>
          </a:prstGeom>
          <a:ln w="15875" cap="rnd">
            <a:solidFill>
              <a:srgbClr val="2FA08C"/>
            </a:solidFill>
            <a:round/>
          </a:ln>
        </p:spPr>
      </p:cxnSp>
      <p:sp>
        <p:nvSpPr>
          <p:cNvPr id="36" name="Text 36"/>
          <p:cNvSpPr txBox="1"/>
          <p:nvPr/>
        </p:nvSpPr>
        <p:spPr>
          <a:xfrm>
            <a:off x="8229600" y="2304288"/>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Orders OpenAPI</a:t>
            </a:r>
          </a:p>
        </p:txBody>
      </p:sp>
      <p:cxnSp>
        <p:nvCxnSpPr>
          <p:cNvPr id="37" name="Conn 37"/>
          <p:cNvCxnSpPr/>
          <p:nvPr/>
        </p:nvCxnSpPr>
        <p:spPr>
          <a:xfrm flipV="1">
            <a:off x="7726680" y="2505456"/>
            <a:ext cx="457200" cy="512064"/>
          </a:xfrm>
          <a:prstGeom prst="curvedConnector3">
            <a:avLst/>
          </a:prstGeom>
          <a:ln w="15875" cap="rnd">
            <a:solidFill>
              <a:srgbClr val="2FA08C"/>
            </a:solidFill>
            <a:round/>
          </a:ln>
        </p:spPr>
      </p:cxnSp>
      <p:sp>
        <p:nvSpPr>
          <p:cNvPr id="38" name="Text 38"/>
          <p:cNvSpPr txBox="1"/>
          <p:nvPr/>
        </p:nvSpPr>
        <p:spPr>
          <a:xfrm>
            <a:off x="8229600" y="2871216"/>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Foundry IQ</a:t>
            </a:r>
          </a:p>
        </p:txBody>
      </p:sp>
      <p:cxnSp>
        <p:nvCxnSpPr>
          <p:cNvPr id="39" name="Conn 39"/>
          <p:cNvCxnSpPr/>
          <p:nvPr/>
        </p:nvCxnSpPr>
        <p:spPr>
          <a:xfrm>
            <a:off x="7726680" y="3017520"/>
            <a:ext cx="457200" cy="54864"/>
          </a:xfrm>
          <a:prstGeom prst="curvedConnector3">
            <a:avLst/>
          </a:prstGeom>
          <a:ln w="15875" cap="rnd">
            <a:solidFill>
              <a:srgbClr val="2FA08C"/>
            </a:solidFill>
            <a:round/>
          </a:ln>
        </p:spPr>
      </p:cxnSp>
      <p:sp>
        <p:nvSpPr>
          <p:cNvPr id="40" name="Text 40"/>
          <p:cNvSpPr txBox="1"/>
          <p:nvPr/>
        </p:nvSpPr>
        <p:spPr>
          <a:xfrm>
            <a:off x="8229600" y="3438144"/>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Bundled skills</a:t>
            </a:r>
          </a:p>
        </p:txBody>
      </p:sp>
      <p:cxnSp>
        <p:nvCxnSpPr>
          <p:cNvPr id="41" name="Conn 41"/>
          <p:cNvCxnSpPr/>
          <p:nvPr/>
        </p:nvCxnSpPr>
        <p:spPr>
          <a:xfrm>
            <a:off x="7726680" y="3017520"/>
            <a:ext cx="457200" cy="621792"/>
          </a:xfrm>
          <a:prstGeom prst="curvedConnector3">
            <a:avLst/>
          </a:prstGeom>
          <a:ln w="15875" cap="rnd">
            <a:solidFill>
              <a:srgbClr val="2FA08C"/>
            </a:solidFill>
            <a:round/>
          </a:ln>
        </p:spPr>
      </p:cxnSp>
      <p:sp>
        <p:nvSpPr>
          <p:cNvPr id="42" name="Text 42"/>
          <p:cNvSpPr txBox="1"/>
          <p:nvPr/>
        </p:nvSpPr>
        <p:spPr>
          <a:xfrm>
            <a:off x="8229600" y="4005072"/>
            <a:ext cx="3017520" cy="402336"/>
          </a:xfrm>
          <a:prstGeom prst="rect">
            <a:avLst/>
          </a:prstGeom>
          <a:noFill/>
        </p:spPr>
        <p:txBody>
          <a:bodyPr wrap="square" lIns="0" tIns="0" rIns="0" bIns="0" anchor="ctr">
            <a:normAutofit/>
          </a:bodyPr>
          <a:lstStyle/>
          <a:p>
            <a:pPr algn="l"/>
            <a:r>
              <a:rPr lang="en-US" sz="1500" b="0" i="0" dirty="0">
                <a:solidFill>
                  <a:srgbClr val="3B3B3B"/>
                </a:solidFill>
                <a:latin typeface="Segoe UI"/>
              </a:rPr>
              <a:t>No A2A agents</a:t>
            </a:r>
          </a:p>
        </p:txBody>
      </p:sp>
      <p:cxnSp>
        <p:nvCxnSpPr>
          <p:cNvPr id="43" name="Conn 43"/>
          <p:cNvCxnSpPr/>
          <p:nvPr/>
        </p:nvCxnSpPr>
        <p:spPr>
          <a:xfrm>
            <a:off x="7726680" y="3017520"/>
            <a:ext cx="457200" cy="1188720"/>
          </a:xfrm>
          <a:prstGeom prst="curvedConnector3">
            <a:avLst/>
          </a:prstGeom>
          <a:ln w="15875" cap="rnd">
            <a:solidFill>
              <a:srgbClr val="2FA08C"/>
            </a:solidFill>
            <a:round/>
          </a:ln>
        </p:spPr>
      </p:cxnSp>
      <p:sp>
        <p:nvSpPr>
          <p:cNvPr id="44" name="Text 44"/>
          <p:cNvSpPr txBox="1"/>
          <p:nvPr/>
        </p:nvSpPr>
        <p:spPr>
          <a:xfrm>
            <a:off x="8229600" y="4617720"/>
            <a:ext cx="3017520" cy="274320"/>
          </a:xfrm>
          <a:prstGeom prst="rect">
            <a:avLst/>
          </a:prstGeom>
          <a:noFill/>
        </p:spPr>
        <p:txBody>
          <a:bodyPr wrap="square" lIns="0" tIns="0" rIns="0" bIns="0" anchor="ctr">
            <a:normAutofit/>
          </a:bodyPr>
          <a:lstStyle/>
          <a:p>
            <a:pPr algn="l"/>
            <a:r>
              <a:rPr lang="en-US" sz="1000" b="0" i="1" dirty="0">
                <a:solidFill>
                  <a:srgbClr val="70706E"/>
                </a:solidFill>
                <a:latin typeface="Segoe UI"/>
              </a:rPr>
              <a:t>Current sample scope</a:t>
            </a:r>
          </a:p>
        </p:txBody>
      </p:sp>
      <p:cxnSp>
        <p:nvCxnSpPr>
          <p:cNvPr id="45" name="Conn 45"/>
          <p:cNvCxnSpPr/>
          <p:nvPr/>
        </p:nvCxnSpPr>
        <p:spPr>
          <a:xfrm>
            <a:off x="868680" y="5440680"/>
            <a:ext cx="10469880" cy="0"/>
          </a:xfrm>
          <a:prstGeom prst="line">
            <a:avLst/>
          </a:prstGeom>
          <a:ln w="9525" cap="rnd">
            <a:solidFill>
              <a:srgbClr val="DDDCD8"/>
            </a:solidFill>
            <a:round/>
          </a:ln>
        </p:spPr>
      </p:cxnSp>
      <p:sp>
        <p:nvSpPr>
          <p:cNvPr id="46" name="Text 46"/>
          <p:cNvSpPr txBox="1"/>
          <p:nvPr/>
        </p:nvSpPr>
        <p:spPr>
          <a:xfrm>
            <a:off x="868680" y="5577840"/>
            <a:ext cx="2194560" cy="292608"/>
          </a:xfrm>
          <a:prstGeom prst="rect">
            <a:avLst/>
          </a:prstGeom>
          <a:noFill/>
        </p:spPr>
        <p:txBody>
          <a:bodyPr wrap="square" lIns="0" tIns="0" rIns="0" bIns="0" anchor="ctr">
            <a:normAutofit/>
          </a:bodyPr>
          <a:lstStyle/>
          <a:p>
            <a:pPr algn="l"/>
            <a:r>
              <a:rPr lang="en-US" sz="1200" b="1" i="0" dirty="0">
                <a:solidFill>
                  <a:srgbClr val="2B2B2B"/>
                </a:solidFill>
                <a:latin typeface="Segoe UI"/>
              </a:rPr>
              <a:t>Microsoft Foundry</a:t>
            </a:r>
          </a:p>
        </p:txBody>
      </p:sp>
      <p:sp>
        <p:nvSpPr>
          <p:cNvPr id="47" name="Text 47"/>
          <p:cNvSpPr txBox="1"/>
          <p:nvPr/>
        </p:nvSpPr>
        <p:spPr>
          <a:xfrm>
            <a:off x="3246120" y="5577840"/>
            <a:ext cx="2743200" cy="292608"/>
          </a:xfrm>
          <a:prstGeom prst="rect">
            <a:avLst/>
          </a:prstGeom>
          <a:noFill/>
        </p:spPr>
        <p:txBody>
          <a:bodyPr wrap="square" lIns="0" tIns="0" rIns="0" bIns="0" anchor="ctr">
            <a:normAutofit/>
          </a:bodyPr>
          <a:lstStyle/>
          <a:p>
            <a:pPr algn="l"/>
            <a:r>
              <a:rPr lang="en-US" sz="1200" b="0" i="0" dirty="0">
                <a:solidFill>
                  <a:srgbClr val="6E6E6A"/>
                </a:solidFill>
                <a:latin typeface="Segoe UI"/>
              </a:rPr>
              <a:t>Verify each access boundary</a:t>
            </a:r>
          </a:p>
        </p:txBody>
      </p:sp>
    </p:spTree>
    <p:extLst>
      <p:ext uri="{BB962C8B-B14F-4D97-AF65-F5344CB8AC3E}">
        <p14:creationId xmlns:p14="http://schemas.microsoft.com/office/powerpoint/2010/main" val="1820281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758952" cy="310896"/>
          </a:xfrm>
          <a:prstGeom prst="roundRect">
            <a:avLst>
              <a:gd name="adj" fmla="val 50000"/>
            </a:avLst>
          </a:prstGeom>
          <a:solidFill>
            <a:srgbClr val="4F5BF0"/>
          </a:solidFill>
          <a:ln/>
        </p:spPr>
        <p:txBody>
          <a:bodyPr/>
          <a:lstStyle/>
          <a:p>
            <a:endParaRPr lang="en-US"/>
          </a:p>
        </p:txBody>
      </p:sp>
      <p:sp>
        <p:nvSpPr>
          <p:cNvPr id="3" name="Text 1"/>
          <p:cNvSpPr/>
          <p:nvPr/>
        </p:nvSpPr>
        <p:spPr>
          <a:xfrm>
            <a:off x="548640" y="502920"/>
            <a:ext cx="758952" cy="310896"/>
          </a:xfrm>
          <a:prstGeom prst="rect">
            <a:avLst/>
          </a:prstGeom>
          <a:noFill/>
          <a:ln/>
        </p:spPr>
        <p:txBody>
          <a:bodyPr wrap="square" lIns="0" tIns="0" rIns="0" bIns="0" rtlCol="0" anchor="ctr"/>
          <a:lstStyle/>
          <a:p>
            <a:pPr marL="0" indent="0" algn="ctr">
              <a:buNone/>
            </a:pPr>
            <a:r>
              <a:rPr lang="en-US" sz="1050" kern="0" spc="150">
                <a:solidFill>
                  <a:srgbClr val="FFFFFF"/>
                </a:solidFill>
                <a:latin typeface="Segoe UI Semibold" pitchFamily="34" charset="0"/>
                <a:ea typeface="Segoe UI Semibold" pitchFamily="34" charset="-122"/>
                <a:cs typeface="Segoe UI Semibold" pitchFamily="34" charset="-120"/>
              </a:rPr>
              <a:t>DESIGN</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Modular Fibey capabilities, reproducible contracts</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Separate system ownership from the one-agent orchestration layer.</a:t>
            </a:r>
            <a:endParaRPr lang="en-US" sz="1550" dirty="0"/>
          </a:p>
        </p:txBody>
      </p:sp>
      <p:sp>
        <p:nvSpPr>
          <p:cNvPr id="6" name="Text 4"/>
          <p:cNvSpPr/>
          <p:nvPr/>
        </p:nvSpPr>
        <p:spPr>
          <a:xfrm>
            <a:off x="566928" y="2331720"/>
            <a:ext cx="5394960" cy="3657600"/>
          </a:xfrm>
          <a:prstGeom prst="rect">
            <a:avLst/>
          </a:prstGeom>
          <a:noFill/>
          <a:ln/>
        </p:spPr>
        <p:txBody>
          <a:bodyPr wrap="square" lIns="0" tIns="0" rIns="0" bIns="0" rtlCol="0" anchor="t"/>
          <a:lstStyle/>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Inventory owns parts and status; work orders own synthetic job changes.</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Foundry connections keep backend keys out of prompts and browser code.</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Load the matching skill, then use the exact advertised operation schema.</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Review Bicep, setup scripts, skills and schema changes together.</a:t>
            </a:r>
            <a:endParaRPr lang="en-US" sz="1500" dirty="0"/>
          </a:p>
        </p:txBody>
      </p:sp>
      <p:sp>
        <p:nvSpPr>
          <p:cNvPr id="7" name="Shape 5"/>
          <p:cNvSpPr/>
          <p:nvPr/>
        </p:nvSpPr>
        <p:spPr>
          <a:xfrm>
            <a:off x="6281928" y="2258568"/>
            <a:ext cx="5404104" cy="2651760"/>
          </a:xfrm>
          <a:prstGeom prst="roundRect">
            <a:avLst>
              <a:gd name="adj" fmla="val 3103"/>
            </a:avLst>
          </a:prstGeom>
          <a:solidFill>
            <a:srgbClr val="FFFFFF"/>
          </a:solidFill>
          <a:ln w="12700">
            <a:solidFill>
              <a:srgbClr val="E6E6EC"/>
            </a:solidFill>
            <a:prstDash val="solid"/>
          </a:ln>
          <a:effectLst>
            <a:outerShdw blurRad="152400" dist="50800" dir="5400000" algn="bl" rotWithShape="0">
              <a:srgbClr val="8E8E9E">
                <a:alpha val="28000"/>
              </a:srgbClr>
            </a:outerShdw>
          </a:effectLst>
        </p:spPr>
        <p:txBody>
          <a:bodyPr/>
          <a:lstStyle/>
          <a:p>
            <a:endParaRPr lang="en-US"/>
          </a:p>
        </p:txBody>
      </p:sp>
      <p:sp>
        <p:nvSpPr>
          <p:cNvPr id="9" name="Text 6"/>
          <p:cNvSpPr/>
          <p:nvPr/>
        </p:nvSpPr>
        <p:spPr>
          <a:xfrm>
            <a:off x="6355080" y="4983480"/>
            <a:ext cx="5257800" cy="457200"/>
          </a:xfrm>
          <a:prstGeom prst="rect">
            <a:avLst/>
          </a:prstGeom>
          <a:noFill/>
          <a:ln/>
        </p:spPr>
        <p:txBody>
          <a:bodyPr wrap="square" rtlCol="0" anchor="ctr"/>
          <a:lstStyle/>
          <a:p>
            <a:pPr marL="0" indent="0">
              <a:buNone/>
            </a:pPr>
            <a:r>
              <a:rPr lang="en-US" sz="1200">
                <a:solidFill>
                  <a:srgbClr val="6B6B75"/>
                </a:solidFill>
                <a:latin typeface="Segoe UI" pitchFamily="34" charset="0"/>
                <a:ea typeface="Segoe UI" pitchFamily="34" charset="-122"/>
                <a:cs typeface="Segoe UI" pitchFamily="34" charset="-120"/>
              </a:rPr>
              <a:t>One agent | five skills | eleven tools | separate downstream credentials</a:t>
            </a:r>
            <a:endParaRPr lang="en-US" sz="1200" dirty="0"/>
          </a:p>
        </p:txBody>
      </p:sp>
      <p:sp>
        <p:nvSpPr>
          <p:cNvPr id="10" name="Text 7"/>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
        <p:nvSpPr>
          <p:cNvPr id="11" name="Rectangle: Rounded Corners 10">
            <a:extLst>
              <a:ext uri="{FF2B5EF4-FFF2-40B4-BE49-F238E27FC236}">
                <a16:creationId xmlns:a16="http://schemas.microsoft.com/office/drawing/2014/main" id="{D696419A-674F-0948-D44D-AC9B1A7EC4FC}"/>
              </a:ext>
            </a:extLst>
          </p:cNvPr>
          <p:cNvSpPr/>
          <p:nvPr/>
        </p:nvSpPr>
        <p:spPr>
          <a:xfrm>
            <a:off x="7239000" y="2463800"/>
            <a:ext cx="3429000" cy="584200"/>
          </a:xfrm>
          <a:prstGeom prst="roundRect">
            <a:avLst/>
          </a:prstGeom>
          <a:solidFill>
            <a:srgbClr val="DB4B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FFFFFF"/>
                </a:solidFill>
                <a:latin typeface="Aptos" panose="020B0004020202020204" pitchFamily="34" charset="0"/>
              </a:rPr>
              <a:t>Fibey Toolbox</a:t>
            </a:r>
          </a:p>
        </p:txBody>
      </p:sp>
      <p:sp>
        <p:nvSpPr>
          <p:cNvPr id="12" name="Rectangle: Rounded Corners 11">
            <a:extLst>
              <a:ext uri="{FF2B5EF4-FFF2-40B4-BE49-F238E27FC236}">
                <a16:creationId xmlns:a16="http://schemas.microsoft.com/office/drawing/2014/main" id="{5BE1AFC1-BBBB-33A3-56F3-EFBBFC43B834}"/>
              </a:ext>
            </a:extLst>
          </p:cNvPr>
          <p:cNvSpPr/>
          <p:nvPr/>
        </p:nvSpPr>
        <p:spPr>
          <a:xfrm>
            <a:off x="6540500" y="3403600"/>
            <a:ext cx="1117600" cy="533400"/>
          </a:xfrm>
          <a:prstGeom prst="roundRect">
            <a:avLst/>
          </a:prstGeom>
          <a:solidFill>
            <a:srgbClr val="FFE5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333333"/>
                </a:solidFill>
                <a:latin typeface="Aptos" panose="020B0004020202020204" pitchFamily="34" charset="0"/>
              </a:rPr>
              <a:t>Stock</a:t>
            </a:r>
          </a:p>
        </p:txBody>
      </p:sp>
      <p:sp>
        <p:nvSpPr>
          <p:cNvPr id="13" name="Rectangle: Rounded Corners 12">
            <a:extLst>
              <a:ext uri="{FF2B5EF4-FFF2-40B4-BE49-F238E27FC236}">
                <a16:creationId xmlns:a16="http://schemas.microsoft.com/office/drawing/2014/main" id="{84A746DF-A51F-7169-713F-43885F587E87}"/>
              </a:ext>
            </a:extLst>
          </p:cNvPr>
          <p:cNvSpPr/>
          <p:nvPr/>
        </p:nvSpPr>
        <p:spPr>
          <a:xfrm>
            <a:off x="7823200" y="3403600"/>
            <a:ext cx="1117600" cy="533400"/>
          </a:xfrm>
          <a:prstGeom prst="roundRect">
            <a:avLst/>
          </a:prstGeom>
          <a:solidFill>
            <a:srgbClr val="FFE5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333333"/>
                </a:solidFill>
                <a:latin typeface="Aptos" panose="020B0004020202020204" pitchFamily="34" charset="0"/>
              </a:rPr>
              <a:t>Orders</a:t>
            </a:r>
          </a:p>
        </p:txBody>
      </p:sp>
      <p:sp>
        <p:nvSpPr>
          <p:cNvPr id="14" name="Rectangle: Rounded Corners 13">
            <a:extLst>
              <a:ext uri="{FF2B5EF4-FFF2-40B4-BE49-F238E27FC236}">
                <a16:creationId xmlns:a16="http://schemas.microsoft.com/office/drawing/2014/main" id="{12CA04F7-ACE2-0E98-0259-B44AE4892301}"/>
              </a:ext>
            </a:extLst>
          </p:cNvPr>
          <p:cNvSpPr/>
          <p:nvPr/>
        </p:nvSpPr>
        <p:spPr>
          <a:xfrm>
            <a:off x="9105900" y="3403600"/>
            <a:ext cx="1117600" cy="533400"/>
          </a:xfrm>
          <a:prstGeom prst="roundRect">
            <a:avLst/>
          </a:prstGeom>
          <a:solidFill>
            <a:srgbClr val="FFE5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333333"/>
                </a:solidFill>
                <a:latin typeface="Aptos" panose="020B0004020202020204" pitchFamily="34" charset="0"/>
              </a:rPr>
              <a:t>Knowledge</a:t>
            </a:r>
          </a:p>
        </p:txBody>
      </p:sp>
      <p:sp>
        <p:nvSpPr>
          <p:cNvPr id="15" name="Rectangle: Rounded Corners 14">
            <a:extLst>
              <a:ext uri="{FF2B5EF4-FFF2-40B4-BE49-F238E27FC236}">
                <a16:creationId xmlns:a16="http://schemas.microsoft.com/office/drawing/2014/main" id="{6BE679E6-6FD2-26A9-0BB5-177B4F8B1C25}"/>
              </a:ext>
            </a:extLst>
          </p:cNvPr>
          <p:cNvSpPr/>
          <p:nvPr/>
        </p:nvSpPr>
        <p:spPr>
          <a:xfrm>
            <a:off x="10388600" y="3403600"/>
            <a:ext cx="1117600" cy="533400"/>
          </a:xfrm>
          <a:prstGeom prst="roundRect">
            <a:avLst/>
          </a:prstGeom>
          <a:solidFill>
            <a:srgbClr val="FFE5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333333"/>
                </a:solidFill>
                <a:latin typeface="Aptos" panose="020B0004020202020204" pitchFamily="34" charset="0"/>
              </a:rPr>
              <a:t>Status</a:t>
            </a:r>
          </a:p>
        </p:txBody>
      </p:sp>
      <p:cxnSp>
        <p:nvCxnSpPr>
          <p:cNvPr id="16" name="Straight Connector 15">
            <a:extLst>
              <a:ext uri="{FF2B5EF4-FFF2-40B4-BE49-F238E27FC236}">
                <a16:creationId xmlns:a16="http://schemas.microsoft.com/office/drawing/2014/main" id="{F8D93E75-6B18-DFAA-C3FF-FACC99476493}"/>
              </a:ext>
            </a:extLst>
          </p:cNvPr>
          <p:cNvCxnSpPr/>
          <p:nvPr/>
        </p:nvCxnSpPr>
        <p:spPr>
          <a:xfrm flipH="1">
            <a:off x="7099300" y="3048000"/>
            <a:ext cx="1854200" cy="419100"/>
          </a:xfrm>
          <a:prstGeom prst="line">
            <a:avLst/>
          </a:prstGeom>
          <a:ln>
            <a:solidFill>
              <a:srgbClr val="777777"/>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F7EBDE9-59AA-05DE-0A31-DE24F0E2F142}"/>
              </a:ext>
            </a:extLst>
          </p:cNvPr>
          <p:cNvCxnSpPr/>
          <p:nvPr/>
        </p:nvCxnSpPr>
        <p:spPr>
          <a:xfrm flipH="1">
            <a:off x="8382000" y="3048000"/>
            <a:ext cx="571500" cy="419100"/>
          </a:xfrm>
          <a:prstGeom prst="line">
            <a:avLst/>
          </a:prstGeom>
          <a:ln>
            <a:solidFill>
              <a:srgbClr val="777777"/>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1239DBA-A800-3F26-9EE2-229B06096F03}"/>
              </a:ext>
            </a:extLst>
          </p:cNvPr>
          <p:cNvCxnSpPr/>
          <p:nvPr/>
        </p:nvCxnSpPr>
        <p:spPr>
          <a:xfrm>
            <a:off x="8953500" y="3048000"/>
            <a:ext cx="711200" cy="419100"/>
          </a:xfrm>
          <a:prstGeom prst="line">
            <a:avLst/>
          </a:prstGeom>
          <a:ln>
            <a:solidFill>
              <a:srgbClr val="777777"/>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A9F036C-70B7-1ACA-FC82-E79C8E667B5C}"/>
              </a:ext>
            </a:extLst>
          </p:cNvPr>
          <p:cNvCxnSpPr/>
          <p:nvPr/>
        </p:nvCxnSpPr>
        <p:spPr>
          <a:xfrm>
            <a:off x="8953500" y="3048000"/>
            <a:ext cx="1993900" cy="419100"/>
          </a:xfrm>
          <a:prstGeom prst="line">
            <a:avLst/>
          </a:prstGeom>
          <a:ln>
            <a:solidFill>
              <a:srgbClr val="777777"/>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218346A0-E233-4732-4BB2-063B541EBF53}"/>
              </a:ext>
            </a:extLst>
          </p:cNvPr>
          <p:cNvSpPr/>
          <p:nvPr/>
        </p:nvSpPr>
        <p:spPr>
          <a:xfrm>
            <a:off x="9131300" y="4127500"/>
            <a:ext cx="1066800" cy="381000"/>
          </a:xfrm>
          <a:prstGeom prst="roundRect">
            <a:avLst/>
          </a:prstGeom>
          <a:solidFill>
            <a:srgbClr val="F1F2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555555"/>
                </a:solidFill>
                <a:latin typeface="Aptos" panose="020B0004020202020204" pitchFamily="34" charset="0"/>
              </a:rPr>
              <a:t>Inventory</a:t>
            </a:r>
          </a:p>
        </p:txBody>
      </p:sp>
      <p:sp>
        <p:nvSpPr>
          <p:cNvPr id="21" name="Rectangle: Rounded Corners 20">
            <a:extLst>
              <a:ext uri="{FF2B5EF4-FFF2-40B4-BE49-F238E27FC236}">
                <a16:creationId xmlns:a16="http://schemas.microsoft.com/office/drawing/2014/main" id="{577EC90C-0C0E-C963-410F-DA0AFFC026D6}"/>
              </a:ext>
            </a:extLst>
          </p:cNvPr>
          <p:cNvSpPr/>
          <p:nvPr/>
        </p:nvSpPr>
        <p:spPr>
          <a:xfrm>
            <a:off x="10414000" y="4127500"/>
            <a:ext cx="1066800" cy="381000"/>
          </a:xfrm>
          <a:prstGeom prst="roundRect">
            <a:avLst/>
          </a:prstGeom>
          <a:solidFill>
            <a:srgbClr val="F1F2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555555"/>
                </a:solidFill>
                <a:latin typeface="Aptos" panose="020B0004020202020204" pitchFamily="34" charset="0"/>
              </a:rPr>
              <a:t>Dashboard</a:t>
            </a:r>
          </a:p>
        </p:txBody>
      </p:sp>
      <p:cxnSp>
        <p:nvCxnSpPr>
          <p:cNvPr id="22" name="Straight Connector 21">
            <a:extLst>
              <a:ext uri="{FF2B5EF4-FFF2-40B4-BE49-F238E27FC236}">
                <a16:creationId xmlns:a16="http://schemas.microsoft.com/office/drawing/2014/main" id="{A76F09F0-05B3-9D7D-2A0E-D9A21B84B674}"/>
              </a:ext>
            </a:extLst>
          </p:cNvPr>
          <p:cNvCxnSpPr/>
          <p:nvPr/>
        </p:nvCxnSpPr>
        <p:spPr>
          <a:xfrm>
            <a:off x="9664700" y="3937000"/>
            <a:ext cx="0" cy="190500"/>
          </a:xfrm>
          <a:prstGeom prst="line">
            <a:avLst/>
          </a:prstGeom>
          <a:ln>
            <a:solidFill>
              <a:srgbClr val="777777"/>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BC75D10-F3CB-1910-4682-BFB254C51FC6}"/>
              </a:ext>
            </a:extLst>
          </p:cNvPr>
          <p:cNvCxnSpPr/>
          <p:nvPr/>
        </p:nvCxnSpPr>
        <p:spPr>
          <a:xfrm>
            <a:off x="10947400" y="3937000"/>
            <a:ext cx="0" cy="190500"/>
          </a:xfrm>
          <a:prstGeom prst="line">
            <a:avLst/>
          </a:prstGeom>
          <a:ln>
            <a:solidFill>
              <a:srgbClr val="777777"/>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AA1DA0D-A966-263D-7D91-CCDD776381E4}"/>
              </a:ext>
            </a:extLst>
          </p:cNvPr>
          <p:cNvSpPr txBox="1"/>
          <p:nvPr/>
        </p:nvSpPr>
        <p:spPr>
          <a:xfrm>
            <a:off x="6477000" y="4572000"/>
            <a:ext cx="5080000" cy="261610"/>
          </a:xfrm>
          <a:prstGeom prst="rect">
            <a:avLst/>
          </a:prstGeom>
          <a:noFill/>
        </p:spPr>
        <p:txBody>
          <a:bodyPr vert="horz" rtlCol="0">
            <a:spAutoFit/>
          </a:bodyPr>
          <a:lstStyle/>
          <a:p>
            <a:pPr algn="ctr"/>
            <a:r>
              <a:rPr lang="en-US" sz="1100">
                <a:solidFill>
                  <a:srgbClr val="666666"/>
                </a:solidFill>
                <a:latin typeface="Aptos" panose="020B0004020202020204" pitchFamily="34" charset="0"/>
              </a:rPr>
              <a:t>Status is an inventory tool, not a fourth connection</a:t>
            </a:r>
          </a:p>
        </p:txBody>
      </p:sp>
    </p:spTree>
    <p:extLst>
      <p:ext uri="{BB962C8B-B14F-4D97-AF65-F5344CB8AC3E}">
        <p14:creationId xmlns:p14="http://schemas.microsoft.com/office/powerpoint/2010/main" val="3731261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3752" y="502920"/>
            <a:ext cx="1191925" cy="310896"/>
          </a:xfrm>
          <a:prstGeom prst="roundRect">
            <a:avLst>
              <a:gd name="adj" fmla="val 50000"/>
            </a:avLst>
          </a:prstGeom>
          <a:solidFill>
            <a:srgbClr val="4F5BF0"/>
          </a:solidFill>
          <a:ln/>
        </p:spPr>
        <p:txBody>
          <a:bodyPr/>
          <a:lstStyle/>
          <a:p>
            <a:endParaRPr lang="en-US"/>
          </a:p>
        </p:txBody>
      </p:sp>
      <p:sp>
        <p:nvSpPr>
          <p:cNvPr id="3" name="Text 1"/>
          <p:cNvSpPr/>
          <p:nvPr/>
        </p:nvSpPr>
        <p:spPr>
          <a:xfrm>
            <a:off x="548639" y="502920"/>
            <a:ext cx="1101051" cy="310896"/>
          </a:xfrm>
          <a:prstGeom prst="rect">
            <a:avLst/>
          </a:prstGeom>
          <a:noFill/>
          <a:ln/>
        </p:spPr>
        <p:txBody>
          <a:bodyPr wrap="square" lIns="0" tIns="0" rIns="0" bIns="0" rtlCol="0" anchor="ctr"/>
          <a:lstStyle/>
          <a:p>
            <a:pPr marL="0" indent="0" algn="ctr">
              <a:buNone/>
            </a:pPr>
            <a:r>
              <a:rPr lang="en-US" sz="1050" kern="0" spc="150" dirty="0">
                <a:solidFill>
                  <a:srgbClr val="FFFFFF"/>
                </a:solidFill>
                <a:latin typeface="Segoe UI Semibold" pitchFamily="34" charset="0"/>
                <a:ea typeface="Segoe UI Semibold" pitchFamily="34" charset="-122"/>
                <a:cs typeface="Segoe UI Semibold" pitchFamily="34" charset="-120"/>
              </a:rPr>
              <a:t>INTEGRATE</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MCP tool integration inside hosted agents</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FoundryToolbox carries authenticated MCP requests and the hosted runtime call ID.</a:t>
            </a:r>
            <a:endParaRPr lang="en-US" sz="1550" dirty="0"/>
          </a:p>
        </p:txBody>
      </p:sp>
      <p:sp>
        <p:nvSpPr>
          <p:cNvPr id="6" name="Text 4"/>
          <p:cNvSpPr/>
          <p:nvPr/>
        </p:nvSpPr>
        <p:spPr>
          <a:xfrm>
            <a:off x="566928" y="2331720"/>
            <a:ext cx="5349240" cy="3657600"/>
          </a:xfrm>
          <a:prstGeom prst="rect">
            <a:avLst/>
          </a:prstGeom>
          <a:noFill/>
          <a:ln/>
        </p:spPr>
        <p:txBody>
          <a:bodyPr wrap="square" lIns="0" tIns="0" rIns="0" bIns="0" rtlCol="0" anchor="t"/>
          <a:lstStyle/>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Use FoundryToolbox with ResponsesHostServer.run_async().</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Confirm discovery and real execution; a healthy app is not enough.</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Inventory/orders use connection keys; knowledge uses project identity.</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Close clients and credentials; surface history and transport failures.</a:t>
            </a:r>
            <a:endParaRPr lang="en-US" sz="1500" dirty="0"/>
          </a:p>
        </p:txBody>
      </p:sp>
      <p:sp>
        <p:nvSpPr>
          <p:cNvPr id="7" name="Text 5"/>
          <p:cNvSpPr/>
          <p:nvPr/>
        </p:nvSpPr>
        <p:spPr>
          <a:xfrm>
            <a:off x="6355080" y="2286000"/>
            <a:ext cx="5257800" cy="365760"/>
          </a:xfrm>
          <a:prstGeom prst="rect">
            <a:avLst/>
          </a:prstGeom>
          <a:noFill/>
          <a:ln/>
        </p:spPr>
        <p:txBody>
          <a:bodyPr wrap="square" lIns="0" tIns="0" rIns="0" bIns="0" rtlCol="0" anchor="ctr"/>
          <a:lstStyle/>
          <a:p>
            <a:pPr marL="0" indent="0">
              <a:buNone/>
            </a:pPr>
            <a:r>
              <a:rPr lang="en-US" sz="1500">
                <a:solidFill>
                  <a:srgbClr val="242424"/>
                </a:solidFill>
                <a:latin typeface="Segoe UI Semibold" pitchFamily="34" charset="0"/>
                <a:ea typeface="Segoe UI Semibold" pitchFamily="34" charset="-122"/>
                <a:cs typeface="Segoe UI Semibold" pitchFamily="34" charset="-120"/>
              </a:rPr>
              <a:t>Configured sample capabilities</a:t>
            </a:r>
            <a:endParaRPr lang="en-US" sz="1500" dirty="0"/>
          </a:p>
        </p:txBody>
      </p:sp>
      <p:sp>
        <p:nvSpPr>
          <p:cNvPr id="8" name="Text 6"/>
          <p:cNvSpPr/>
          <p:nvPr/>
        </p:nvSpPr>
        <p:spPr>
          <a:xfrm>
            <a:off x="6355080" y="2615184"/>
            <a:ext cx="5257800" cy="274320"/>
          </a:xfrm>
          <a:prstGeom prst="rect">
            <a:avLst/>
          </a:prstGeom>
          <a:noFill/>
          <a:ln/>
        </p:spPr>
        <p:txBody>
          <a:bodyPr wrap="square" lIns="0" tIns="0" rIns="0" bIns="0" rtlCol="0" anchor="ctr"/>
          <a:lstStyle/>
          <a:p>
            <a:pPr marL="0" indent="0">
              <a:buNone/>
            </a:pPr>
            <a:r>
              <a:rPr lang="en-US" sz="1100">
                <a:solidFill>
                  <a:srgbClr val="6B6B75"/>
                </a:solidFill>
                <a:latin typeface="Segoe UI" pitchFamily="34" charset="0"/>
                <a:ea typeface="Segoe UI" pitchFamily="34" charset="-122"/>
                <a:cs typeface="Segoe UI" pitchFamily="34" charset="-120"/>
              </a:rPr>
              <a:t>fibey-toolbox - verify in your environment</a:t>
            </a:r>
            <a:endParaRPr lang="en-US" sz="1100" dirty="0"/>
          </a:p>
        </p:txBody>
      </p:sp>
      <p:sp>
        <p:nvSpPr>
          <p:cNvPr id="9" name="Shape 7"/>
          <p:cNvSpPr/>
          <p:nvPr/>
        </p:nvSpPr>
        <p:spPr>
          <a:xfrm>
            <a:off x="6355080" y="3017520"/>
            <a:ext cx="5257800" cy="566928"/>
          </a:xfrm>
          <a:prstGeom prst="roundRect">
            <a:avLst>
              <a:gd name="adj" fmla="val 12903"/>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0" name="Shape 8"/>
          <p:cNvSpPr/>
          <p:nvPr/>
        </p:nvSpPr>
        <p:spPr>
          <a:xfrm>
            <a:off x="6565392" y="3227832"/>
            <a:ext cx="146304" cy="146304"/>
          </a:xfrm>
          <a:prstGeom prst="ellipse">
            <a:avLst/>
          </a:prstGeom>
          <a:solidFill>
            <a:srgbClr val="4B44E0"/>
          </a:solidFill>
          <a:ln/>
        </p:spPr>
        <p:txBody>
          <a:bodyPr/>
          <a:lstStyle/>
          <a:p>
            <a:endParaRPr lang="en-US"/>
          </a:p>
        </p:txBody>
      </p:sp>
      <p:sp>
        <p:nvSpPr>
          <p:cNvPr id="11" name="Text 9"/>
          <p:cNvSpPr/>
          <p:nvPr/>
        </p:nvSpPr>
        <p:spPr>
          <a:xfrm>
            <a:off x="6858000" y="3017520"/>
            <a:ext cx="3017520" cy="566928"/>
          </a:xfrm>
          <a:prstGeom prst="rect">
            <a:avLst/>
          </a:prstGeom>
          <a:noFill/>
          <a:ln/>
        </p:spPr>
        <p:txBody>
          <a:bodyPr wrap="square" lIns="0" tIns="0" rIns="0" bIns="0" rtlCol="0" anchor="ctr"/>
          <a:lstStyle/>
          <a:p>
            <a:pPr marL="0" indent="0">
              <a:buNone/>
            </a:pPr>
            <a:r>
              <a:rPr lang="en-US" sz="1300">
                <a:solidFill>
                  <a:srgbClr val="242424"/>
                </a:solidFill>
                <a:latin typeface="Segoe UI Semibold" pitchFamily="34" charset="0"/>
                <a:ea typeface="Segoe UI Semibold" pitchFamily="34" charset="-122"/>
                <a:cs typeface="Segoe UI Semibold" pitchFamily="34" charset="-120"/>
              </a:rPr>
              <a:t>Inventory actions</a:t>
            </a:r>
            <a:endParaRPr lang="en-US" sz="1300" dirty="0"/>
          </a:p>
        </p:txBody>
      </p:sp>
      <p:sp>
        <p:nvSpPr>
          <p:cNvPr id="12" name="Shape 10"/>
          <p:cNvSpPr/>
          <p:nvPr/>
        </p:nvSpPr>
        <p:spPr>
          <a:xfrm>
            <a:off x="10104120" y="3154680"/>
            <a:ext cx="713232" cy="292608"/>
          </a:xfrm>
          <a:prstGeom prst="roundRect">
            <a:avLst>
              <a:gd name="adj" fmla="val 25000"/>
            </a:avLst>
          </a:prstGeom>
          <a:solidFill>
            <a:srgbClr val="ECEAFB"/>
          </a:solidFill>
          <a:ln/>
        </p:spPr>
        <p:txBody>
          <a:bodyPr/>
          <a:lstStyle/>
          <a:p>
            <a:endParaRPr lang="en-US"/>
          </a:p>
        </p:txBody>
      </p:sp>
      <p:sp>
        <p:nvSpPr>
          <p:cNvPr id="13" name="Text 11"/>
          <p:cNvSpPr/>
          <p:nvPr/>
        </p:nvSpPr>
        <p:spPr>
          <a:xfrm>
            <a:off x="10104120" y="3154680"/>
            <a:ext cx="713232" cy="292608"/>
          </a:xfrm>
          <a:prstGeom prst="rect">
            <a:avLst/>
          </a:prstGeom>
          <a:noFill/>
          <a:ln/>
        </p:spPr>
        <p:txBody>
          <a:bodyPr wrap="square" lIns="0" tIns="0" rIns="0" bIns="0" rtlCol="0" anchor="ctr"/>
          <a:lstStyle/>
          <a:p>
            <a:pPr marL="0" indent="0" algn="ctr">
              <a:buNone/>
            </a:pPr>
            <a:r>
              <a:rPr lang="en-US" sz="950">
                <a:solidFill>
                  <a:srgbClr val="4B44E0"/>
                </a:solidFill>
                <a:latin typeface="Segoe UI Semibold" pitchFamily="34" charset="0"/>
                <a:ea typeface="Segoe UI Semibold" pitchFamily="34" charset="-122"/>
                <a:cs typeface="Segoe UI Semibold" pitchFamily="34" charset="-120"/>
              </a:rPr>
              <a:t>MCP</a:t>
            </a:r>
            <a:endParaRPr lang="en-US" sz="950" dirty="0"/>
          </a:p>
        </p:txBody>
      </p:sp>
      <p:sp>
        <p:nvSpPr>
          <p:cNvPr id="14" name="Shape 12"/>
          <p:cNvSpPr/>
          <p:nvPr/>
        </p:nvSpPr>
        <p:spPr>
          <a:xfrm>
            <a:off x="10927080" y="3154680"/>
            <a:ext cx="502920" cy="292608"/>
          </a:xfrm>
          <a:prstGeom prst="roundRect">
            <a:avLst>
              <a:gd name="adj" fmla="val 25000"/>
            </a:avLst>
          </a:prstGeom>
          <a:solidFill>
            <a:srgbClr val="CBD6F5"/>
          </a:solidFill>
          <a:ln/>
        </p:spPr>
        <p:txBody>
          <a:bodyPr/>
          <a:lstStyle/>
          <a:p>
            <a:endParaRPr lang="en-US"/>
          </a:p>
        </p:txBody>
      </p:sp>
      <p:sp>
        <p:nvSpPr>
          <p:cNvPr id="15" name="Text 13"/>
          <p:cNvSpPr/>
          <p:nvPr/>
        </p:nvSpPr>
        <p:spPr>
          <a:xfrm>
            <a:off x="10927080" y="3154680"/>
            <a:ext cx="502920" cy="292608"/>
          </a:xfrm>
          <a:prstGeom prst="rect">
            <a:avLst/>
          </a:prstGeom>
          <a:noFill/>
          <a:ln/>
        </p:spPr>
        <p:txBody>
          <a:bodyPr wrap="square" lIns="0" tIns="0" rIns="0" bIns="0" rtlCol="0" anchor="ctr"/>
          <a:lstStyle/>
          <a:p>
            <a:pPr marL="0" indent="0" algn="ctr">
              <a:buNone/>
            </a:pPr>
            <a:r>
              <a:rPr lang="en-US" sz="950">
                <a:solidFill>
                  <a:srgbClr val="16168F"/>
                </a:solidFill>
                <a:latin typeface="Segoe UI Semibold" pitchFamily="34" charset="0"/>
                <a:ea typeface="Segoe UI Semibold" pitchFamily="34" charset="-122"/>
                <a:cs typeface="Segoe UI Semibold" pitchFamily="34" charset="-120"/>
              </a:rPr>
              <a:t>API key</a:t>
            </a:r>
            <a:endParaRPr lang="en-US" sz="950" dirty="0"/>
          </a:p>
        </p:txBody>
      </p:sp>
      <p:sp>
        <p:nvSpPr>
          <p:cNvPr id="16" name="Shape 14"/>
          <p:cNvSpPr/>
          <p:nvPr/>
        </p:nvSpPr>
        <p:spPr>
          <a:xfrm>
            <a:off x="6355080" y="3712464"/>
            <a:ext cx="5257800" cy="566928"/>
          </a:xfrm>
          <a:prstGeom prst="roundRect">
            <a:avLst>
              <a:gd name="adj" fmla="val 12903"/>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7" name="Shape 15"/>
          <p:cNvSpPr/>
          <p:nvPr/>
        </p:nvSpPr>
        <p:spPr>
          <a:xfrm>
            <a:off x="6565392" y="3922776"/>
            <a:ext cx="146304" cy="146304"/>
          </a:xfrm>
          <a:prstGeom prst="ellipse">
            <a:avLst/>
          </a:prstGeom>
          <a:solidFill>
            <a:srgbClr val="4B44E0"/>
          </a:solidFill>
          <a:ln/>
        </p:spPr>
        <p:txBody>
          <a:bodyPr/>
          <a:lstStyle/>
          <a:p>
            <a:endParaRPr lang="en-US"/>
          </a:p>
        </p:txBody>
      </p:sp>
      <p:sp>
        <p:nvSpPr>
          <p:cNvPr id="18" name="Text 16"/>
          <p:cNvSpPr/>
          <p:nvPr/>
        </p:nvSpPr>
        <p:spPr>
          <a:xfrm>
            <a:off x="6858000" y="3712464"/>
            <a:ext cx="3017520" cy="566928"/>
          </a:xfrm>
          <a:prstGeom prst="rect">
            <a:avLst/>
          </a:prstGeom>
          <a:noFill/>
          <a:ln/>
        </p:spPr>
        <p:txBody>
          <a:bodyPr wrap="square" lIns="0" tIns="0" rIns="0" bIns="0" rtlCol="0" anchor="ctr"/>
          <a:lstStyle/>
          <a:p>
            <a:pPr marL="0" indent="0">
              <a:buNone/>
            </a:pPr>
            <a:r>
              <a:rPr lang="en-US" sz="1300">
                <a:solidFill>
                  <a:srgbClr val="242424"/>
                </a:solidFill>
                <a:latin typeface="Segoe UI Semibold" pitchFamily="34" charset="0"/>
                <a:ea typeface="Segoe UI Semibold" pitchFamily="34" charset="-122"/>
                <a:cs typeface="Segoe UI Semibold" pitchFamily="34" charset="-120"/>
              </a:rPr>
              <a:t>Work orders</a:t>
            </a:r>
            <a:endParaRPr lang="en-US" sz="1300" dirty="0"/>
          </a:p>
        </p:txBody>
      </p:sp>
      <p:sp>
        <p:nvSpPr>
          <p:cNvPr id="19" name="Shape 17"/>
          <p:cNvSpPr/>
          <p:nvPr/>
        </p:nvSpPr>
        <p:spPr>
          <a:xfrm>
            <a:off x="10104120" y="3849624"/>
            <a:ext cx="713232" cy="292608"/>
          </a:xfrm>
          <a:prstGeom prst="roundRect">
            <a:avLst>
              <a:gd name="adj" fmla="val 25000"/>
            </a:avLst>
          </a:prstGeom>
          <a:solidFill>
            <a:srgbClr val="ECEAFB"/>
          </a:solidFill>
          <a:ln/>
        </p:spPr>
        <p:txBody>
          <a:bodyPr/>
          <a:lstStyle/>
          <a:p>
            <a:endParaRPr lang="en-US"/>
          </a:p>
        </p:txBody>
      </p:sp>
      <p:sp>
        <p:nvSpPr>
          <p:cNvPr id="20" name="Text 18"/>
          <p:cNvSpPr/>
          <p:nvPr/>
        </p:nvSpPr>
        <p:spPr>
          <a:xfrm>
            <a:off x="10104120" y="3849624"/>
            <a:ext cx="713232" cy="292608"/>
          </a:xfrm>
          <a:prstGeom prst="rect">
            <a:avLst/>
          </a:prstGeom>
          <a:noFill/>
          <a:ln/>
        </p:spPr>
        <p:txBody>
          <a:bodyPr wrap="square" lIns="0" tIns="0" rIns="0" bIns="0" rtlCol="0" anchor="ctr"/>
          <a:lstStyle/>
          <a:p>
            <a:pPr marL="0" indent="0" algn="ctr">
              <a:buNone/>
            </a:pPr>
            <a:r>
              <a:rPr lang="en-US" sz="950">
                <a:solidFill>
                  <a:srgbClr val="4B44E0"/>
                </a:solidFill>
                <a:latin typeface="Segoe UI Semibold" pitchFamily="34" charset="0"/>
                <a:ea typeface="Segoe UI Semibold" pitchFamily="34" charset="-122"/>
                <a:cs typeface="Segoe UI Semibold" pitchFamily="34" charset="-120"/>
              </a:rPr>
              <a:t>OpenAPI</a:t>
            </a:r>
            <a:endParaRPr lang="en-US" sz="950" dirty="0"/>
          </a:p>
        </p:txBody>
      </p:sp>
      <p:sp>
        <p:nvSpPr>
          <p:cNvPr id="21" name="Shape 19"/>
          <p:cNvSpPr/>
          <p:nvPr/>
        </p:nvSpPr>
        <p:spPr>
          <a:xfrm>
            <a:off x="10927080" y="3849624"/>
            <a:ext cx="502920" cy="292608"/>
          </a:xfrm>
          <a:prstGeom prst="roundRect">
            <a:avLst>
              <a:gd name="adj" fmla="val 25000"/>
            </a:avLst>
          </a:prstGeom>
          <a:solidFill>
            <a:srgbClr val="CBD6F5"/>
          </a:solidFill>
          <a:ln/>
        </p:spPr>
        <p:txBody>
          <a:bodyPr/>
          <a:lstStyle/>
          <a:p>
            <a:endParaRPr lang="en-US"/>
          </a:p>
        </p:txBody>
      </p:sp>
      <p:sp>
        <p:nvSpPr>
          <p:cNvPr id="22" name="Text 20"/>
          <p:cNvSpPr/>
          <p:nvPr/>
        </p:nvSpPr>
        <p:spPr>
          <a:xfrm>
            <a:off x="10927080" y="3849624"/>
            <a:ext cx="502920" cy="292608"/>
          </a:xfrm>
          <a:prstGeom prst="rect">
            <a:avLst/>
          </a:prstGeom>
          <a:noFill/>
          <a:ln/>
        </p:spPr>
        <p:txBody>
          <a:bodyPr wrap="square" lIns="0" tIns="0" rIns="0" bIns="0" rtlCol="0" anchor="ctr"/>
          <a:lstStyle/>
          <a:p>
            <a:pPr marL="0" indent="0" algn="ctr">
              <a:buNone/>
            </a:pPr>
            <a:r>
              <a:rPr lang="en-US" sz="950">
                <a:solidFill>
                  <a:srgbClr val="16168F"/>
                </a:solidFill>
                <a:latin typeface="Segoe UI Semibold" pitchFamily="34" charset="0"/>
                <a:ea typeface="Segoe UI Semibold" pitchFamily="34" charset="-122"/>
                <a:cs typeface="Segoe UI Semibold" pitchFamily="34" charset="-120"/>
              </a:rPr>
              <a:t>API key</a:t>
            </a:r>
            <a:endParaRPr lang="en-US" sz="950" dirty="0"/>
          </a:p>
        </p:txBody>
      </p:sp>
      <p:sp>
        <p:nvSpPr>
          <p:cNvPr id="23" name="Shape 21"/>
          <p:cNvSpPr/>
          <p:nvPr/>
        </p:nvSpPr>
        <p:spPr>
          <a:xfrm>
            <a:off x="6355080" y="4407408"/>
            <a:ext cx="5257800" cy="566928"/>
          </a:xfrm>
          <a:prstGeom prst="roundRect">
            <a:avLst>
              <a:gd name="adj" fmla="val 12903"/>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24" name="Shape 22"/>
          <p:cNvSpPr/>
          <p:nvPr/>
        </p:nvSpPr>
        <p:spPr>
          <a:xfrm>
            <a:off x="6565392" y="4617720"/>
            <a:ext cx="146304" cy="146304"/>
          </a:xfrm>
          <a:prstGeom prst="ellipse">
            <a:avLst/>
          </a:prstGeom>
          <a:solidFill>
            <a:srgbClr val="4B44E0"/>
          </a:solidFill>
          <a:ln/>
        </p:spPr>
        <p:txBody>
          <a:bodyPr/>
          <a:lstStyle/>
          <a:p>
            <a:endParaRPr lang="en-US"/>
          </a:p>
        </p:txBody>
      </p:sp>
      <p:sp>
        <p:nvSpPr>
          <p:cNvPr id="25" name="Text 23"/>
          <p:cNvSpPr/>
          <p:nvPr/>
        </p:nvSpPr>
        <p:spPr>
          <a:xfrm>
            <a:off x="6858000" y="4407408"/>
            <a:ext cx="3017520" cy="566928"/>
          </a:xfrm>
          <a:prstGeom prst="rect">
            <a:avLst/>
          </a:prstGeom>
          <a:noFill/>
          <a:ln/>
        </p:spPr>
        <p:txBody>
          <a:bodyPr wrap="square" lIns="0" tIns="0" rIns="0" bIns="0" rtlCol="0" anchor="ctr"/>
          <a:lstStyle/>
          <a:p>
            <a:pPr marL="0" indent="0">
              <a:buNone/>
            </a:pPr>
            <a:r>
              <a:rPr lang="en-US" sz="1300">
                <a:solidFill>
                  <a:srgbClr val="242424"/>
                </a:solidFill>
                <a:latin typeface="Segoe UI Semibold" pitchFamily="34" charset="0"/>
                <a:ea typeface="Segoe UI Semibold" pitchFamily="34" charset="-122"/>
                <a:cs typeface="Segoe UI Semibold" pitchFamily="34" charset="-120"/>
              </a:rPr>
              <a:t>Knowledge retrieval</a:t>
            </a:r>
            <a:endParaRPr lang="en-US" sz="1300" dirty="0"/>
          </a:p>
        </p:txBody>
      </p:sp>
      <p:sp>
        <p:nvSpPr>
          <p:cNvPr id="26" name="Shape 24"/>
          <p:cNvSpPr/>
          <p:nvPr/>
        </p:nvSpPr>
        <p:spPr>
          <a:xfrm>
            <a:off x="10104120" y="4544568"/>
            <a:ext cx="713232" cy="292608"/>
          </a:xfrm>
          <a:prstGeom prst="roundRect">
            <a:avLst>
              <a:gd name="adj" fmla="val 25000"/>
            </a:avLst>
          </a:prstGeom>
          <a:solidFill>
            <a:srgbClr val="ECEAFB"/>
          </a:solidFill>
          <a:ln/>
        </p:spPr>
        <p:txBody>
          <a:bodyPr/>
          <a:lstStyle/>
          <a:p>
            <a:endParaRPr lang="en-US"/>
          </a:p>
        </p:txBody>
      </p:sp>
      <p:sp>
        <p:nvSpPr>
          <p:cNvPr id="27" name="Text 25"/>
          <p:cNvSpPr/>
          <p:nvPr/>
        </p:nvSpPr>
        <p:spPr>
          <a:xfrm>
            <a:off x="10104120" y="4544568"/>
            <a:ext cx="713232" cy="292608"/>
          </a:xfrm>
          <a:prstGeom prst="rect">
            <a:avLst/>
          </a:prstGeom>
          <a:noFill/>
          <a:ln/>
        </p:spPr>
        <p:txBody>
          <a:bodyPr wrap="square" lIns="0" tIns="0" rIns="0" bIns="0" rtlCol="0" anchor="ctr"/>
          <a:lstStyle/>
          <a:p>
            <a:pPr marL="0" indent="0" algn="ctr">
              <a:buNone/>
            </a:pPr>
            <a:r>
              <a:rPr lang="en-US" sz="950">
                <a:solidFill>
                  <a:srgbClr val="4B44E0"/>
                </a:solidFill>
                <a:latin typeface="Segoe UI Semibold" pitchFamily="34" charset="0"/>
                <a:ea typeface="Segoe UI Semibold" pitchFamily="34" charset="-122"/>
                <a:cs typeface="Segoe UI Semibold" pitchFamily="34" charset="-120"/>
              </a:rPr>
              <a:t>Search</a:t>
            </a:r>
            <a:endParaRPr lang="en-US" sz="950" dirty="0"/>
          </a:p>
        </p:txBody>
      </p:sp>
      <p:sp>
        <p:nvSpPr>
          <p:cNvPr id="28" name="Shape 26"/>
          <p:cNvSpPr/>
          <p:nvPr/>
        </p:nvSpPr>
        <p:spPr>
          <a:xfrm>
            <a:off x="10927080" y="4544568"/>
            <a:ext cx="502920" cy="292608"/>
          </a:xfrm>
          <a:prstGeom prst="roundRect">
            <a:avLst>
              <a:gd name="adj" fmla="val 25000"/>
            </a:avLst>
          </a:prstGeom>
          <a:solidFill>
            <a:srgbClr val="CBD6F5"/>
          </a:solidFill>
          <a:ln/>
        </p:spPr>
        <p:txBody>
          <a:bodyPr/>
          <a:lstStyle/>
          <a:p>
            <a:endParaRPr lang="en-US"/>
          </a:p>
        </p:txBody>
      </p:sp>
      <p:sp>
        <p:nvSpPr>
          <p:cNvPr id="29" name="Text 27"/>
          <p:cNvSpPr/>
          <p:nvPr/>
        </p:nvSpPr>
        <p:spPr>
          <a:xfrm>
            <a:off x="10927080" y="4544568"/>
            <a:ext cx="502920" cy="292608"/>
          </a:xfrm>
          <a:prstGeom prst="rect">
            <a:avLst/>
          </a:prstGeom>
          <a:noFill/>
          <a:ln/>
        </p:spPr>
        <p:txBody>
          <a:bodyPr wrap="square" lIns="0" tIns="0" rIns="0" bIns="0" rtlCol="0" anchor="ctr"/>
          <a:lstStyle/>
          <a:p>
            <a:pPr marL="0" indent="0" algn="ctr">
              <a:buNone/>
            </a:pPr>
            <a:r>
              <a:rPr lang="en-US" sz="950">
                <a:solidFill>
                  <a:srgbClr val="16168F"/>
                </a:solidFill>
                <a:latin typeface="Segoe UI Semibold" pitchFamily="34" charset="0"/>
                <a:ea typeface="Segoe UI Semibold" pitchFamily="34" charset="-122"/>
                <a:cs typeface="Segoe UI Semibold" pitchFamily="34" charset="-120"/>
              </a:rPr>
              <a:t>Identity</a:t>
            </a:r>
            <a:endParaRPr lang="en-US" sz="950" dirty="0"/>
          </a:p>
        </p:txBody>
      </p:sp>
      <p:sp>
        <p:nvSpPr>
          <p:cNvPr id="30" name="Shape 28"/>
          <p:cNvSpPr/>
          <p:nvPr/>
        </p:nvSpPr>
        <p:spPr>
          <a:xfrm>
            <a:off x="6355080" y="5102352"/>
            <a:ext cx="5257800" cy="566928"/>
          </a:xfrm>
          <a:prstGeom prst="roundRect">
            <a:avLst>
              <a:gd name="adj" fmla="val 12903"/>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31" name="Shape 29"/>
          <p:cNvSpPr/>
          <p:nvPr/>
        </p:nvSpPr>
        <p:spPr>
          <a:xfrm>
            <a:off x="6565392" y="5312664"/>
            <a:ext cx="146304" cy="146304"/>
          </a:xfrm>
          <a:prstGeom prst="ellipse">
            <a:avLst/>
          </a:prstGeom>
          <a:solidFill>
            <a:srgbClr val="4B44E0"/>
          </a:solidFill>
          <a:ln/>
        </p:spPr>
        <p:txBody>
          <a:bodyPr/>
          <a:lstStyle/>
          <a:p>
            <a:endParaRPr lang="en-US"/>
          </a:p>
        </p:txBody>
      </p:sp>
      <p:sp>
        <p:nvSpPr>
          <p:cNvPr id="32" name="Text 30"/>
          <p:cNvSpPr/>
          <p:nvPr/>
        </p:nvSpPr>
        <p:spPr>
          <a:xfrm>
            <a:off x="6858000" y="5102352"/>
            <a:ext cx="3017520" cy="566928"/>
          </a:xfrm>
          <a:prstGeom prst="rect">
            <a:avLst/>
          </a:prstGeom>
          <a:noFill/>
          <a:ln/>
        </p:spPr>
        <p:txBody>
          <a:bodyPr wrap="square" lIns="0" tIns="0" rIns="0" bIns="0" rtlCol="0" anchor="ctr"/>
          <a:lstStyle/>
          <a:p>
            <a:pPr marL="0" indent="0">
              <a:buNone/>
            </a:pPr>
            <a:r>
              <a:rPr lang="en-US" sz="1300">
                <a:solidFill>
                  <a:srgbClr val="242424"/>
                </a:solidFill>
                <a:latin typeface="Segoe UI Semibold" pitchFamily="34" charset="0"/>
                <a:ea typeface="Segoe UI Semibold" pitchFamily="34" charset="-122"/>
                <a:cs typeface="Segoe UI Semibold" pitchFamily="34" charset="-120"/>
              </a:rPr>
              <a:t>Service status</a:t>
            </a:r>
            <a:endParaRPr lang="en-US" sz="1300" dirty="0"/>
          </a:p>
        </p:txBody>
      </p:sp>
      <p:sp>
        <p:nvSpPr>
          <p:cNvPr id="33" name="Shape 31"/>
          <p:cNvSpPr/>
          <p:nvPr/>
        </p:nvSpPr>
        <p:spPr>
          <a:xfrm>
            <a:off x="10104120" y="5239512"/>
            <a:ext cx="713232" cy="292608"/>
          </a:xfrm>
          <a:prstGeom prst="roundRect">
            <a:avLst>
              <a:gd name="adj" fmla="val 25000"/>
            </a:avLst>
          </a:prstGeom>
          <a:solidFill>
            <a:srgbClr val="ECEAFB"/>
          </a:solidFill>
          <a:ln/>
        </p:spPr>
        <p:txBody>
          <a:bodyPr/>
          <a:lstStyle/>
          <a:p>
            <a:endParaRPr lang="en-US"/>
          </a:p>
        </p:txBody>
      </p:sp>
      <p:sp>
        <p:nvSpPr>
          <p:cNvPr id="34" name="Text 32"/>
          <p:cNvSpPr/>
          <p:nvPr/>
        </p:nvSpPr>
        <p:spPr>
          <a:xfrm>
            <a:off x="10104120" y="5239512"/>
            <a:ext cx="713232" cy="292608"/>
          </a:xfrm>
          <a:prstGeom prst="rect">
            <a:avLst/>
          </a:prstGeom>
          <a:noFill/>
          <a:ln/>
        </p:spPr>
        <p:txBody>
          <a:bodyPr wrap="square" lIns="0" tIns="0" rIns="0" bIns="0" rtlCol="0" anchor="ctr"/>
          <a:lstStyle/>
          <a:p>
            <a:pPr marL="0" indent="0" algn="ctr">
              <a:buNone/>
            </a:pPr>
            <a:r>
              <a:rPr lang="en-US" sz="950">
                <a:solidFill>
                  <a:srgbClr val="4B44E0"/>
                </a:solidFill>
                <a:latin typeface="Segoe UI Semibold" pitchFamily="34" charset="0"/>
                <a:ea typeface="Segoe UI Semibold" pitchFamily="34" charset="-122"/>
                <a:cs typeface="Segoe UI Semibold" pitchFamily="34" charset="-120"/>
              </a:rPr>
              <a:t>Inventory</a:t>
            </a:r>
            <a:endParaRPr lang="en-US" sz="950" dirty="0"/>
          </a:p>
        </p:txBody>
      </p:sp>
      <p:sp>
        <p:nvSpPr>
          <p:cNvPr id="35" name="Shape 33"/>
          <p:cNvSpPr/>
          <p:nvPr/>
        </p:nvSpPr>
        <p:spPr>
          <a:xfrm>
            <a:off x="10927080" y="5239512"/>
            <a:ext cx="502920" cy="292608"/>
          </a:xfrm>
          <a:prstGeom prst="roundRect">
            <a:avLst>
              <a:gd name="adj" fmla="val 25000"/>
            </a:avLst>
          </a:prstGeom>
          <a:solidFill>
            <a:srgbClr val="CBD6F5"/>
          </a:solidFill>
          <a:ln/>
        </p:spPr>
        <p:txBody>
          <a:bodyPr/>
          <a:lstStyle/>
          <a:p>
            <a:endParaRPr lang="en-US"/>
          </a:p>
        </p:txBody>
      </p:sp>
      <p:sp>
        <p:nvSpPr>
          <p:cNvPr id="36" name="Text 34"/>
          <p:cNvSpPr/>
          <p:nvPr/>
        </p:nvSpPr>
        <p:spPr>
          <a:xfrm>
            <a:off x="10927080" y="5239512"/>
            <a:ext cx="502920" cy="292608"/>
          </a:xfrm>
          <a:prstGeom prst="rect">
            <a:avLst/>
          </a:prstGeom>
          <a:noFill/>
          <a:ln/>
        </p:spPr>
        <p:txBody>
          <a:bodyPr wrap="square" lIns="0" tIns="0" rIns="0" bIns="0" rtlCol="0" anchor="ctr"/>
          <a:lstStyle/>
          <a:p>
            <a:pPr marL="0" indent="0" algn="ctr">
              <a:buNone/>
            </a:pPr>
            <a:r>
              <a:rPr lang="en-US" sz="950">
                <a:solidFill>
                  <a:srgbClr val="16168F"/>
                </a:solidFill>
                <a:latin typeface="Segoe UI Semibold" pitchFamily="34" charset="0"/>
                <a:ea typeface="Segoe UI Semibold" pitchFamily="34" charset="-122"/>
                <a:cs typeface="Segoe UI Semibold" pitchFamily="34" charset="-120"/>
              </a:rPr>
              <a:t>Internal</a:t>
            </a:r>
            <a:endParaRPr lang="en-US" sz="950" dirty="0"/>
          </a:p>
        </p:txBody>
      </p:sp>
      <p:sp>
        <p:nvSpPr>
          <p:cNvPr id="37" name="Text 35"/>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4107206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38" y="502920"/>
            <a:ext cx="1544111" cy="310896"/>
          </a:xfrm>
          <a:prstGeom prst="roundRect">
            <a:avLst>
              <a:gd name="adj" fmla="val 50000"/>
            </a:avLst>
          </a:prstGeom>
          <a:solidFill>
            <a:srgbClr val="6E5BF2"/>
          </a:solidFill>
          <a:ln/>
        </p:spPr>
        <p:txBody>
          <a:bodyPr/>
          <a:lstStyle/>
          <a:p>
            <a:endParaRPr lang="en-US"/>
          </a:p>
        </p:txBody>
      </p:sp>
      <p:sp>
        <p:nvSpPr>
          <p:cNvPr id="3" name="Text 1"/>
          <p:cNvSpPr/>
          <p:nvPr/>
        </p:nvSpPr>
        <p:spPr>
          <a:xfrm>
            <a:off x="548639" y="502920"/>
            <a:ext cx="1544111" cy="310896"/>
          </a:xfrm>
          <a:prstGeom prst="rect">
            <a:avLst/>
          </a:prstGeom>
          <a:noFill/>
          <a:ln/>
        </p:spPr>
        <p:txBody>
          <a:bodyPr wrap="square" lIns="0" tIns="0" rIns="0" bIns="0" rtlCol="0" anchor="ctr"/>
          <a:lstStyle/>
          <a:p>
            <a:pPr marL="0" indent="0" algn="ctr">
              <a:buNone/>
            </a:pPr>
            <a:r>
              <a:rPr lang="en-US" sz="1050" kern="0" spc="150" dirty="0">
                <a:solidFill>
                  <a:srgbClr val="FFFFFF"/>
                </a:solidFill>
                <a:latin typeface="Segoe UI Semibold" pitchFamily="34" charset="0"/>
                <a:ea typeface="Segoe UI Semibold" pitchFamily="34" charset="-122"/>
                <a:cs typeface="Segoe UI Semibold" pitchFamily="34" charset="-120"/>
              </a:rPr>
              <a:t>ORCHESTRATE</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Dynamic tool use: one agent, several systems</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A combined briefing is multi-tool orchestration, not multi-agent delegation.</a:t>
            </a:r>
            <a:endParaRPr lang="en-US" sz="1550" dirty="0"/>
          </a:p>
        </p:txBody>
      </p:sp>
      <p:sp>
        <p:nvSpPr>
          <p:cNvPr id="6" name="Text 4"/>
          <p:cNvSpPr/>
          <p:nvPr/>
        </p:nvSpPr>
        <p:spPr>
          <a:xfrm>
            <a:off x="566928" y="2331720"/>
            <a:ext cx="5349240" cy="3657600"/>
          </a:xfrm>
          <a:prstGeom prst="rect">
            <a:avLst/>
          </a:prstGeom>
          <a:noFill/>
          <a:ln/>
        </p:spPr>
        <p:txBody>
          <a:bodyPr wrap="square" lIns="0" tIns="0" rIns="0" bIns="0" rtlCol="0" anchor="t"/>
          <a:lstStyle/>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Load field-briefing and retrieve the work order before preparing advice.</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Batch stock checks and combine procedure/safety retrieval.</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Ground the answer in successful results and document citations.</a:t>
            </a:r>
          </a:p>
          <a:p>
            <a:pPr marL="228600" indent="-228600" algn="l">
              <a:lnSpc>
                <a:spcPct val="105000"/>
              </a:lnSpc>
              <a:spcAft>
                <a:spcPts val="1000"/>
              </a:spcAft>
              <a:buSzPct val="100000"/>
              <a:buChar char="•"/>
            </a:pPr>
            <a:r>
              <a:rPr lang="en-US" sz="1500">
                <a:solidFill>
                  <a:srgbClr val="33333A"/>
                </a:solidFill>
                <a:latin typeface="Segoe UI" pitchFamily="34" charset="0"/>
                <a:ea typeface="Segoe UI" pitchFamily="34" charset="-122"/>
                <a:cs typeface="Segoe UI" pitchFamily="34" charset="-120"/>
              </a:rPr>
              <a:t>Specialist agents need explicit handoffs, identities and budgets.</a:t>
            </a:r>
            <a:endParaRPr lang="en-US" sz="1500" dirty="0"/>
          </a:p>
        </p:txBody>
      </p:sp>
      <p:sp>
        <p:nvSpPr>
          <p:cNvPr id="7" name="Shape 5"/>
          <p:cNvSpPr/>
          <p:nvPr/>
        </p:nvSpPr>
        <p:spPr>
          <a:xfrm>
            <a:off x="7315200" y="2331720"/>
            <a:ext cx="3383280" cy="566928"/>
          </a:xfrm>
          <a:prstGeom prst="roundRect">
            <a:avLst>
              <a:gd name="adj" fmla="val 16129"/>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8" name="Text 6"/>
          <p:cNvSpPr/>
          <p:nvPr/>
        </p:nvSpPr>
        <p:spPr>
          <a:xfrm>
            <a:off x="7315200" y="2331720"/>
            <a:ext cx="3383280" cy="566928"/>
          </a:xfrm>
          <a:prstGeom prst="rect">
            <a:avLst/>
          </a:prstGeom>
          <a:noFill/>
          <a:ln/>
        </p:spPr>
        <p:txBody>
          <a:bodyPr wrap="square" lIns="0" tIns="0" rIns="0" bIns="0" rtlCol="0" anchor="ctr"/>
          <a:lstStyle/>
          <a:p>
            <a:pPr marL="0" indent="0" algn="ctr">
              <a:buNone/>
            </a:pPr>
            <a:r>
              <a:rPr lang="en-US" sz="1300" i="1" dirty="0">
                <a:solidFill>
                  <a:srgbClr val="242424"/>
                </a:solidFill>
                <a:latin typeface="Segoe UI" pitchFamily="34" charset="0"/>
                <a:ea typeface="Segoe UI" pitchFamily="34" charset="-122"/>
                <a:cs typeface="Segoe UI" pitchFamily="34" charset="-120"/>
              </a:rPr>
              <a:t>"Brief me on WO-007"</a:t>
            </a:r>
            <a:endParaRPr lang="en-US" sz="1300" dirty="0"/>
          </a:p>
        </p:txBody>
      </p:sp>
      <p:sp>
        <p:nvSpPr>
          <p:cNvPr id="9" name="Text 7"/>
          <p:cNvSpPr/>
          <p:nvPr/>
        </p:nvSpPr>
        <p:spPr>
          <a:xfrm>
            <a:off x="8823960" y="2962656"/>
            <a:ext cx="365760" cy="274320"/>
          </a:xfrm>
          <a:prstGeom prst="rect">
            <a:avLst/>
          </a:prstGeom>
          <a:noFill/>
          <a:ln/>
        </p:spPr>
        <p:txBody>
          <a:bodyPr wrap="square" lIns="0" tIns="0" rIns="0" bIns="0" rtlCol="0" anchor="ctr"/>
          <a:lstStyle/>
          <a:p>
            <a:pPr marL="0" indent="0" algn="ctr">
              <a:buNone/>
            </a:pPr>
            <a:r>
              <a:rPr lang="en-US" sz="1500" dirty="0">
                <a:solidFill>
                  <a:srgbClr val="6B6B75"/>
                </a:solidFill>
                <a:latin typeface="Segoe UI" pitchFamily="34" charset="0"/>
                <a:ea typeface="Segoe UI" pitchFamily="34" charset="-122"/>
                <a:cs typeface="Segoe UI" pitchFamily="34" charset="-120"/>
              </a:rPr>
              <a:t>↓</a:t>
            </a:r>
            <a:endParaRPr lang="en-US" sz="1500" dirty="0"/>
          </a:p>
        </p:txBody>
      </p:sp>
      <p:sp>
        <p:nvSpPr>
          <p:cNvPr id="10" name="Shape 8"/>
          <p:cNvSpPr/>
          <p:nvPr/>
        </p:nvSpPr>
        <p:spPr>
          <a:xfrm>
            <a:off x="7315200" y="3273552"/>
            <a:ext cx="3383280" cy="566928"/>
          </a:xfrm>
          <a:prstGeom prst="roundRect">
            <a:avLst>
              <a:gd name="adj" fmla="val 16129"/>
            </a:avLst>
          </a:prstGeom>
          <a:solidFill>
            <a:srgbClr val="6E5BF2"/>
          </a:solidFill>
          <a:ln/>
        </p:spPr>
        <p:txBody>
          <a:bodyPr/>
          <a:lstStyle/>
          <a:p>
            <a:endParaRPr lang="en-US"/>
          </a:p>
        </p:txBody>
      </p:sp>
      <p:sp>
        <p:nvSpPr>
          <p:cNvPr id="11" name="Text 9"/>
          <p:cNvSpPr/>
          <p:nvPr/>
        </p:nvSpPr>
        <p:spPr>
          <a:xfrm>
            <a:off x="7315200" y="3273552"/>
            <a:ext cx="3383280" cy="566928"/>
          </a:xfrm>
          <a:prstGeom prst="rect">
            <a:avLst/>
          </a:prstGeom>
          <a:noFill/>
          <a:ln/>
        </p:spPr>
        <p:txBody>
          <a:bodyPr wrap="square" lIns="0" tIns="0" rIns="0" bIns="0" rtlCol="0" anchor="ctr"/>
          <a:lstStyle/>
          <a:p>
            <a:pPr marL="0" indent="0" algn="ctr">
              <a:buNone/>
            </a:pPr>
            <a:r>
              <a:rPr lang="en-US" sz="1400">
                <a:solidFill>
                  <a:srgbClr val="FFFFFF"/>
                </a:solidFill>
                <a:latin typeface="Segoe UI Semibold" pitchFamily="34" charset="0"/>
                <a:ea typeface="Segoe UI Semibold" pitchFamily="34" charset="-122"/>
                <a:cs typeface="Segoe UI Semibold" pitchFamily="34" charset="-120"/>
              </a:rPr>
              <a:t>Load field-briefing skill</a:t>
            </a:r>
            <a:endParaRPr lang="en-US" sz="1400" dirty="0"/>
          </a:p>
        </p:txBody>
      </p:sp>
      <p:sp>
        <p:nvSpPr>
          <p:cNvPr id="12" name="Text 10"/>
          <p:cNvSpPr/>
          <p:nvPr/>
        </p:nvSpPr>
        <p:spPr>
          <a:xfrm>
            <a:off x="7315200" y="3931920"/>
            <a:ext cx="3383280" cy="274320"/>
          </a:xfrm>
          <a:prstGeom prst="rect">
            <a:avLst/>
          </a:prstGeom>
          <a:noFill/>
          <a:ln/>
        </p:spPr>
        <p:txBody>
          <a:bodyPr wrap="square" lIns="0" tIns="0" rIns="0" bIns="0" rtlCol="0" anchor="ctr"/>
          <a:lstStyle/>
          <a:p>
            <a:pPr marL="0" indent="0" algn="ctr">
              <a:buNone/>
            </a:pPr>
            <a:r>
              <a:rPr lang="en-US" sz="1100">
                <a:solidFill>
                  <a:srgbClr val="6B6B75"/>
                </a:solidFill>
                <a:latin typeface="Segoe UI Semibold" pitchFamily="34" charset="0"/>
                <a:ea typeface="Segoe UI Semibold" pitchFamily="34" charset="-122"/>
                <a:cs typeface="Segoe UI Semibold" pitchFamily="34" charset="-120"/>
              </a:rPr>
              <a:t>Select visible operations by schema</a:t>
            </a:r>
            <a:endParaRPr lang="en-US" sz="1100" dirty="0"/>
          </a:p>
        </p:txBody>
      </p:sp>
      <p:sp>
        <p:nvSpPr>
          <p:cNvPr id="13" name="Shape 11"/>
          <p:cNvSpPr/>
          <p:nvPr/>
        </p:nvSpPr>
        <p:spPr>
          <a:xfrm>
            <a:off x="7315200" y="4297680"/>
            <a:ext cx="3383280" cy="502920"/>
          </a:xfrm>
          <a:prstGeom prst="roundRect">
            <a:avLst>
              <a:gd name="adj" fmla="val 16364"/>
            </a:avLst>
          </a:prstGeom>
          <a:solidFill>
            <a:srgbClr val="ECEAFB"/>
          </a:solidFill>
          <a:ln w="12700">
            <a:solidFill>
              <a:srgbClr val="D9D3F7"/>
            </a:solidFill>
            <a:prstDash val="solid"/>
          </a:ln>
        </p:spPr>
        <p:txBody>
          <a:bodyPr/>
          <a:lstStyle/>
          <a:p>
            <a:endParaRPr lang="en-US"/>
          </a:p>
        </p:txBody>
      </p:sp>
      <p:sp>
        <p:nvSpPr>
          <p:cNvPr id="14" name="Shape 12"/>
          <p:cNvSpPr/>
          <p:nvPr/>
        </p:nvSpPr>
        <p:spPr>
          <a:xfrm>
            <a:off x="7534656" y="4471416"/>
            <a:ext cx="146304" cy="146304"/>
          </a:xfrm>
          <a:prstGeom prst="ellipse">
            <a:avLst/>
          </a:prstGeom>
          <a:solidFill>
            <a:srgbClr val="4B44E0"/>
          </a:solidFill>
          <a:ln/>
        </p:spPr>
        <p:txBody>
          <a:bodyPr/>
          <a:lstStyle/>
          <a:p>
            <a:endParaRPr lang="en-US"/>
          </a:p>
        </p:txBody>
      </p:sp>
      <p:sp>
        <p:nvSpPr>
          <p:cNvPr id="15" name="Text 13"/>
          <p:cNvSpPr/>
          <p:nvPr/>
        </p:nvSpPr>
        <p:spPr>
          <a:xfrm>
            <a:off x="7818120" y="4297680"/>
            <a:ext cx="2743200" cy="502920"/>
          </a:xfrm>
          <a:prstGeom prst="rect">
            <a:avLst/>
          </a:prstGeom>
          <a:noFill/>
          <a:ln/>
        </p:spPr>
        <p:txBody>
          <a:bodyPr wrap="square" lIns="0" tIns="0" rIns="0" bIns="0" rtlCol="0" anchor="ctr"/>
          <a:lstStyle/>
          <a:p>
            <a:pPr marL="0" indent="0">
              <a:buNone/>
            </a:pPr>
            <a:r>
              <a:rPr lang="en-US" sz="1250">
                <a:solidFill>
                  <a:srgbClr val="242424"/>
                </a:solidFill>
                <a:latin typeface="Segoe UI" pitchFamily="34" charset="0"/>
                <a:ea typeface="Segoe UI" pitchFamily="34" charset="-122"/>
                <a:cs typeface="Segoe UI" pitchFamily="34" charset="-120"/>
              </a:rPr>
              <a:t>Work order + stock</a:t>
            </a:r>
            <a:endParaRPr lang="en-US" sz="1250" dirty="0"/>
          </a:p>
        </p:txBody>
      </p:sp>
      <p:sp>
        <p:nvSpPr>
          <p:cNvPr id="16" name="Shape 14"/>
          <p:cNvSpPr/>
          <p:nvPr/>
        </p:nvSpPr>
        <p:spPr>
          <a:xfrm>
            <a:off x="7315200" y="4901184"/>
            <a:ext cx="3383280" cy="502920"/>
          </a:xfrm>
          <a:prstGeom prst="roundRect">
            <a:avLst>
              <a:gd name="adj" fmla="val 16364"/>
            </a:avLst>
          </a:prstGeom>
          <a:solidFill>
            <a:srgbClr val="ECEAFB"/>
          </a:solidFill>
          <a:ln w="12700">
            <a:solidFill>
              <a:srgbClr val="D9D3F7"/>
            </a:solidFill>
            <a:prstDash val="solid"/>
          </a:ln>
        </p:spPr>
        <p:txBody>
          <a:bodyPr/>
          <a:lstStyle/>
          <a:p>
            <a:endParaRPr lang="en-US"/>
          </a:p>
        </p:txBody>
      </p:sp>
      <p:sp>
        <p:nvSpPr>
          <p:cNvPr id="17" name="Shape 15"/>
          <p:cNvSpPr/>
          <p:nvPr/>
        </p:nvSpPr>
        <p:spPr>
          <a:xfrm>
            <a:off x="7534656" y="5074920"/>
            <a:ext cx="146304" cy="146304"/>
          </a:xfrm>
          <a:prstGeom prst="ellipse">
            <a:avLst/>
          </a:prstGeom>
          <a:solidFill>
            <a:srgbClr val="4B44E0"/>
          </a:solidFill>
          <a:ln/>
        </p:spPr>
        <p:txBody>
          <a:bodyPr/>
          <a:lstStyle/>
          <a:p>
            <a:endParaRPr lang="en-US"/>
          </a:p>
        </p:txBody>
      </p:sp>
      <p:sp>
        <p:nvSpPr>
          <p:cNvPr id="18" name="Text 16"/>
          <p:cNvSpPr/>
          <p:nvPr/>
        </p:nvSpPr>
        <p:spPr>
          <a:xfrm>
            <a:off x="7818120" y="4901184"/>
            <a:ext cx="2743200" cy="502920"/>
          </a:xfrm>
          <a:prstGeom prst="rect">
            <a:avLst/>
          </a:prstGeom>
          <a:noFill/>
          <a:ln/>
        </p:spPr>
        <p:txBody>
          <a:bodyPr wrap="square" lIns="0" tIns="0" rIns="0" bIns="0" rtlCol="0" anchor="ctr"/>
          <a:lstStyle/>
          <a:p>
            <a:pPr marL="0" indent="0">
              <a:buNone/>
            </a:pPr>
            <a:r>
              <a:rPr lang="en-US" sz="1250">
                <a:solidFill>
                  <a:srgbClr val="242424"/>
                </a:solidFill>
                <a:latin typeface="Segoe UI" pitchFamily="34" charset="0"/>
                <a:ea typeface="Segoe UI" pitchFamily="34" charset="-122"/>
                <a:cs typeface="Segoe UI" pitchFamily="34" charset="-120"/>
              </a:rPr>
              <a:t>Procedures + safety</a:t>
            </a:r>
            <a:endParaRPr lang="en-US" sz="1250" dirty="0"/>
          </a:p>
        </p:txBody>
      </p:sp>
      <p:sp>
        <p:nvSpPr>
          <p:cNvPr id="19" name="Shape 17"/>
          <p:cNvSpPr/>
          <p:nvPr/>
        </p:nvSpPr>
        <p:spPr>
          <a:xfrm>
            <a:off x="7315200" y="5504688"/>
            <a:ext cx="3383280" cy="502920"/>
          </a:xfrm>
          <a:prstGeom prst="roundRect">
            <a:avLst>
              <a:gd name="adj" fmla="val 16364"/>
            </a:avLst>
          </a:prstGeom>
          <a:solidFill>
            <a:srgbClr val="ECEAFB"/>
          </a:solidFill>
          <a:ln w="12700">
            <a:solidFill>
              <a:srgbClr val="D9D3F7"/>
            </a:solidFill>
            <a:prstDash val="solid"/>
          </a:ln>
        </p:spPr>
        <p:txBody>
          <a:bodyPr/>
          <a:lstStyle/>
          <a:p>
            <a:endParaRPr lang="en-US"/>
          </a:p>
        </p:txBody>
      </p:sp>
      <p:sp>
        <p:nvSpPr>
          <p:cNvPr id="20" name="Shape 18"/>
          <p:cNvSpPr/>
          <p:nvPr/>
        </p:nvSpPr>
        <p:spPr>
          <a:xfrm>
            <a:off x="7534656" y="5678424"/>
            <a:ext cx="146304" cy="146304"/>
          </a:xfrm>
          <a:prstGeom prst="ellipse">
            <a:avLst/>
          </a:prstGeom>
          <a:solidFill>
            <a:srgbClr val="4B44E0"/>
          </a:solidFill>
          <a:ln/>
        </p:spPr>
        <p:txBody>
          <a:bodyPr/>
          <a:lstStyle/>
          <a:p>
            <a:endParaRPr lang="en-US"/>
          </a:p>
        </p:txBody>
      </p:sp>
      <p:sp>
        <p:nvSpPr>
          <p:cNvPr id="21" name="Text 19"/>
          <p:cNvSpPr/>
          <p:nvPr/>
        </p:nvSpPr>
        <p:spPr>
          <a:xfrm>
            <a:off x="7818120" y="5504688"/>
            <a:ext cx="2743200" cy="502920"/>
          </a:xfrm>
          <a:prstGeom prst="rect">
            <a:avLst/>
          </a:prstGeom>
          <a:noFill/>
          <a:ln/>
        </p:spPr>
        <p:txBody>
          <a:bodyPr wrap="square" lIns="0" tIns="0" rIns="0" bIns="0" rtlCol="0" anchor="ctr"/>
          <a:lstStyle/>
          <a:p>
            <a:pPr marL="0" indent="0">
              <a:buNone/>
            </a:pPr>
            <a:r>
              <a:rPr lang="en-US" sz="1250">
                <a:solidFill>
                  <a:srgbClr val="242424"/>
                </a:solidFill>
                <a:latin typeface="Segoe UI" pitchFamily="34" charset="0"/>
                <a:ea typeface="Segoe UI" pitchFamily="34" charset="-122"/>
                <a:cs typeface="Segoe UI" pitchFamily="34" charset="-120"/>
              </a:rPr>
              <a:t>Network status</a:t>
            </a:r>
            <a:endParaRPr lang="en-US" sz="1250" dirty="0"/>
          </a:p>
        </p:txBody>
      </p:sp>
      <p:sp>
        <p:nvSpPr>
          <p:cNvPr id="22" name="Text 20"/>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
        <p:nvSpPr>
          <p:cNvPr id="23" name="ToolboxVideoLink">
            <a:hlinkClick r:id="rId3"/>
            <a:extLst>
              <a:ext uri="{FF2B5EF4-FFF2-40B4-BE49-F238E27FC236}">
                <a16:creationId xmlns:a16="http://schemas.microsoft.com/office/drawing/2014/main" id="{B648A30A-961E-8386-60BC-39580432ADB3}"/>
              </a:ext>
            </a:extLst>
          </p:cNvPr>
          <p:cNvSpPr/>
          <p:nvPr/>
        </p:nvSpPr>
        <p:spPr>
          <a:xfrm>
            <a:off x="9474200" y="990600"/>
            <a:ext cx="2133600" cy="381000"/>
          </a:xfrm>
          <a:prstGeom prst="roundRect">
            <a:avLst/>
          </a:prstGeom>
          <a:solidFill>
            <a:srgbClr val="546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Aptos" panose="020B0004020202020204" pitchFamily="34" charset="0"/>
              </a:rPr>
              <a:t>Optional platform overview</a:t>
            </a:r>
          </a:p>
        </p:txBody>
      </p:sp>
    </p:spTree>
    <p:extLst>
      <p:ext uri="{BB962C8B-B14F-4D97-AF65-F5344CB8AC3E}">
        <p14:creationId xmlns:p14="http://schemas.microsoft.com/office/powerpoint/2010/main" val="26358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938174" cy="310896"/>
          </a:xfrm>
          <a:prstGeom prst="roundRect">
            <a:avLst>
              <a:gd name="adj" fmla="val 50000"/>
            </a:avLst>
          </a:prstGeom>
          <a:solidFill>
            <a:srgbClr val="16168F"/>
          </a:solidFill>
          <a:ln/>
        </p:spPr>
        <p:txBody>
          <a:bodyPr/>
          <a:lstStyle/>
          <a:p>
            <a:endParaRPr lang="en-US"/>
          </a:p>
        </p:txBody>
      </p:sp>
      <p:sp>
        <p:nvSpPr>
          <p:cNvPr id="3" name="Text 1"/>
          <p:cNvSpPr/>
          <p:nvPr/>
        </p:nvSpPr>
        <p:spPr>
          <a:xfrm>
            <a:off x="548640" y="502920"/>
            <a:ext cx="938174" cy="310896"/>
          </a:xfrm>
          <a:prstGeom prst="rect">
            <a:avLst/>
          </a:prstGeom>
          <a:noFill/>
          <a:ln/>
        </p:spPr>
        <p:txBody>
          <a:bodyPr wrap="square" lIns="0" tIns="0" rIns="0" bIns="0" rtlCol="0" anchor="ctr"/>
          <a:lstStyle/>
          <a:p>
            <a:pPr marL="0" indent="0" algn="ctr">
              <a:buNone/>
            </a:pPr>
            <a:r>
              <a:rPr lang="en-US" sz="1050" kern="0" spc="150">
                <a:solidFill>
                  <a:srgbClr val="FFFFFF"/>
                </a:solidFill>
                <a:latin typeface="Segoe UI Semibold" pitchFamily="34" charset="0"/>
                <a:ea typeface="Segoe UI Semibold" pitchFamily="34" charset="-122"/>
                <a:cs typeface="Segoe UI Semibold" pitchFamily="34" charset="-120"/>
              </a:rPr>
              <a:t>SECURE</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RBAC boundaries, control plane and data plane</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Know which identity is acting, on which plane, and what it is allowed to do.</a:t>
            </a:r>
            <a:endParaRPr lang="en-US" sz="1550" dirty="0"/>
          </a:p>
        </p:txBody>
      </p:sp>
      <p:sp>
        <p:nvSpPr>
          <p:cNvPr id="6" name="Text 4"/>
          <p:cNvSpPr/>
          <p:nvPr/>
        </p:nvSpPr>
        <p:spPr>
          <a:xfrm>
            <a:off x="566928" y="2331720"/>
            <a:ext cx="4480560" cy="457200"/>
          </a:xfrm>
          <a:prstGeom prst="rect">
            <a:avLst/>
          </a:prstGeom>
          <a:noFill/>
          <a:ln/>
        </p:spPr>
        <p:txBody>
          <a:bodyPr wrap="square" rtlCol="0" anchor="ctr"/>
          <a:lstStyle/>
          <a:p>
            <a:pPr marL="0" indent="0">
              <a:buNone/>
            </a:pPr>
            <a:r>
              <a:rPr lang="en-US" sz="1500">
                <a:solidFill>
                  <a:srgbClr val="242424"/>
                </a:solidFill>
                <a:latin typeface="Segoe UI Semibold" pitchFamily="34" charset="0"/>
                <a:ea typeface="Segoe UI Semibold" pitchFamily="34" charset="-122"/>
                <a:cs typeface="Segoe UI Semibold" pitchFamily="34" charset="-120"/>
              </a:rPr>
              <a:t>Identity boundaries</a:t>
            </a:r>
            <a:endParaRPr lang="en-US" sz="1500" dirty="0"/>
          </a:p>
        </p:txBody>
      </p:sp>
      <p:sp>
        <p:nvSpPr>
          <p:cNvPr id="7" name="Shape 5"/>
          <p:cNvSpPr/>
          <p:nvPr/>
        </p:nvSpPr>
        <p:spPr>
          <a:xfrm>
            <a:off x="566928" y="2926080"/>
            <a:ext cx="4297680" cy="502920"/>
          </a:xfrm>
          <a:prstGeom prst="roundRect">
            <a:avLst>
              <a:gd name="adj" fmla="val 14545"/>
            </a:avLst>
          </a:prstGeom>
          <a:solidFill>
            <a:srgbClr val="FFFFFF"/>
          </a:solidFill>
          <a:ln w="12700">
            <a:solidFill>
              <a:srgbClr val="E3E3E8"/>
            </a:solidFill>
            <a:prstDash val="solid"/>
          </a:ln>
        </p:spPr>
        <p:txBody>
          <a:bodyPr/>
          <a:lstStyle/>
          <a:p>
            <a:endParaRPr lang="en-US"/>
          </a:p>
        </p:txBody>
      </p:sp>
      <p:sp>
        <p:nvSpPr>
          <p:cNvPr id="8" name="Shape 6"/>
          <p:cNvSpPr/>
          <p:nvPr/>
        </p:nvSpPr>
        <p:spPr>
          <a:xfrm>
            <a:off x="777240" y="3108960"/>
            <a:ext cx="146304" cy="146304"/>
          </a:xfrm>
          <a:prstGeom prst="ellipse">
            <a:avLst/>
          </a:prstGeom>
          <a:solidFill>
            <a:srgbClr val="4B44E0"/>
          </a:solidFill>
          <a:ln/>
        </p:spPr>
        <p:txBody>
          <a:bodyPr/>
          <a:lstStyle/>
          <a:p>
            <a:endParaRPr lang="en-US"/>
          </a:p>
        </p:txBody>
      </p:sp>
      <p:sp>
        <p:nvSpPr>
          <p:cNvPr id="9" name="Text 7"/>
          <p:cNvSpPr/>
          <p:nvPr/>
        </p:nvSpPr>
        <p:spPr>
          <a:xfrm>
            <a:off x="1097280" y="2926080"/>
            <a:ext cx="3657600" cy="502920"/>
          </a:xfrm>
          <a:prstGeom prst="rect">
            <a:avLst/>
          </a:prstGeom>
          <a:noFill/>
          <a:ln/>
        </p:spPr>
        <p:txBody>
          <a:bodyPr wrap="square" lIns="0" tIns="0" rIns="0" bIns="0" rtlCol="0" anchor="ctr"/>
          <a:lstStyle/>
          <a:p>
            <a:pPr marL="0" indent="0">
              <a:buNone/>
            </a:pPr>
            <a:r>
              <a:rPr lang="en-US" sz="1350">
                <a:solidFill>
                  <a:srgbClr val="242424"/>
                </a:solidFill>
                <a:latin typeface="Segoe UI" pitchFamily="34" charset="0"/>
                <a:ea typeface="Segoe UI" pitchFamily="34" charset="-122"/>
                <a:cs typeface="Segoe UI" pitchFamily="34" charset="-120"/>
              </a:rPr>
              <a:t>Entra UI + allowlisted user</a:t>
            </a:r>
            <a:endParaRPr lang="en-US" sz="1350" dirty="0"/>
          </a:p>
        </p:txBody>
      </p:sp>
      <p:sp>
        <p:nvSpPr>
          <p:cNvPr id="10" name="Shape 8"/>
          <p:cNvSpPr/>
          <p:nvPr/>
        </p:nvSpPr>
        <p:spPr>
          <a:xfrm>
            <a:off x="566928" y="3547872"/>
            <a:ext cx="4297680" cy="502920"/>
          </a:xfrm>
          <a:prstGeom prst="roundRect">
            <a:avLst>
              <a:gd name="adj" fmla="val 14545"/>
            </a:avLst>
          </a:prstGeom>
          <a:solidFill>
            <a:srgbClr val="FFFFFF"/>
          </a:solidFill>
          <a:ln w="12700">
            <a:solidFill>
              <a:srgbClr val="E3E3E8"/>
            </a:solidFill>
            <a:prstDash val="solid"/>
          </a:ln>
        </p:spPr>
        <p:txBody>
          <a:bodyPr/>
          <a:lstStyle/>
          <a:p>
            <a:endParaRPr lang="en-US"/>
          </a:p>
        </p:txBody>
      </p:sp>
      <p:sp>
        <p:nvSpPr>
          <p:cNvPr id="11" name="Shape 9"/>
          <p:cNvSpPr/>
          <p:nvPr/>
        </p:nvSpPr>
        <p:spPr>
          <a:xfrm>
            <a:off x="777240" y="3730752"/>
            <a:ext cx="146304" cy="146304"/>
          </a:xfrm>
          <a:prstGeom prst="ellipse">
            <a:avLst/>
          </a:prstGeom>
          <a:solidFill>
            <a:srgbClr val="4B44E0"/>
          </a:solidFill>
          <a:ln/>
        </p:spPr>
        <p:txBody>
          <a:bodyPr/>
          <a:lstStyle/>
          <a:p>
            <a:endParaRPr lang="en-US"/>
          </a:p>
        </p:txBody>
      </p:sp>
      <p:sp>
        <p:nvSpPr>
          <p:cNvPr id="12" name="Text 10"/>
          <p:cNvSpPr/>
          <p:nvPr/>
        </p:nvSpPr>
        <p:spPr>
          <a:xfrm>
            <a:off x="1097280" y="3547872"/>
            <a:ext cx="3657600" cy="502920"/>
          </a:xfrm>
          <a:prstGeom prst="rect">
            <a:avLst/>
          </a:prstGeom>
          <a:noFill/>
          <a:ln/>
        </p:spPr>
        <p:txBody>
          <a:bodyPr wrap="square" lIns="0" tIns="0" rIns="0" bIns="0" rtlCol="0" anchor="ctr"/>
          <a:lstStyle/>
          <a:p>
            <a:pPr marL="0" indent="0">
              <a:buNone/>
            </a:pPr>
            <a:r>
              <a:rPr lang="en-US" sz="1350">
                <a:solidFill>
                  <a:srgbClr val="242424"/>
                </a:solidFill>
                <a:latin typeface="Segoe UI" pitchFamily="34" charset="0"/>
                <a:ea typeface="Segoe UI" pitchFamily="34" charset="-122"/>
                <a:cs typeface="Segoe UI" pitchFamily="34" charset="-120"/>
              </a:rPr>
              <a:t>Gateway managed identity</a:t>
            </a:r>
            <a:endParaRPr lang="en-US" sz="1350" dirty="0"/>
          </a:p>
        </p:txBody>
      </p:sp>
      <p:sp>
        <p:nvSpPr>
          <p:cNvPr id="13" name="Shape 11"/>
          <p:cNvSpPr/>
          <p:nvPr/>
        </p:nvSpPr>
        <p:spPr>
          <a:xfrm>
            <a:off x="566928" y="4169664"/>
            <a:ext cx="4297680" cy="502920"/>
          </a:xfrm>
          <a:prstGeom prst="roundRect">
            <a:avLst>
              <a:gd name="adj" fmla="val 14545"/>
            </a:avLst>
          </a:prstGeom>
          <a:solidFill>
            <a:srgbClr val="FFFFFF"/>
          </a:solidFill>
          <a:ln w="12700">
            <a:solidFill>
              <a:srgbClr val="E3E3E8"/>
            </a:solidFill>
            <a:prstDash val="solid"/>
          </a:ln>
        </p:spPr>
        <p:txBody>
          <a:bodyPr/>
          <a:lstStyle/>
          <a:p>
            <a:endParaRPr lang="en-US"/>
          </a:p>
        </p:txBody>
      </p:sp>
      <p:sp>
        <p:nvSpPr>
          <p:cNvPr id="14" name="Shape 12"/>
          <p:cNvSpPr/>
          <p:nvPr/>
        </p:nvSpPr>
        <p:spPr>
          <a:xfrm>
            <a:off x="777240" y="4352544"/>
            <a:ext cx="146304" cy="146304"/>
          </a:xfrm>
          <a:prstGeom prst="ellipse">
            <a:avLst/>
          </a:prstGeom>
          <a:solidFill>
            <a:srgbClr val="4B44E0"/>
          </a:solidFill>
          <a:ln/>
        </p:spPr>
        <p:txBody>
          <a:bodyPr/>
          <a:lstStyle/>
          <a:p>
            <a:endParaRPr lang="en-US"/>
          </a:p>
        </p:txBody>
      </p:sp>
      <p:sp>
        <p:nvSpPr>
          <p:cNvPr id="15" name="Text 13"/>
          <p:cNvSpPr/>
          <p:nvPr/>
        </p:nvSpPr>
        <p:spPr>
          <a:xfrm>
            <a:off x="1097280" y="4169664"/>
            <a:ext cx="3657600" cy="502920"/>
          </a:xfrm>
          <a:prstGeom prst="rect">
            <a:avLst/>
          </a:prstGeom>
          <a:noFill/>
          <a:ln/>
        </p:spPr>
        <p:txBody>
          <a:bodyPr wrap="square" lIns="0" tIns="0" rIns="0" bIns="0" rtlCol="0" anchor="ctr"/>
          <a:lstStyle/>
          <a:p>
            <a:pPr marL="0" indent="0">
              <a:buNone/>
            </a:pPr>
            <a:r>
              <a:rPr lang="en-US" sz="1350">
                <a:solidFill>
                  <a:srgbClr val="242424"/>
                </a:solidFill>
                <a:latin typeface="Segoe UI" pitchFamily="34" charset="0"/>
                <a:ea typeface="Segoe UI" pitchFamily="34" charset="-122"/>
                <a:cs typeface="Segoe UI" pitchFamily="34" charset="-120"/>
              </a:rPr>
              <a:t>Hosted runtime agent identity</a:t>
            </a:r>
            <a:endParaRPr lang="en-US" sz="1350" dirty="0"/>
          </a:p>
        </p:txBody>
      </p:sp>
      <p:sp>
        <p:nvSpPr>
          <p:cNvPr id="16" name="Shape 14"/>
          <p:cNvSpPr/>
          <p:nvPr/>
        </p:nvSpPr>
        <p:spPr>
          <a:xfrm>
            <a:off x="566928" y="4791456"/>
            <a:ext cx="4297680" cy="502920"/>
          </a:xfrm>
          <a:prstGeom prst="roundRect">
            <a:avLst>
              <a:gd name="adj" fmla="val 14545"/>
            </a:avLst>
          </a:prstGeom>
          <a:solidFill>
            <a:srgbClr val="FFFFFF"/>
          </a:solidFill>
          <a:ln w="12700">
            <a:solidFill>
              <a:srgbClr val="E3E3E8"/>
            </a:solidFill>
            <a:prstDash val="solid"/>
          </a:ln>
        </p:spPr>
        <p:txBody>
          <a:bodyPr/>
          <a:lstStyle/>
          <a:p>
            <a:endParaRPr lang="en-US"/>
          </a:p>
        </p:txBody>
      </p:sp>
      <p:sp>
        <p:nvSpPr>
          <p:cNvPr id="17" name="Shape 15"/>
          <p:cNvSpPr/>
          <p:nvPr/>
        </p:nvSpPr>
        <p:spPr>
          <a:xfrm>
            <a:off x="777240" y="4974336"/>
            <a:ext cx="146304" cy="146304"/>
          </a:xfrm>
          <a:prstGeom prst="ellipse">
            <a:avLst/>
          </a:prstGeom>
          <a:solidFill>
            <a:srgbClr val="4B44E0"/>
          </a:solidFill>
          <a:ln/>
        </p:spPr>
        <p:txBody>
          <a:bodyPr/>
          <a:lstStyle/>
          <a:p>
            <a:endParaRPr lang="en-US"/>
          </a:p>
        </p:txBody>
      </p:sp>
      <p:sp>
        <p:nvSpPr>
          <p:cNvPr id="18" name="Text 16"/>
          <p:cNvSpPr/>
          <p:nvPr/>
        </p:nvSpPr>
        <p:spPr>
          <a:xfrm>
            <a:off x="1097280" y="4791456"/>
            <a:ext cx="3657600" cy="502920"/>
          </a:xfrm>
          <a:prstGeom prst="rect">
            <a:avLst/>
          </a:prstGeom>
          <a:noFill/>
          <a:ln/>
        </p:spPr>
        <p:txBody>
          <a:bodyPr wrap="square" lIns="0" tIns="0" rIns="0" bIns="0" rtlCol="0" anchor="ctr"/>
          <a:lstStyle/>
          <a:p>
            <a:pPr marL="0" indent="0">
              <a:buNone/>
            </a:pPr>
            <a:r>
              <a:rPr lang="en-US" sz="1350">
                <a:solidFill>
                  <a:srgbClr val="242424"/>
                </a:solidFill>
                <a:latin typeface="Segoe UI" pitchFamily="34" charset="0"/>
                <a:ea typeface="Segoe UI" pitchFamily="34" charset="-122"/>
                <a:cs typeface="Segoe UI" pitchFamily="34" charset="-120"/>
              </a:rPr>
              <a:t>Keys / project Search identity</a:t>
            </a:r>
            <a:endParaRPr lang="en-US" sz="1350" dirty="0"/>
          </a:p>
        </p:txBody>
      </p:sp>
      <p:sp>
        <p:nvSpPr>
          <p:cNvPr id="19" name="Shape 17"/>
          <p:cNvSpPr/>
          <p:nvPr/>
        </p:nvSpPr>
        <p:spPr>
          <a:xfrm>
            <a:off x="5212080" y="2286000"/>
            <a:ext cx="6400800" cy="3886200"/>
          </a:xfrm>
          <a:prstGeom prst="roundRect">
            <a:avLst>
              <a:gd name="adj" fmla="val 2353"/>
            </a:avLst>
          </a:prstGeom>
          <a:solidFill>
            <a:srgbClr val="1E1B2E"/>
          </a:solidFill>
          <a:ln/>
          <a:effectLst>
            <a:outerShdw blurRad="152400" dist="50800" dir="5400000" algn="bl" rotWithShape="0">
              <a:srgbClr val="8E8E9E">
                <a:alpha val="28000"/>
              </a:srgbClr>
            </a:outerShdw>
          </a:effectLst>
        </p:spPr>
        <p:txBody>
          <a:bodyPr/>
          <a:lstStyle/>
          <a:p>
            <a:endParaRPr lang="en-US"/>
          </a:p>
        </p:txBody>
      </p:sp>
      <p:sp>
        <p:nvSpPr>
          <p:cNvPr id="20" name="Text 18"/>
          <p:cNvSpPr/>
          <p:nvPr/>
        </p:nvSpPr>
        <p:spPr>
          <a:xfrm>
            <a:off x="5486400" y="2468880"/>
            <a:ext cx="5486400" cy="365760"/>
          </a:xfrm>
          <a:prstGeom prst="rect">
            <a:avLst/>
          </a:prstGeom>
          <a:noFill/>
          <a:ln/>
        </p:spPr>
        <p:txBody>
          <a:bodyPr wrap="square" rtlCol="0" anchor="ctr"/>
          <a:lstStyle/>
          <a:p>
            <a:pPr marL="0" indent="0">
              <a:buNone/>
            </a:pPr>
            <a:r>
              <a:rPr lang="en-US" sz="1400">
                <a:solidFill>
                  <a:srgbClr val="FFFFFF"/>
                </a:solidFill>
                <a:latin typeface="Segoe UI Semibold" pitchFamily="34" charset="0"/>
                <a:ea typeface="Segoe UI Semibold" pitchFamily="34" charset="-122"/>
                <a:cs typeface="Segoe UI Semibold" pitchFamily="34" charset="-120"/>
              </a:rPr>
              <a:t>Deployment contract</a:t>
            </a:r>
            <a:endParaRPr lang="en-US" sz="1400" dirty="0"/>
          </a:p>
        </p:txBody>
      </p:sp>
      <p:sp>
        <p:nvSpPr>
          <p:cNvPr id="21" name="Text 19"/>
          <p:cNvSpPr/>
          <p:nvPr/>
        </p:nvSpPr>
        <p:spPr>
          <a:xfrm>
            <a:off x="5486400" y="2926080"/>
            <a:ext cx="5943600" cy="3108960"/>
          </a:xfrm>
          <a:prstGeom prst="rect">
            <a:avLst/>
          </a:prstGeom>
          <a:noFill/>
          <a:ln/>
        </p:spPr>
        <p:txBody>
          <a:bodyPr wrap="square" lIns="0" tIns="0" rIns="0" bIns="0" rtlCol="0" anchor="t"/>
          <a:lstStyle/>
          <a:p>
            <a:pPr marL="0" indent="0">
              <a:lnSpc>
                <a:spcPct val="112000"/>
              </a:lnSpc>
              <a:buNone/>
            </a:pPr>
            <a:r>
              <a:rPr lang="en-US" sz="1400">
                <a:solidFill>
                  <a:srgbClr val="8CE0B8"/>
                </a:solidFill>
                <a:latin typeface="Aptos" panose="020B0004020202020204" pitchFamily="34" charset="0"/>
                <a:ea typeface="Consolas" pitchFamily="34" charset="-122"/>
                <a:cs typeface="Consolas" pitchFamily="34" charset="-120"/>
              </a:rPr>
              <a:t>Control plane: provision resources and scoped role assignments through ARM.</a:t>
            </a:r>
          </a:p>
          <a:p>
            <a:pPr marL="0" indent="0">
              <a:lnSpc>
                <a:spcPct val="112000"/>
              </a:lnSpc>
              <a:buNone/>
            </a:pPr>
            <a:r>
              <a:rPr lang="en-US" sz="1400">
                <a:solidFill>
                  <a:srgbClr val="8CE0B8"/>
                </a:solidFill>
                <a:latin typeface="Aptos" panose="020B0004020202020204" pitchFamily="34" charset="0"/>
                <a:ea typeface="Consolas" pitchFamily="34" charset="-122"/>
                <a:cs typeface="Consolas" pitchFamily="34" charset="-120"/>
              </a:rPr>
              <a:t>Data plane: invoke the agent, call tools, query Search and read blobs.</a:t>
            </a:r>
          </a:p>
          <a:p>
            <a:pPr marL="0" indent="0">
              <a:lnSpc>
                <a:spcPct val="112000"/>
              </a:lnSpc>
              <a:buNone/>
            </a:pPr>
            <a:r>
              <a:rPr lang="en-US" sz="1400">
                <a:solidFill>
                  <a:srgbClr val="8CE0B8"/>
                </a:solidFill>
                <a:latin typeface="Aptos" panose="020B0004020202020204" pitchFamily="34" charset="0"/>
                <a:ea typeface="Consolas" pitchFamily="34" charset="-122"/>
                <a:cs typeface="Consolas" pitchFamily="34" charset="-120"/>
              </a:rPr>
              <a:t>UI sign-in is not per-user identity passthrough to every backend.</a:t>
            </a:r>
          </a:p>
          <a:p>
            <a:pPr marL="0" indent="0">
              <a:lnSpc>
                <a:spcPct val="112000"/>
              </a:lnSpc>
              <a:buNone/>
            </a:pPr>
            <a:r>
              <a:rPr lang="en-US" sz="1400">
                <a:solidFill>
                  <a:srgbClr val="8CE0B8"/>
                </a:solidFill>
                <a:latin typeface="Aptos" panose="020B0004020202020204" pitchFamily="34" charset="0"/>
                <a:ea typeface="Consolas" pitchFamily="34" charset="-122"/>
                <a:cs typeface="Consolas" pitchFamily="34" charset="-120"/>
              </a:rPr>
              <a:t>All five ACA identities need AcrPull AND registry identity association.</a:t>
            </a:r>
          </a:p>
          <a:p>
            <a:pPr marL="0" indent="0">
              <a:lnSpc>
                <a:spcPct val="112000"/>
              </a:lnSpc>
              <a:buNone/>
            </a:pPr>
            <a:r>
              <a:rPr lang="en-US" sz="1400">
                <a:solidFill>
                  <a:srgbClr val="8CE0B8"/>
                </a:solidFill>
                <a:latin typeface="Aptos" panose="020B0004020202020204" pitchFamily="34" charset="0"/>
                <a:ea typeface="Consolas" pitchFamily="34" charset="-122"/>
                <a:cs typeface="Consolas" pitchFamily="34" charset="-120"/>
              </a:rPr>
              <a:t>Foundry connections hold keys; prompts and UI code do not.</a:t>
            </a:r>
            <a:endParaRPr lang="en-US" sz="1400" dirty="0">
              <a:latin typeface="Aptos" panose="020B0004020202020204" pitchFamily="34" charset="0"/>
            </a:endParaRPr>
          </a:p>
        </p:txBody>
      </p:sp>
      <p:sp>
        <p:nvSpPr>
          <p:cNvPr id="22" name="Text 20"/>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3877448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938174" cy="310896"/>
          </a:xfrm>
          <a:prstGeom prst="roundRect">
            <a:avLst>
              <a:gd name="adj" fmla="val 50000"/>
            </a:avLst>
          </a:prstGeom>
          <a:solidFill>
            <a:srgbClr val="16168F"/>
          </a:solidFill>
          <a:ln/>
        </p:spPr>
        <p:txBody>
          <a:bodyPr/>
          <a:lstStyle/>
          <a:p>
            <a:endParaRPr lang="en-US"/>
          </a:p>
        </p:txBody>
      </p:sp>
      <p:sp>
        <p:nvSpPr>
          <p:cNvPr id="3" name="Text 1"/>
          <p:cNvSpPr/>
          <p:nvPr/>
        </p:nvSpPr>
        <p:spPr>
          <a:xfrm>
            <a:off x="548640" y="502920"/>
            <a:ext cx="938174" cy="310896"/>
          </a:xfrm>
          <a:prstGeom prst="rect">
            <a:avLst/>
          </a:prstGeom>
          <a:noFill/>
          <a:ln/>
        </p:spPr>
        <p:txBody>
          <a:bodyPr wrap="square" lIns="0" tIns="0" rIns="0" bIns="0" rtlCol="0" anchor="ctr"/>
          <a:lstStyle/>
          <a:p>
            <a:pPr marL="0" indent="0" algn="ctr">
              <a:buNone/>
            </a:pPr>
            <a:r>
              <a:rPr lang="en-US" sz="1050" kern="0" spc="150">
                <a:solidFill>
                  <a:srgbClr val="FFFFFF"/>
                </a:solidFill>
                <a:latin typeface="Segoe UI Semibold" pitchFamily="34" charset="0"/>
                <a:ea typeface="Segoe UI Semibold" pitchFamily="34" charset="-122"/>
                <a:cs typeface="Segoe UI Semibold" pitchFamily="34" charset="-120"/>
              </a:rPr>
              <a:t>DEMO</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Demo: one hosted agent, many systems, one endpoint</a:t>
            </a:r>
            <a:endParaRPr lang="en-US" sz="3000" dirty="0"/>
          </a:p>
        </p:txBody>
      </p:sp>
      <p:sp>
        <p:nvSpPr>
          <p:cNvPr id="5" name="Text 3">
            <a:hlinkClick r:id="rId3"/>
          </p:cNvPr>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Use the protected UI and synthetic data; watch successful tool results, not just fluent answers.</a:t>
            </a:r>
            <a:endParaRPr lang="en-US" sz="1550" dirty="0"/>
          </a:p>
        </p:txBody>
      </p:sp>
      <p:sp>
        <p:nvSpPr>
          <p:cNvPr id="6" name="Shape 4"/>
          <p:cNvSpPr/>
          <p:nvPr/>
        </p:nvSpPr>
        <p:spPr>
          <a:xfrm>
            <a:off x="548640" y="2331720"/>
            <a:ext cx="4343400" cy="777240"/>
          </a:xfrm>
          <a:prstGeom prst="roundRect">
            <a:avLst>
              <a:gd name="adj" fmla="val 9412"/>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7" name="Text 5"/>
          <p:cNvSpPr/>
          <p:nvPr/>
        </p:nvSpPr>
        <p:spPr>
          <a:xfrm>
            <a:off x="822960" y="2432304"/>
            <a:ext cx="3657600" cy="320040"/>
          </a:xfrm>
          <a:prstGeom prst="rect">
            <a:avLst/>
          </a:prstGeom>
          <a:noFill/>
          <a:ln/>
        </p:spPr>
        <p:txBody>
          <a:bodyPr wrap="square" lIns="0" tIns="0" rIns="0" bIns="0" rtlCol="0" anchor="ctr"/>
          <a:lstStyle/>
          <a:p>
            <a:pPr marL="0" indent="0">
              <a:buNone/>
            </a:pPr>
            <a:r>
              <a:rPr lang="en-US" sz="1500">
                <a:solidFill>
                  <a:srgbClr val="242424"/>
                </a:solidFill>
                <a:latin typeface="Segoe UI Semibold" pitchFamily="34" charset="0"/>
                <a:ea typeface="Segoe UI Semibold" pitchFamily="34" charset="-122"/>
                <a:cs typeface="Segoe UI Semibold" pitchFamily="34" charset="-120"/>
              </a:rPr>
              <a:t>Ask Fibey</a:t>
            </a:r>
            <a:endParaRPr lang="en-US" sz="1500" dirty="0"/>
          </a:p>
        </p:txBody>
      </p:sp>
      <p:sp>
        <p:nvSpPr>
          <p:cNvPr id="8" name="Text 6"/>
          <p:cNvSpPr/>
          <p:nvPr/>
        </p:nvSpPr>
        <p:spPr>
          <a:xfrm>
            <a:off x="822960" y="2743200"/>
            <a:ext cx="3840480" cy="274320"/>
          </a:xfrm>
          <a:prstGeom prst="rect">
            <a:avLst/>
          </a:prstGeom>
          <a:noFill/>
          <a:ln/>
        </p:spPr>
        <p:txBody>
          <a:bodyPr wrap="square" lIns="0" tIns="0" rIns="0" bIns="0" rtlCol="0" anchor="ctr"/>
          <a:lstStyle/>
          <a:p>
            <a:pPr marL="0" indent="0">
              <a:buNone/>
            </a:pPr>
            <a:r>
              <a:rPr lang="en-US" sz="1050">
                <a:solidFill>
                  <a:srgbClr val="6B6B75"/>
                </a:solidFill>
                <a:latin typeface="Segoe UI" pitchFamily="34" charset="0"/>
                <a:ea typeface="Segoe UI" pitchFamily="34" charset="-122"/>
                <a:cs typeface="Segoe UI" pitchFamily="34" charset="-120"/>
              </a:rPr>
              <a:t>Brief me on WO-007</a:t>
            </a:r>
            <a:endParaRPr lang="en-US" sz="1050" dirty="0"/>
          </a:p>
        </p:txBody>
      </p:sp>
      <p:sp>
        <p:nvSpPr>
          <p:cNvPr id="9" name="Text 7"/>
          <p:cNvSpPr/>
          <p:nvPr/>
        </p:nvSpPr>
        <p:spPr>
          <a:xfrm>
            <a:off x="822960" y="3108960"/>
            <a:ext cx="365760" cy="292608"/>
          </a:xfrm>
          <a:prstGeom prst="rect">
            <a:avLst/>
          </a:prstGeom>
          <a:noFill/>
          <a:ln/>
        </p:spPr>
        <p:txBody>
          <a:bodyPr wrap="square" lIns="0" tIns="0" rIns="0" bIns="0" rtlCol="0" anchor="ctr"/>
          <a:lstStyle/>
          <a:p>
            <a:pPr marL="0" indent="0" algn="ctr">
              <a:buNone/>
            </a:pPr>
            <a:r>
              <a:rPr lang="en-US" sz="1600" dirty="0">
                <a:solidFill>
                  <a:srgbClr val="4B44E0"/>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822960" y="3401568"/>
            <a:ext cx="3794760" cy="457200"/>
          </a:xfrm>
          <a:prstGeom prst="roundRect">
            <a:avLst>
              <a:gd name="adj" fmla="val 50000"/>
            </a:avLst>
          </a:prstGeom>
          <a:solidFill>
            <a:srgbClr val="4F5BF0"/>
          </a:solidFill>
          <a:ln/>
        </p:spPr>
        <p:txBody>
          <a:bodyPr/>
          <a:lstStyle/>
          <a:p>
            <a:endParaRPr lang="en-US"/>
          </a:p>
        </p:txBody>
      </p:sp>
      <p:sp>
        <p:nvSpPr>
          <p:cNvPr id="11" name="Text 9"/>
          <p:cNvSpPr/>
          <p:nvPr/>
        </p:nvSpPr>
        <p:spPr>
          <a:xfrm>
            <a:off x="822960" y="3401568"/>
            <a:ext cx="3794760"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Load skill; select visible tools</a:t>
            </a:r>
            <a:endParaRPr lang="en-US" sz="1300" dirty="0"/>
          </a:p>
        </p:txBody>
      </p:sp>
      <p:sp>
        <p:nvSpPr>
          <p:cNvPr id="12" name="Shape 10"/>
          <p:cNvSpPr/>
          <p:nvPr/>
        </p:nvSpPr>
        <p:spPr>
          <a:xfrm>
            <a:off x="822960" y="3968496"/>
            <a:ext cx="3794760" cy="457200"/>
          </a:xfrm>
          <a:prstGeom prst="roundRect">
            <a:avLst>
              <a:gd name="adj" fmla="val 50000"/>
            </a:avLst>
          </a:prstGeom>
          <a:solidFill>
            <a:srgbClr val="16168F"/>
          </a:solidFill>
          <a:ln/>
        </p:spPr>
        <p:txBody>
          <a:bodyPr/>
          <a:lstStyle/>
          <a:p>
            <a:endParaRPr lang="en-US"/>
          </a:p>
        </p:txBody>
      </p:sp>
      <p:sp>
        <p:nvSpPr>
          <p:cNvPr id="13" name="Text 11"/>
          <p:cNvSpPr/>
          <p:nvPr/>
        </p:nvSpPr>
        <p:spPr>
          <a:xfrm>
            <a:off x="822960" y="3968496"/>
            <a:ext cx="3794760"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MCP inventory, OpenAPI orders, Search KB</a:t>
            </a:r>
            <a:endParaRPr lang="en-US" sz="1300" dirty="0"/>
          </a:p>
        </p:txBody>
      </p:sp>
      <p:sp>
        <p:nvSpPr>
          <p:cNvPr id="14" name="Shape 12"/>
          <p:cNvSpPr/>
          <p:nvPr/>
        </p:nvSpPr>
        <p:spPr>
          <a:xfrm>
            <a:off x="822960" y="4535424"/>
            <a:ext cx="3794760" cy="457200"/>
          </a:xfrm>
          <a:prstGeom prst="roundRect">
            <a:avLst>
              <a:gd name="adj" fmla="val 50000"/>
            </a:avLst>
          </a:prstGeom>
          <a:solidFill>
            <a:srgbClr val="6E5BF2"/>
          </a:solidFill>
          <a:ln/>
        </p:spPr>
        <p:txBody>
          <a:bodyPr/>
          <a:lstStyle/>
          <a:p>
            <a:endParaRPr lang="en-US"/>
          </a:p>
        </p:txBody>
      </p:sp>
      <p:sp>
        <p:nvSpPr>
          <p:cNvPr id="15" name="Text 13"/>
          <p:cNvSpPr/>
          <p:nvPr/>
        </p:nvSpPr>
        <p:spPr>
          <a:xfrm>
            <a:off x="822960" y="4535424"/>
            <a:ext cx="3794760"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Combine facts and cite documents</a:t>
            </a:r>
            <a:endParaRPr lang="en-US" sz="1300" dirty="0"/>
          </a:p>
        </p:txBody>
      </p:sp>
      <p:sp>
        <p:nvSpPr>
          <p:cNvPr id="16" name="Text 14"/>
          <p:cNvSpPr/>
          <p:nvPr/>
        </p:nvSpPr>
        <p:spPr>
          <a:xfrm>
            <a:off x="822960" y="5102352"/>
            <a:ext cx="365760" cy="292608"/>
          </a:xfrm>
          <a:prstGeom prst="rect">
            <a:avLst/>
          </a:prstGeom>
          <a:noFill/>
          <a:ln/>
        </p:spPr>
        <p:txBody>
          <a:bodyPr wrap="square" lIns="0" tIns="0" rIns="0" bIns="0" rtlCol="0" anchor="ctr"/>
          <a:lstStyle/>
          <a:p>
            <a:pPr marL="0" indent="0" algn="ctr">
              <a:buNone/>
            </a:pPr>
            <a:r>
              <a:rPr lang="en-US" sz="1600" dirty="0">
                <a:solidFill>
                  <a:srgbClr val="4B44E0"/>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548640" y="5422392"/>
            <a:ext cx="4343400" cy="777240"/>
          </a:xfrm>
          <a:prstGeom prst="roundRect">
            <a:avLst>
              <a:gd name="adj" fmla="val 9412"/>
            </a:avLst>
          </a:prstGeom>
          <a:solidFill>
            <a:srgbClr val="ECEAFB"/>
          </a:solidFill>
          <a:ln w="12700">
            <a:solidFill>
              <a:srgbClr val="D9D3F7"/>
            </a:solidFill>
            <a:prstDash val="solid"/>
          </a:ln>
          <a:effectLst>
            <a:outerShdw blurRad="63500" dist="19050" dir="5400000" algn="bl" rotWithShape="0">
              <a:srgbClr val="B9B9C6">
                <a:alpha val="25000"/>
              </a:srgbClr>
            </a:outerShdw>
          </a:effectLst>
        </p:spPr>
        <p:txBody>
          <a:bodyPr/>
          <a:lstStyle/>
          <a:p>
            <a:endParaRPr lang="en-US"/>
          </a:p>
        </p:txBody>
      </p:sp>
      <p:sp>
        <p:nvSpPr>
          <p:cNvPr id="18" name="Text 16"/>
          <p:cNvSpPr/>
          <p:nvPr/>
        </p:nvSpPr>
        <p:spPr>
          <a:xfrm>
            <a:off x="822960" y="5522976"/>
            <a:ext cx="3657600" cy="320040"/>
          </a:xfrm>
          <a:prstGeom prst="rect">
            <a:avLst/>
          </a:prstGeom>
          <a:noFill/>
          <a:ln/>
        </p:spPr>
        <p:txBody>
          <a:bodyPr wrap="square" lIns="0" tIns="0" rIns="0" bIns="0" rtlCol="0" anchor="ctr"/>
          <a:lstStyle/>
          <a:p>
            <a:pPr marL="0" indent="0">
              <a:buNone/>
            </a:pPr>
            <a:r>
              <a:rPr lang="en-US" sz="1500">
                <a:solidFill>
                  <a:srgbClr val="242424"/>
                </a:solidFill>
                <a:latin typeface="Segoe UI Semibold" pitchFamily="34" charset="0"/>
                <a:ea typeface="Segoe UI Semibold" pitchFamily="34" charset="-122"/>
                <a:cs typeface="Segoe UI Semibold" pitchFamily="34" charset="-120"/>
              </a:rPr>
              <a:t>Observe</a:t>
            </a:r>
            <a:endParaRPr lang="en-US" sz="1500" dirty="0"/>
          </a:p>
        </p:txBody>
      </p:sp>
      <p:sp>
        <p:nvSpPr>
          <p:cNvPr id="19" name="Text 17"/>
          <p:cNvSpPr/>
          <p:nvPr/>
        </p:nvSpPr>
        <p:spPr>
          <a:xfrm>
            <a:off x="822960" y="5833872"/>
            <a:ext cx="3931920" cy="274320"/>
          </a:xfrm>
          <a:prstGeom prst="rect">
            <a:avLst/>
          </a:prstGeom>
          <a:noFill/>
          <a:ln/>
        </p:spPr>
        <p:txBody>
          <a:bodyPr wrap="square" lIns="0" tIns="0" rIns="0" bIns="0" rtlCol="0" anchor="ctr"/>
          <a:lstStyle/>
          <a:p>
            <a:pPr marL="0" indent="0">
              <a:buNone/>
            </a:pPr>
            <a:r>
              <a:rPr lang="en-US" sz="1050">
                <a:solidFill>
                  <a:srgbClr val="4B44E0"/>
                </a:solidFill>
                <a:latin typeface="Segoe UI" pitchFamily="34" charset="0"/>
                <a:ea typeface="Segoe UI" pitchFamily="34" charset="-122"/>
                <a:cs typeface="Segoe UI" pitchFamily="34" charset="-120"/>
              </a:rPr>
              <a:t>Answer | tool activity | limitations</a:t>
            </a:r>
            <a:endParaRPr lang="en-US" sz="1050" dirty="0"/>
          </a:p>
        </p:txBody>
      </p:sp>
      <p:sp>
        <p:nvSpPr>
          <p:cNvPr id="20" name="Shape 18"/>
          <p:cNvSpPr/>
          <p:nvPr/>
        </p:nvSpPr>
        <p:spPr>
          <a:xfrm>
            <a:off x="5276088" y="2212848"/>
            <a:ext cx="6409944" cy="3986784"/>
          </a:xfrm>
          <a:prstGeom prst="roundRect">
            <a:avLst>
              <a:gd name="adj" fmla="val 2064"/>
            </a:avLst>
          </a:prstGeom>
          <a:solidFill>
            <a:srgbClr val="FFFFFF"/>
          </a:solidFill>
          <a:ln w="12700">
            <a:solidFill>
              <a:srgbClr val="E6E6EC"/>
            </a:solidFill>
            <a:prstDash val="solid"/>
          </a:ln>
          <a:effectLst>
            <a:outerShdw blurRad="152400" dist="50800" dir="5400000" algn="bl" rotWithShape="0">
              <a:srgbClr val="8E8E9E">
                <a:alpha val="28000"/>
              </a:srgbClr>
            </a:outerShdw>
          </a:effectLst>
        </p:spPr>
        <p:txBody>
          <a:bodyPr/>
          <a:lstStyle/>
          <a:p>
            <a:endParaRPr lang="en-US"/>
          </a:p>
        </p:txBody>
      </p:sp>
      <p:sp>
        <p:nvSpPr>
          <p:cNvPr id="22" name="Text 19"/>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pic>
        <p:nvPicPr>
          <p:cNvPr id="23" name="Picture 22">
            <a:hlinkClick r:id="rId4"/>
            <a:extLst>
              <a:ext uri="{FF2B5EF4-FFF2-40B4-BE49-F238E27FC236}">
                <a16:creationId xmlns:a16="http://schemas.microsoft.com/office/drawing/2014/main" id="{0DBD3910-000D-18D0-FDAE-67348DBC91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6700" y="2286001"/>
            <a:ext cx="6261100" cy="3521869"/>
          </a:xfrm>
          <a:prstGeom prst="rect">
            <a:avLst/>
          </a:prstGeom>
        </p:spPr>
      </p:pic>
      <p:sp>
        <p:nvSpPr>
          <p:cNvPr id="27" name="Rectangle: Rounded Corners 26">
            <a:hlinkClick r:id="rId4"/>
            <a:extLst>
              <a:ext uri="{FF2B5EF4-FFF2-40B4-BE49-F238E27FC236}">
                <a16:creationId xmlns:a16="http://schemas.microsoft.com/office/drawing/2014/main" id="{31980655-D14B-8BF5-7E1E-24943799CF6D}"/>
              </a:ext>
            </a:extLst>
          </p:cNvPr>
          <p:cNvSpPr/>
          <p:nvPr/>
        </p:nvSpPr>
        <p:spPr>
          <a:xfrm>
            <a:off x="5346700" y="5917692"/>
            <a:ext cx="2984500" cy="381000"/>
          </a:xfrm>
          <a:prstGeom prst="roundRect">
            <a:avLst/>
          </a:prstGeom>
          <a:solidFill>
            <a:srgbClr val="546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FFFFFF"/>
                </a:solidFill>
                <a:latin typeface="Aptos" panose="020B0004020202020204" pitchFamily="34" charset="0"/>
              </a:rPr>
              <a:t>Earlier demo recording</a:t>
            </a:r>
          </a:p>
        </p:txBody>
      </p:sp>
      <p:sp>
        <p:nvSpPr>
          <p:cNvPr id="28" name="Rectangle: Rounded Corners 27">
            <a:hlinkClick r:id="rId6"/>
            <a:extLst>
              <a:ext uri="{FF2B5EF4-FFF2-40B4-BE49-F238E27FC236}">
                <a16:creationId xmlns:a16="http://schemas.microsoft.com/office/drawing/2014/main" id="{97F53B8B-0C4E-FDD0-3FA0-967A37CC43B6}"/>
              </a:ext>
            </a:extLst>
          </p:cNvPr>
          <p:cNvSpPr/>
          <p:nvPr/>
        </p:nvSpPr>
        <p:spPr>
          <a:xfrm>
            <a:off x="8458200" y="5918200"/>
            <a:ext cx="3149600" cy="381000"/>
          </a:xfrm>
          <a:prstGeom prst="roundRect">
            <a:avLst/>
          </a:prstGeom>
          <a:solidFill>
            <a:srgbClr val="546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FFFFFF"/>
                </a:solidFill>
                <a:latin typeface="Aptos" panose="020B0004020202020204" pitchFamily="34" charset="0"/>
              </a:rPr>
              <a:t>Platform toolbox overview</a:t>
            </a:r>
          </a:p>
        </p:txBody>
      </p:sp>
    </p:spTree>
    <p:extLst>
      <p:ext uri="{BB962C8B-B14F-4D97-AF65-F5344CB8AC3E}">
        <p14:creationId xmlns:p14="http://schemas.microsoft.com/office/powerpoint/2010/main" val="353536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848563" cy="310896"/>
          </a:xfrm>
          <a:prstGeom prst="roundRect">
            <a:avLst>
              <a:gd name="adj" fmla="val 50000"/>
            </a:avLst>
          </a:prstGeom>
          <a:solidFill>
            <a:srgbClr val="4B44E0"/>
          </a:solidFill>
          <a:ln/>
        </p:spPr>
        <p:txBody>
          <a:bodyPr/>
          <a:lstStyle/>
          <a:p>
            <a:endParaRPr lang="en-US"/>
          </a:p>
        </p:txBody>
      </p:sp>
      <p:sp>
        <p:nvSpPr>
          <p:cNvPr id="3" name="Text 1"/>
          <p:cNvSpPr/>
          <p:nvPr/>
        </p:nvSpPr>
        <p:spPr>
          <a:xfrm>
            <a:off x="548640" y="502920"/>
            <a:ext cx="848563" cy="310896"/>
          </a:xfrm>
          <a:prstGeom prst="rect">
            <a:avLst/>
          </a:prstGeom>
          <a:noFill/>
          <a:ln/>
        </p:spPr>
        <p:txBody>
          <a:bodyPr wrap="square" lIns="0" tIns="0" rIns="0" bIns="0" rtlCol="0" anchor="ctr"/>
          <a:lstStyle/>
          <a:p>
            <a:pPr marL="0" indent="0" algn="ctr">
              <a:buNone/>
            </a:pPr>
            <a:r>
              <a:rPr lang="en-US" sz="1050" kern="0" spc="150" dirty="0">
                <a:solidFill>
                  <a:srgbClr val="FFFFFF"/>
                </a:solidFill>
                <a:latin typeface="Segoe UI Semibold" pitchFamily="34" charset="0"/>
                <a:ea typeface="Segoe UI Semibold" pitchFamily="34" charset="-122"/>
                <a:cs typeface="Segoe UI Semibold" pitchFamily="34" charset="-120"/>
              </a:rPr>
              <a:t>GOVERN</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Implemented controls and production gaps</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A managed runtime is a foundation; application guarantees must be implemented and verified.</a:t>
            </a:r>
            <a:endParaRPr lang="en-US" sz="1550" dirty="0"/>
          </a:p>
        </p:txBody>
      </p:sp>
      <p:sp>
        <p:nvSpPr>
          <p:cNvPr id="6" name="Shape 4"/>
          <p:cNvSpPr/>
          <p:nvPr/>
        </p:nvSpPr>
        <p:spPr>
          <a:xfrm>
            <a:off x="548640" y="2331720"/>
            <a:ext cx="5486400" cy="1417320"/>
          </a:xfrm>
          <a:prstGeom prst="roundRect">
            <a:avLst>
              <a:gd name="adj" fmla="val 5806"/>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7" name="Shape 5"/>
          <p:cNvSpPr/>
          <p:nvPr/>
        </p:nvSpPr>
        <p:spPr>
          <a:xfrm>
            <a:off x="548640" y="2331720"/>
            <a:ext cx="128016" cy="1417320"/>
          </a:xfrm>
          <a:prstGeom prst="roundRect">
            <a:avLst>
              <a:gd name="adj" fmla="val 35714"/>
            </a:avLst>
          </a:prstGeom>
          <a:solidFill>
            <a:srgbClr val="4B44E0"/>
          </a:solidFill>
          <a:ln/>
        </p:spPr>
        <p:txBody>
          <a:bodyPr/>
          <a:lstStyle/>
          <a:p>
            <a:endParaRPr lang="en-US"/>
          </a:p>
        </p:txBody>
      </p:sp>
      <p:sp>
        <p:nvSpPr>
          <p:cNvPr id="8" name="Text 6"/>
          <p:cNvSpPr/>
          <p:nvPr/>
        </p:nvSpPr>
        <p:spPr>
          <a:xfrm>
            <a:off x="868680" y="2560320"/>
            <a:ext cx="4937760" cy="411480"/>
          </a:xfrm>
          <a:prstGeom prst="rect">
            <a:avLst/>
          </a:prstGeom>
          <a:noFill/>
          <a:ln/>
        </p:spPr>
        <p:txBody>
          <a:bodyPr wrap="square" lIns="0" tIns="0" rIns="0" bIns="0" rtlCol="0" anchor="ctr"/>
          <a:lstStyle/>
          <a:p>
            <a:pPr marL="0" indent="0">
              <a:buNone/>
            </a:pPr>
            <a:r>
              <a:rPr lang="en-US" sz="1550">
                <a:solidFill>
                  <a:srgbClr val="242424"/>
                </a:solidFill>
                <a:latin typeface="Segoe UI Semibold" pitchFamily="34" charset="0"/>
                <a:ea typeface="Segoe UI Semibold" pitchFamily="34" charset="-122"/>
                <a:cs typeface="Segoe UI Semibold" pitchFamily="34" charset="-120"/>
              </a:rPr>
              <a:t>Protected entrypoint</a:t>
            </a:r>
            <a:endParaRPr lang="en-US" sz="1550" dirty="0"/>
          </a:p>
        </p:txBody>
      </p:sp>
      <p:sp>
        <p:nvSpPr>
          <p:cNvPr id="9" name="Text 7"/>
          <p:cNvSpPr/>
          <p:nvPr/>
        </p:nvSpPr>
        <p:spPr>
          <a:xfrm>
            <a:off x="868680" y="2990088"/>
            <a:ext cx="4937760" cy="640080"/>
          </a:xfrm>
          <a:prstGeom prst="rect">
            <a:avLst/>
          </a:prstGeom>
          <a:noFill/>
          <a:ln/>
        </p:spPr>
        <p:txBody>
          <a:bodyPr wrap="square" lIns="0" tIns="0" rIns="0" bIns="0" rtlCol="0" anchor="ctr"/>
          <a:lstStyle/>
          <a:p>
            <a:pPr marL="0" indent="0">
              <a:lnSpc>
                <a:spcPct val="105000"/>
              </a:lnSpc>
              <a:buNone/>
            </a:pPr>
            <a:r>
              <a:rPr lang="en-US" sz="1250">
                <a:solidFill>
                  <a:srgbClr val="33333A"/>
                </a:solidFill>
                <a:latin typeface="Segoe UI" pitchFamily="34" charset="0"/>
                <a:ea typeface="Segoe UI" pitchFamily="34" charset="-122"/>
                <a:cs typeface="Segoe UI" pitchFamily="34" charset="-120"/>
              </a:rPr>
              <a:t>Entra login and user allowlist on UI; internal gateway and dashboard ingress.</a:t>
            </a:r>
            <a:endParaRPr lang="en-US" sz="1250" dirty="0"/>
          </a:p>
        </p:txBody>
      </p:sp>
      <p:sp>
        <p:nvSpPr>
          <p:cNvPr id="10" name="Shape 8"/>
          <p:cNvSpPr/>
          <p:nvPr/>
        </p:nvSpPr>
        <p:spPr>
          <a:xfrm>
            <a:off x="6153912" y="2331720"/>
            <a:ext cx="5486400" cy="1417320"/>
          </a:xfrm>
          <a:prstGeom prst="roundRect">
            <a:avLst>
              <a:gd name="adj" fmla="val 5806"/>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1" name="Shape 9"/>
          <p:cNvSpPr/>
          <p:nvPr/>
        </p:nvSpPr>
        <p:spPr>
          <a:xfrm>
            <a:off x="6153912" y="2331720"/>
            <a:ext cx="128016" cy="1417320"/>
          </a:xfrm>
          <a:prstGeom prst="roundRect">
            <a:avLst>
              <a:gd name="adj" fmla="val 35714"/>
            </a:avLst>
          </a:prstGeom>
          <a:solidFill>
            <a:srgbClr val="4B44E0"/>
          </a:solidFill>
          <a:ln/>
        </p:spPr>
        <p:txBody>
          <a:bodyPr/>
          <a:lstStyle/>
          <a:p>
            <a:endParaRPr lang="en-US"/>
          </a:p>
        </p:txBody>
      </p:sp>
      <p:sp>
        <p:nvSpPr>
          <p:cNvPr id="12" name="Text 10"/>
          <p:cNvSpPr/>
          <p:nvPr/>
        </p:nvSpPr>
        <p:spPr>
          <a:xfrm>
            <a:off x="6473952" y="2560320"/>
            <a:ext cx="4937760" cy="411480"/>
          </a:xfrm>
          <a:prstGeom prst="rect">
            <a:avLst/>
          </a:prstGeom>
          <a:noFill/>
          <a:ln/>
        </p:spPr>
        <p:txBody>
          <a:bodyPr wrap="square" lIns="0" tIns="0" rIns="0" bIns="0" rtlCol="0" anchor="ctr"/>
          <a:lstStyle/>
          <a:p>
            <a:pPr marL="0" indent="0">
              <a:buNone/>
            </a:pPr>
            <a:r>
              <a:rPr lang="en-US" sz="1550">
                <a:solidFill>
                  <a:srgbClr val="242424"/>
                </a:solidFill>
                <a:latin typeface="Segoe UI Semibold" pitchFamily="34" charset="0"/>
                <a:ea typeface="Segoe UI Semibold" pitchFamily="34" charset="-122"/>
                <a:cs typeface="Segoe UI Semibold" pitchFamily="34" charset="-120"/>
              </a:rPr>
              <a:t>Tool access</a:t>
            </a:r>
            <a:endParaRPr lang="en-US" sz="1550" dirty="0"/>
          </a:p>
        </p:txBody>
      </p:sp>
      <p:sp>
        <p:nvSpPr>
          <p:cNvPr id="13" name="Text 11"/>
          <p:cNvSpPr/>
          <p:nvPr/>
        </p:nvSpPr>
        <p:spPr>
          <a:xfrm>
            <a:off x="6473952" y="2990088"/>
            <a:ext cx="4937760" cy="640080"/>
          </a:xfrm>
          <a:prstGeom prst="rect">
            <a:avLst/>
          </a:prstGeom>
          <a:noFill/>
          <a:ln/>
        </p:spPr>
        <p:txBody>
          <a:bodyPr wrap="square" lIns="0" tIns="0" rIns="0" bIns="0" rtlCol="0" anchor="ctr"/>
          <a:lstStyle/>
          <a:p>
            <a:pPr marL="0" indent="0">
              <a:lnSpc>
                <a:spcPct val="105000"/>
              </a:lnSpc>
              <a:buNone/>
            </a:pPr>
            <a:r>
              <a:rPr lang="en-US" sz="1250">
                <a:solidFill>
                  <a:srgbClr val="33333A"/>
                </a:solidFill>
                <a:latin typeface="Segoe UI" pitchFamily="34" charset="0"/>
                <a:ea typeface="Segoe UI" pitchFamily="34" charset="-122"/>
                <a:cs typeface="Segoe UI" pitchFamily="34" charset="-120"/>
              </a:rPr>
              <a:t>Backend API keys and Search identity roles; skills are not access controls.</a:t>
            </a:r>
            <a:endParaRPr lang="en-US" sz="1250" dirty="0"/>
          </a:p>
        </p:txBody>
      </p:sp>
      <p:sp>
        <p:nvSpPr>
          <p:cNvPr id="14" name="Shape 12"/>
          <p:cNvSpPr/>
          <p:nvPr/>
        </p:nvSpPr>
        <p:spPr>
          <a:xfrm>
            <a:off x="548640" y="3931920"/>
            <a:ext cx="5486400" cy="1417320"/>
          </a:xfrm>
          <a:prstGeom prst="roundRect">
            <a:avLst>
              <a:gd name="adj" fmla="val 5806"/>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5" name="Shape 13"/>
          <p:cNvSpPr/>
          <p:nvPr/>
        </p:nvSpPr>
        <p:spPr>
          <a:xfrm>
            <a:off x="548640" y="3931920"/>
            <a:ext cx="128016" cy="1417320"/>
          </a:xfrm>
          <a:prstGeom prst="roundRect">
            <a:avLst>
              <a:gd name="adj" fmla="val 35714"/>
            </a:avLst>
          </a:prstGeom>
          <a:solidFill>
            <a:srgbClr val="4B44E0"/>
          </a:solidFill>
          <a:ln/>
        </p:spPr>
        <p:txBody>
          <a:bodyPr/>
          <a:lstStyle/>
          <a:p>
            <a:endParaRPr lang="en-US"/>
          </a:p>
        </p:txBody>
      </p:sp>
      <p:sp>
        <p:nvSpPr>
          <p:cNvPr id="16" name="Text 14"/>
          <p:cNvSpPr/>
          <p:nvPr/>
        </p:nvSpPr>
        <p:spPr>
          <a:xfrm>
            <a:off x="868680" y="4160520"/>
            <a:ext cx="4937760" cy="411480"/>
          </a:xfrm>
          <a:prstGeom prst="rect">
            <a:avLst/>
          </a:prstGeom>
          <a:noFill/>
          <a:ln/>
        </p:spPr>
        <p:txBody>
          <a:bodyPr wrap="square" lIns="0" tIns="0" rIns="0" bIns="0" rtlCol="0" anchor="ctr"/>
          <a:lstStyle/>
          <a:p>
            <a:pPr marL="0" indent="0">
              <a:buNone/>
            </a:pPr>
            <a:r>
              <a:rPr lang="en-US" sz="1550">
                <a:solidFill>
                  <a:srgbClr val="242424"/>
                </a:solidFill>
                <a:latin typeface="Segoe UI Semibold" pitchFamily="34" charset="0"/>
                <a:ea typeface="Segoe UI Semibold" pitchFamily="34" charset="-122"/>
                <a:cs typeface="Segoe UI Semibold" pitchFamily="34" charset="-120"/>
              </a:rPr>
              <a:t>State and ownership gaps</a:t>
            </a:r>
            <a:endParaRPr lang="en-US" sz="1550" dirty="0"/>
          </a:p>
        </p:txBody>
      </p:sp>
      <p:sp>
        <p:nvSpPr>
          <p:cNvPr id="17" name="Text 15"/>
          <p:cNvSpPr/>
          <p:nvPr/>
        </p:nvSpPr>
        <p:spPr>
          <a:xfrm>
            <a:off x="868680" y="4590288"/>
            <a:ext cx="4937760" cy="640080"/>
          </a:xfrm>
          <a:prstGeom prst="rect">
            <a:avLst/>
          </a:prstGeom>
          <a:noFill/>
          <a:ln/>
        </p:spPr>
        <p:txBody>
          <a:bodyPr wrap="square" lIns="0" tIns="0" rIns="0" bIns="0" rtlCol="0" anchor="ctr"/>
          <a:lstStyle/>
          <a:p>
            <a:pPr marL="0" indent="0">
              <a:lnSpc>
                <a:spcPct val="105000"/>
              </a:lnSpc>
              <a:buNone/>
            </a:pPr>
            <a:r>
              <a:rPr lang="en-US" sz="1250">
                <a:solidFill>
                  <a:srgbClr val="33333A"/>
                </a:solidFill>
                <a:latin typeface="Segoe UI" pitchFamily="34" charset="0"/>
                <a:ea typeface="Segoe UI" pitchFamily="34" charset="-122"/>
                <a:cs typeface="Segoe UI" pitchFamily="34" charset="-120"/>
              </a:rPr>
              <a:t>In-memory session/order state; no server-enforced per-user session ownership.</a:t>
            </a:r>
            <a:endParaRPr lang="en-US" sz="1250" dirty="0"/>
          </a:p>
        </p:txBody>
      </p:sp>
      <p:sp>
        <p:nvSpPr>
          <p:cNvPr id="18" name="Shape 16"/>
          <p:cNvSpPr/>
          <p:nvPr/>
        </p:nvSpPr>
        <p:spPr>
          <a:xfrm>
            <a:off x="6153912" y="3931920"/>
            <a:ext cx="5486400" cy="1417320"/>
          </a:xfrm>
          <a:prstGeom prst="roundRect">
            <a:avLst>
              <a:gd name="adj" fmla="val 5806"/>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9" name="Shape 17"/>
          <p:cNvSpPr/>
          <p:nvPr/>
        </p:nvSpPr>
        <p:spPr>
          <a:xfrm>
            <a:off x="6153912" y="3931920"/>
            <a:ext cx="128016" cy="1417320"/>
          </a:xfrm>
          <a:prstGeom prst="roundRect">
            <a:avLst>
              <a:gd name="adj" fmla="val 35714"/>
            </a:avLst>
          </a:prstGeom>
          <a:solidFill>
            <a:srgbClr val="4B44E0"/>
          </a:solidFill>
          <a:ln/>
        </p:spPr>
        <p:txBody>
          <a:bodyPr/>
          <a:lstStyle/>
          <a:p>
            <a:endParaRPr lang="en-US"/>
          </a:p>
        </p:txBody>
      </p:sp>
      <p:sp>
        <p:nvSpPr>
          <p:cNvPr id="20" name="Text 18"/>
          <p:cNvSpPr/>
          <p:nvPr/>
        </p:nvSpPr>
        <p:spPr>
          <a:xfrm>
            <a:off x="6473952" y="4160520"/>
            <a:ext cx="4937760" cy="411480"/>
          </a:xfrm>
          <a:prstGeom prst="rect">
            <a:avLst/>
          </a:prstGeom>
          <a:noFill/>
          <a:ln/>
        </p:spPr>
        <p:txBody>
          <a:bodyPr wrap="square" lIns="0" tIns="0" rIns="0" bIns="0" rtlCol="0" anchor="ctr"/>
          <a:lstStyle/>
          <a:p>
            <a:pPr marL="0" indent="0">
              <a:buNone/>
            </a:pPr>
            <a:r>
              <a:rPr lang="en-US" sz="1550">
                <a:solidFill>
                  <a:srgbClr val="242424"/>
                </a:solidFill>
                <a:latin typeface="Segoe UI Semibold" pitchFamily="34" charset="0"/>
                <a:ea typeface="Segoe UI Semibold" pitchFamily="34" charset="-122"/>
                <a:cs typeface="Segoe UI Semibold" pitchFamily="34" charset="-120"/>
              </a:rPr>
              <a:t>Approval and audit gaps</a:t>
            </a:r>
            <a:endParaRPr lang="en-US" sz="1550" dirty="0"/>
          </a:p>
        </p:txBody>
      </p:sp>
      <p:sp>
        <p:nvSpPr>
          <p:cNvPr id="21" name="Text 19"/>
          <p:cNvSpPr/>
          <p:nvPr/>
        </p:nvSpPr>
        <p:spPr>
          <a:xfrm>
            <a:off x="6473952" y="4590288"/>
            <a:ext cx="4937760" cy="640080"/>
          </a:xfrm>
          <a:prstGeom prst="rect">
            <a:avLst/>
          </a:prstGeom>
          <a:noFill/>
          <a:ln/>
        </p:spPr>
        <p:txBody>
          <a:bodyPr wrap="square" lIns="0" tIns="0" rIns="0" bIns="0" rtlCol="0" anchor="ctr"/>
          <a:lstStyle/>
          <a:p>
            <a:pPr marL="0" indent="0">
              <a:lnSpc>
                <a:spcPct val="105000"/>
              </a:lnSpc>
              <a:buNone/>
            </a:pPr>
            <a:r>
              <a:rPr lang="en-US" sz="1250">
                <a:solidFill>
                  <a:srgbClr val="33333A"/>
                </a:solidFill>
                <a:latin typeface="Segoe UI" pitchFamily="34" charset="0"/>
                <a:ea typeface="Segoe UI" pitchFamily="34" charset="-122"/>
                <a:cs typeface="Segoe UI" pitchFamily="34" charset="-120"/>
              </a:rPr>
              <a:t>Synthetic writes run unattended. Add exact-action approval and durable audit.</a:t>
            </a:r>
            <a:endParaRPr lang="en-US" sz="1250" dirty="0"/>
          </a:p>
        </p:txBody>
      </p:sp>
      <p:sp>
        <p:nvSpPr>
          <p:cNvPr id="22" name="Text 20"/>
          <p:cNvSpPr/>
          <p:nvPr/>
        </p:nvSpPr>
        <p:spPr>
          <a:xfrm>
            <a:off x="548640" y="5623560"/>
            <a:ext cx="10972800" cy="365760"/>
          </a:xfrm>
          <a:prstGeom prst="rect">
            <a:avLst/>
          </a:prstGeom>
          <a:noFill/>
          <a:ln/>
        </p:spPr>
        <p:txBody>
          <a:bodyPr wrap="square" rtlCol="0" anchor="ctr"/>
          <a:lstStyle/>
          <a:p>
            <a:pPr marL="0" indent="0">
              <a:buNone/>
            </a:pPr>
            <a:r>
              <a:rPr lang="en-US" sz="1300">
                <a:solidFill>
                  <a:srgbClr val="4B44E0"/>
                </a:solidFill>
                <a:latin typeface="Segoe UI Semibold" pitchFamily="34" charset="0"/>
                <a:ea typeface="Segoe UI Semibold" pitchFamily="34" charset="-122"/>
                <a:cs typeface="Segoe UI Semibold" pitchFamily="34" charset="-120"/>
              </a:rPr>
              <a:t>Do not equate a prompt, a UUID or an activity sidebar with an enforced security control.</a:t>
            </a:r>
            <a:endParaRPr lang="en-US" sz="1300" dirty="0"/>
          </a:p>
        </p:txBody>
      </p:sp>
      <p:sp>
        <p:nvSpPr>
          <p:cNvPr id="23" name="Text 21"/>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2905734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848563" cy="310896"/>
          </a:xfrm>
          <a:prstGeom prst="roundRect">
            <a:avLst>
              <a:gd name="adj" fmla="val 50000"/>
            </a:avLst>
          </a:prstGeom>
          <a:solidFill>
            <a:srgbClr val="4B44E0"/>
          </a:solidFill>
          <a:ln/>
        </p:spPr>
        <p:txBody>
          <a:bodyPr/>
          <a:lstStyle/>
          <a:p>
            <a:endParaRPr lang="en-US"/>
          </a:p>
        </p:txBody>
      </p:sp>
      <p:sp>
        <p:nvSpPr>
          <p:cNvPr id="3" name="Text 1"/>
          <p:cNvSpPr/>
          <p:nvPr/>
        </p:nvSpPr>
        <p:spPr>
          <a:xfrm>
            <a:off x="548640" y="502920"/>
            <a:ext cx="848563" cy="310896"/>
          </a:xfrm>
          <a:prstGeom prst="rect">
            <a:avLst/>
          </a:prstGeom>
          <a:noFill/>
          <a:ln/>
        </p:spPr>
        <p:txBody>
          <a:bodyPr wrap="square" lIns="0" tIns="0" rIns="0" bIns="0" rtlCol="0" anchor="ctr"/>
          <a:lstStyle/>
          <a:p>
            <a:pPr marL="0" indent="0" algn="ctr">
              <a:buNone/>
            </a:pPr>
            <a:r>
              <a:rPr lang="en-US" sz="1050" kern="0" spc="150">
                <a:solidFill>
                  <a:srgbClr val="FFFFFF"/>
                </a:solidFill>
                <a:latin typeface="Segoe UI Semibold" pitchFamily="34" charset="0"/>
                <a:ea typeface="Segoe UI Semibold" pitchFamily="34" charset="-122"/>
                <a:cs typeface="Segoe UI Semibold" pitchFamily="34" charset="-120"/>
              </a:rPr>
              <a:t>OPERATE</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Debugging agents you cannot step through</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Follow the failed boundary: UI, gateway, hosted runtime, toolbox, then downstream service.</a:t>
            </a:r>
            <a:endParaRPr lang="en-US" sz="1550" dirty="0"/>
          </a:p>
        </p:txBody>
      </p:sp>
      <p:sp>
        <p:nvSpPr>
          <p:cNvPr id="6" name="Shape 4"/>
          <p:cNvSpPr/>
          <p:nvPr/>
        </p:nvSpPr>
        <p:spPr>
          <a:xfrm>
            <a:off x="548640" y="2468880"/>
            <a:ext cx="3602736" cy="2788920"/>
          </a:xfrm>
          <a:prstGeom prst="roundRect">
            <a:avLst>
              <a:gd name="adj" fmla="val 3279"/>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7" name="Shape 5"/>
          <p:cNvSpPr/>
          <p:nvPr/>
        </p:nvSpPr>
        <p:spPr>
          <a:xfrm>
            <a:off x="548640" y="2468880"/>
            <a:ext cx="3602736" cy="146304"/>
          </a:xfrm>
          <a:prstGeom prst="roundRect">
            <a:avLst>
              <a:gd name="adj" fmla="val 37500"/>
            </a:avLst>
          </a:prstGeom>
          <a:solidFill>
            <a:srgbClr val="4B44E0"/>
          </a:solidFill>
          <a:ln/>
        </p:spPr>
        <p:txBody>
          <a:bodyPr/>
          <a:lstStyle/>
          <a:p>
            <a:endParaRPr lang="en-US"/>
          </a:p>
        </p:txBody>
      </p:sp>
      <p:sp>
        <p:nvSpPr>
          <p:cNvPr id="8" name="Text 6"/>
          <p:cNvSpPr/>
          <p:nvPr/>
        </p:nvSpPr>
        <p:spPr>
          <a:xfrm>
            <a:off x="868680" y="2926080"/>
            <a:ext cx="2962656" cy="457200"/>
          </a:xfrm>
          <a:prstGeom prst="rect">
            <a:avLst/>
          </a:prstGeom>
          <a:noFill/>
          <a:ln/>
        </p:spPr>
        <p:txBody>
          <a:bodyPr wrap="square" lIns="0" tIns="0" rIns="0" bIns="0" rtlCol="0" anchor="ctr"/>
          <a:lstStyle/>
          <a:p>
            <a:pPr marL="0" indent="0">
              <a:buNone/>
            </a:pPr>
            <a:r>
              <a:rPr lang="en-US" sz="1650">
                <a:solidFill>
                  <a:srgbClr val="242424"/>
                </a:solidFill>
                <a:latin typeface="Segoe UI Semibold" pitchFamily="34" charset="0"/>
                <a:ea typeface="Segoe UI Semibold" pitchFamily="34" charset="-122"/>
                <a:cs typeface="Segoe UI Semibold" pitchFamily="34" charset="-120"/>
              </a:rPr>
              <a:t>1  Capture</a:t>
            </a:r>
            <a:endParaRPr lang="en-US" sz="1650" dirty="0"/>
          </a:p>
        </p:txBody>
      </p:sp>
      <p:sp>
        <p:nvSpPr>
          <p:cNvPr id="9" name="Text 7"/>
          <p:cNvSpPr/>
          <p:nvPr/>
        </p:nvSpPr>
        <p:spPr>
          <a:xfrm>
            <a:off x="868680" y="3520440"/>
            <a:ext cx="2962656" cy="1371600"/>
          </a:xfrm>
          <a:prstGeom prst="rect">
            <a:avLst/>
          </a:prstGeom>
          <a:noFill/>
          <a:ln/>
        </p:spPr>
        <p:txBody>
          <a:bodyPr wrap="square" lIns="0" tIns="0" rIns="0" bIns="0" rtlCol="0" anchor="t"/>
          <a:lstStyle/>
          <a:p>
            <a:pPr marL="0" indent="0">
              <a:lnSpc>
                <a:spcPct val="110000"/>
              </a:lnSpc>
              <a:buNone/>
            </a:pPr>
            <a:r>
              <a:rPr lang="en-US" sz="1300">
                <a:solidFill>
                  <a:srgbClr val="33333A"/>
                </a:solidFill>
                <a:latin typeface="Segoe UI" pitchFamily="34" charset="0"/>
                <a:ea typeface="Segoe UI" pitchFamily="34" charset="-122"/>
                <a:cs typeface="Segoe UI" pitchFamily="34" charset="-120"/>
              </a:rPr>
              <a:t>Use tool activity, timestamps and request/session IDs. Keep sensitive content off.</a:t>
            </a:r>
            <a:endParaRPr lang="en-US" sz="1300" dirty="0"/>
          </a:p>
        </p:txBody>
      </p:sp>
      <p:sp>
        <p:nvSpPr>
          <p:cNvPr id="10" name="Shape 8"/>
          <p:cNvSpPr/>
          <p:nvPr/>
        </p:nvSpPr>
        <p:spPr>
          <a:xfrm>
            <a:off x="4325112" y="2468880"/>
            <a:ext cx="3602736" cy="2788920"/>
          </a:xfrm>
          <a:prstGeom prst="roundRect">
            <a:avLst>
              <a:gd name="adj" fmla="val 3279"/>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1" name="Shape 9"/>
          <p:cNvSpPr/>
          <p:nvPr/>
        </p:nvSpPr>
        <p:spPr>
          <a:xfrm>
            <a:off x="4325112" y="2468880"/>
            <a:ext cx="3602736" cy="146304"/>
          </a:xfrm>
          <a:prstGeom prst="roundRect">
            <a:avLst>
              <a:gd name="adj" fmla="val 37500"/>
            </a:avLst>
          </a:prstGeom>
          <a:solidFill>
            <a:srgbClr val="4B44E0"/>
          </a:solidFill>
          <a:ln/>
        </p:spPr>
        <p:txBody>
          <a:bodyPr/>
          <a:lstStyle/>
          <a:p>
            <a:endParaRPr lang="en-US"/>
          </a:p>
        </p:txBody>
      </p:sp>
      <p:sp>
        <p:nvSpPr>
          <p:cNvPr id="12" name="Text 10"/>
          <p:cNvSpPr/>
          <p:nvPr/>
        </p:nvSpPr>
        <p:spPr>
          <a:xfrm>
            <a:off x="4645152" y="2926080"/>
            <a:ext cx="2962656" cy="457200"/>
          </a:xfrm>
          <a:prstGeom prst="rect">
            <a:avLst/>
          </a:prstGeom>
          <a:noFill/>
          <a:ln/>
        </p:spPr>
        <p:txBody>
          <a:bodyPr wrap="square" lIns="0" tIns="0" rIns="0" bIns="0" rtlCol="0" anchor="ctr"/>
          <a:lstStyle/>
          <a:p>
            <a:pPr marL="0" indent="0">
              <a:buNone/>
            </a:pPr>
            <a:r>
              <a:rPr lang="en-US" sz="1650">
                <a:solidFill>
                  <a:srgbClr val="242424"/>
                </a:solidFill>
                <a:latin typeface="Segoe UI Semibold" pitchFamily="34" charset="0"/>
                <a:ea typeface="Segoe UI Semibold" pitchFamily="34" charset="-122"/>
                <a:cs typeface="Segoe UI Semibold" pitchFamily="34" charset="-120"/>
              </a:rPr>
              <a:t>2  Diagnose</a:t>
            </a:r>
            <a:endParaRPr lang="en-US" sz="1650" dirty="0"/>
          </a:p>
        </p:txBody>
      </p:sp>
      <p:sp>
        <p:nvSpPr>
          <p:cNvPr id="13" name="Text 11"/>
          <p:cNvSpPr/>
          <p:nvPr/>
        </p:nvSpPr>
        <p:spPr>
          <a:xfrm>
            <a:off x="4645152" y="3520440"/>
            <a:ext cx="2962656" cy="1371600"/>
          </a:xfrm>
          <a:prstGeom prst="rect">
            <a:avLst/>
          </a:prstGeom>
          <a:noFill/>
          <a:ln/>
        </p:spPr>
        <p:txBody>
          <a:bodyPr wrap="square" lIns="0" tIns="0" rIns="0" bIns="0" rtlCol="0" anchor="t"/>
          <a:lstStyle/>
          <a:p>
            <a:pPr marL="0" indent="0">
              <a:lnSpc>
                <a:spcPct val="110000"/>
              </a:lnSpc>
              <a:buNone/>
            </a:pPr>
            <a:r>
              <a:rPr lang="en-US" sz="1300">
                <a:solidFill>
                  <a:srgbClr val="33333A"/>
                </a:solidFill>
                <a:latin typeface="Segoe UI" pitchFamily="34" charset="0"/>
                <a:ea typeface="Segoe UI" pitchFamily="34" charset="-122"/>
                <a:cs typeface="Segoe UI" pitchFamily="34" charset="-120"/>
              </a:rPr>
              <a:t>Separate selection, authorization, schema, quota and downstream failures.</a:t>
            </a:r>
            <a:endParaRPr lang="en-US" sz="1300" dirty="0"/>
          </a:p>
        </p:txBody>
      </p:sp>
      <p:sp>
        <p:nvSpPr>
          <p:cNvPr id="14" name="Shape 12"/>
          <p:cNvSpPr/>
          <p:nvPr/>
        </p:nvSpPr>
        <p:spPr>
          <a:xfrm>
            <a:off x="8101584" y="2468880"/>
            <a:ext cx="3602736" cy="2788920"/>
          </a:xfrm>
          <a:prstGeom prst="roundRect">
            <a:avLst>
              <a:gd name="adj" fmla="val 3279"/>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5" name="Shape 13"/>
          <p:cNvSpPr/>
          <p:nvPr/>
        </p:nvSpPr>
        <p:spPr>
          <a:xfrm>
            <a:off x="8101584" y="2468880"/>
            <a:ext cx="3602736" cy="146304"/>
          </a:xfrm>
          <a:prstGeom prst="roundRect">
            <a:avLst>
              <a:gd name="adj" fmla="val 37500"/>
            </a:avLst>
          </a:prstGeom>
          <a:solidFill>
            <a:srgbClr val="4B44E0"/>
          </a:solidFill>
          <a:ln/>
        </p:spPr>
        <p:txBody>
          <a:bodyPr/>
          <a:lstStyle/>
          <a:p>
            <a:endParaRPr lang="en-US"/>
          </a:p>
        </p:txBody>
      </p:sp>
      <p:sp>
        <p:nvSpPr>
          <p:cNvPr id="16" name="Text 14"/>
          <p:cNvSpPr/>
          <p:nvPr/>
        </p:nvSpPr>
        <p:spPr>
          <a:xfrm>
            <a:off x="8421624" y="2926080"/>
            <a:ext cx="2962656" cy="457200"/>
          </a:xfrm>
          <a:prstGeom prst="rect">
            <a:avLst/>
          </a:prstGeom>
          <a:noFill/>
          <a:ln/>
        </p:spPr>
        <p:txBody>
          <a:bodyPr wrap="square" lIns="0" tIns="0" rIns="0" bIns="0" rtlCol="0" anchor="ctr"/>
          <a:lstStyle/>
          <a:p>
            <a:pPr marL="0" indent="0">
              <a:buNone/>
            </a:pPr>
            <a:r>
              <a:rPr lang="en-US" sz="1650">
                <a:solidFill>
                  <a:srgbClr val="242424"/>
                </a:solidFill>
                <a:latin typeface="Segoe UI Semibold" pitchFamily="34" charset="0"/>
                <a:ea typeface="Segoe UI Semibold" pitchFamily="34" charset="-122"/>
                <a:cs typeface="Segoe UI Semibold" pitchFamily="34" charset="-120"/>
              </a:rPr>
              <a:t>3  Verify + improve</a:t>
            </a:r>
            <a:endParaRPr lang="en-US" sz="1650" dirty="0"/>
          </a:p>
        </p:txBody>
      </p:sp>
      <p:sp>
        <p:nvSpPr>
          <p:cNvPr id="17" name="Text 15"/>
          <p:cNvSpPr/>
          <p:nvPr/>
        </p:nvSpPr>
        <p:spPr>
          <a:xfrm>
            <a:off x="8421624" y="3520440"/>
            <a:ext cx="2962656" cy="1371600"/>
          </a:xfrm>
          <a:prstGeom prst="rect">
            <a:avLst/>
          </a:prstGeom>
          <a:noFill/>
          <a:ln/>
        </p:spPr>
        <p:txBody>
          <a:bodyPr wrap="square" lIns="0" tIns="0" rIns="0" bIns="0" rtlCol="0" anchor="t"/>
          <a:lstStyle/>
          <a:p>
            <a:pPr marL="0" indent="0">
              <a:lnSpc>
                <a:spcPct val="110000"/>
              </a:lnSpc>
              <a:buNone/>
            </a:pPr>
            <a:r>
              <a:rPr lang="en-US" sz="1300">
                <a:solidFill>
                  <a:srgbClr val="33333A"/>
                </a:solidFill>
                <a:latin typeface="Segoe UI" pitchFamily="34" charset="0"/>
                <a:ea typeface="Segoe UI" pitchFamily="34" charset="-122"/>
                <a:cs typeface="Segoe UI" pitchFamily="34" charset="-120"/>
              </a:rPr>
              <a:t>Check ACA logs and the linked hosted trace sink. Turn regressions into tests.</a:t>
            </a:r>
            <a:endParaRPr lang="en-US" sz="1300" dirty="0"/>
          </a:p>
        </p:txBody>
      </p:sp>
      <p:sp>
        <p:nvSpPr>
          <p:cNvPr id="18" name="Text 16"/>
          <p:cNvSpPr/>
          <p:nvPr/>
        </p:nvSpPr>
        <p:spPr>
          <a:xfrm>
            <a:off x="548640" y="5577840"/>
            <a:ext cx="10972800" cy="365760"/>
          </a:xfrm>
          <a:prstGeom prst="rect">
            <a:avLst/>
          </a:prstGeom>
          <a:noFill/>
          <a:ln/>
        </p:spPr>
        <p:txBody>
          <a:bodyPr wrap="square" rtlCol="0" anchor="ctr"/>
          <a:lstStyle/>
          <a:p>
            <a:pPr marL="0" indent="0">
              <a:buNone/>
            </a:pPr>
            <a:r>
              <a:rPr lang="en-US" sz="1300">
                <a:solidFill>
                  <a:srgbClr val="4B44E0"/>
                </a:solidFill>
                <a:latin typeface="Segoe UI Semibold" pitchFamily="34" charset="0"/>
                <a:ea typeface="Segoe UI Semibold" pitchFamily="34" charset="-122"/>
                <a:cs typeface="Segoe UI Semibold" pitchFamily="34" charset="-120"/>
              </a:rPr>
              <a:t>OpenTelemetry enabled does not prove trace ingestion. Verify the destination with a synthetic request.</a:t>
            </a:r>
            <a:endParaRPr lang="en-US" sz="1300" dirty="0"/>
          </a:p>
        </p:txBody>
      </p:sp>
      <p:sp>
        <p:nvSpPr>
          <p:cNvPr id="19" name="Text 17"/>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cxnSp>
        <p:nvCxnSpPr>
          <p:cNvPr id="20" name="Straight Connector 19">
            <a:extLst>
              <a:ext uri="{FF2B5EF4-FFF2-40B4-BE49-F238E27FC236}">
                <a16:creationId xmlns:a16="http://schemas.microsoft.com/office/drawing/2014/main" id="{4A314C18-AB18-EECC-5837-85417D222CF4}"/>
              </a:ext>
            </a:extLst>
          </p:cNvPr>
          <p:cNvCxnSpPr/>
          <p:nvPr/>
        </p:nvCxnSpPr>
        <p:spPr>
          <a:xfrm>
            <a:off x="3937000" y="3937000"/>
            <a:ext cx="508000" cy="0"/>
          </a:xfrm>
          <a:prstGeom prst="line">
            <a:avLst/>
          </a:prstGeom>
          <a:ln>
            <a:solidFill>
              <a:srgbClr val="DB4B5B"/>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B9D4196-7D5D-EF84-5A56-2E48165B5A58}"/>
              </a:ext>
            </a:extLst>
          </p:cNvPr>
          <p:cNvCxnSpPr/>
          <p:nvPr/>
        </p:nvCxnSpPr>
        <p:spPr>
          <a:xfrm>
            <a:off x="7721600" y="3937000"/>
            <a:ext cx="508000" cy="0"/>
          </a:xfrm>
          <a:prstGeom prst="line">
            <a:avLst/>
          </a:prstGeom>
          <a:ln>
            <a:solidFill>
              <a:srgbClr val="DB4B5B"/>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4940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2029591" cy="310896"/>
          </a:xfrm>
          <a:prstGeom prst="roundRect">
            <a:avLst>
              <a:gd name="adj" fmla="val 50000"/>
            </a:avLst>
          </a:prstGeom>
          <a:solidFill>
            <a:srgbClr val="4B44E0"/>
          </a:solidFill>
          <a:ln/>
        </p:spPr>
        <p:txBody>
          <a:bodyPr/>
          <a:lstStyle/>
          <a:p>
            <a:endParaRPr lang="en-US"/>
          </a:p>
        </p:txBody>
      </p:sp>
      <p:sp>
        <p:nvSpPr>
          <p:cNvPr id="3" name="Text 1"/>
          <p:cNvSpPr/>
          <p:nvPr/>
        </p:nvSpPr>
        <p:spPr>
          <a:xfrm>
            <a:off x="548640" y="502920"/>
            <a:ext cx="1694939" cy="310896"/>
          </a:xfrm>
          <a:prstGeom prst="rect">
            <a:avLst/>
          </a:prstGeom>
          <a:noFill/>
          <a:ln/>
        </p:spPr>
        <p:txBody>
          <a:bodyPr wrap="square" lIns="0" tIns="0" rIns="0" bIns="0" rtlCol="0" anchor="ctr"/>
          <a:lstStyle/>
          <a:p>
            <a:pPr marL="0" indent="0" algn="ctr">
              <a:buNone/>
            </a:pPr>
            <a:r>
              <a:rPr lang="en-US" sz="1050" kern="0" spc="150" dirty="0">
                <a:solidFill>
                  <a:srgbClr val="FFFFFF"/>
                </a:solidFill>
                <a:latin typeface="Segoe UI Semibold" pitchFamily="34" charset="0"/>
                <a:ea typeface="Segoe UI Semibold" pitchFamily="34" charset="-122"/>
                <a:cs typeface="Segoe UI Semibold" pitchFamily="34" charset="-120"/>
              </a:rPr>
              <a:t>DEVELOPER VIEW</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Tools, skills, toolbox and workflow: distinct roles</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Use precise terms so the sample does not imply capabilities it has not implemented.</a:t>
            </a:r>
            <a:endParaRPr lang="en-US" sz="1550" dirty="0"/>
          </a:p>
        </p:txBody>
      </p:sp>
      <p:sp>
        <p:nvSpPr>
          <p:cNvPr id="6" name="Shape 4"/>
          <p:cNvSpPr/>
          <p:nvPr/>
        </p:nvSpPr>
        <p:spPr>
          <a:xfrm>
            <a:off x="548640" y="2487168"/>
            <a:ext cx="3063240" cy="1078992"/>
          </a:xfrm>
          <a:prstGeom prst="roundRect">
            <a:avLst>
              <a:gd name="adj" fmla="val 7627"/>
            </a:avLst>
          </a:prstGeom>
          <a:solidFill>
            <a:srgbClr val="E7E7EE"/>
          </a:solidFill>
          <a:ln/>
        </p:spPr>
        <p:txBody>
          <a:bodyPr/>
          <a:lstStyle/>
          <a:p>
            <a:endParaRPr lang="en-US"/>
          </a:p>
        </p:txBody>
      </p:sp>
      <p:sp>
        <p:nvSpPr>
          <p:cNvPr id="7" name="Text 5"/>
          <p:cNvSpPr/>
          <p:nvPr/>
        </p:nvSpPr>
        <p:spPr>
          <a:xfrm>
            <a:off x="777240" y="2487168"/>
            <a:ext cx="2697480" cy="1078992"/>
          </a:xfrm>
          <a:prstGeom prst="rect">
            <a:avLst/>
          </a:prstGeom>
          <a:noFill/>
          <a:ln/>
        </p:spPr>
        <p:txBody>
          <a:bodyPr wrap="square" lIns="0" tIns="0" rIns="0" bIns="0" rtlCol="0" anchor="ctr"/>
          <a:lstStyle/>
          <a:p>
            <a:pPr marL="0" indent="0">
              <a:lnSpc>
                <a:spcPct val="102000"/>
              </a:lnSpc>
              <a:buNone/>
            </a:pPr>
            <a:r>
              <a:rPr lang="en-US" sz="1650">
                <a:solidFill>
                  <a:srgbClr val="8A8A96"/>
                </a:solidFill>
                <a:latin typeface="Segoe UI Semibold" pitchFamily="34" charset="0"/>
                <a:ea typeface="Segoe UI Semibold" pitchFamily="34" charset="-122"/>
                <a:cs typeface="Segoe UI Semibold" pitchFamily="34" charset="-120"/>
              </a:rPr>
              <a:t>Implemented in Fibey</a:t>
            </a:r>
          </a:p>
          <a:p>
            <a:pPr marL="0" indent="0">
              <a:lnSpc>
                <a:spcPct val="102000"/>
              </a:lnSpc>
              <a:buNone/>
            </a:pPr>
            <a:r>
              <a:rPr lang="en-US" sz="1650">
                <a:solidFill>
                  <a:srgbClr val="8A8A96"/>
                </a:solidFill>
                <a:latin typeface="Segoe UI Semibold" pitchFamily="34" charset="0"/>
                <a:ea typeface="Segoe UI Semibold" pitchFamily="34" charset="-122"/>
                <a:cs typeface="Segoe UI Semibold" pitchFamily="34" charset="-120"/>
              </a:rPr>
              <a:t>tools | skills | one toolbox</a:t>
            </a:r>
            <a:endParaRPr lang="en-US" sz="1650" dirty="0"/>
          </a:p>
        </p:txBody>
      </p:sp>
      <p:sp>
        <p:nvSpPr>
          <p:cNvPr id="8" name="Text 6"/>
          <p:cNvSpPr/>
          <p:nvPr/>
        </p:nvSpPr>
        <p:spPr>
          <a:xfrm>
            <a:off x="3675888" y="2487168"/>
            <a:ext cx="640080" cy="1078992"/>
          </a:xfrm>
          <a:prstGeom prst="rect">
            <a:avLst/>
          </a:prstGeom>
          <a:noFill/>
          <a:ln/>
        </p:spPr>
        <p:txBody>
          <a:bodyPr wrap="square" lIns="0" tIns="0" rIns="0" bIns="0" rtlCol="0" anchor="ctr"/>
          <a:lstStyle/>
          <a:p>
            <a:pPr marL="0" indent="0" algn="ctr">
              <a:buNone/>
            </a:pPr>
            <a:r>
              <a:rPr lang="en-US" sz="2600" dirty="0">
                <a:solidFill>
                  <a:srgbClr val="4B44E0"/>
                </a:solidFill>
                <a:latin typeface="Segoe UI" pitchFamily="34" charset="0"/>
                <a:ea typeface="Segoe UI" pitchFamily="34" charset="-122"/>
                <a:cs typeface="Segoe UI" pitchFamily="34" charset="-120"/>
              </a:rPr>
              <a:t>→</a:t>
            </a:r>
            <a:endParaRPr lang="en-US" sz="2600" dirty="0"/>
          </a:p>
        </p:txBody>
      </p:sp>
      <p:sp>
        <p:nvSpPr>
          <p:cNvPr id="9" name="Shape 7"/>
          <p:cNvSpPr/>
          <p:nvPr/>
        </p:nvSpPr>
        <p:spPr>
          <a:xfrm>
            <a:off x="4407408" y="2487168"/>
            <a:ext cx="7223760" cy="1078992"/>
          </a:xfrm>
          <a:prstGeom prst="roundRect">
            <a:avLst>
              <a:gd name="adj" fmla="val 7627"/>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0" name="Shape 8"/>
          <p:cNvSpPr/>
          <p:nvPr/>
        </p:nvSpPr>
        <p:spPr>
          <a:xfrm>
            <a:off x="4407408" y="2487168"/>
            <a:ext cx="128016" cy="1078992"/>
          </a:xfrm>
          <a:prstGeom prst="roundRect">
            <a:avLst>
              <a:gd name="adj" fmla="val 35714"/>
            </a:avLst>
          </a:prstGeom>
          <a:solidFill>
            <a:srgbClr val="4B44E0"/>
          </a:solidFill>
          <a:ln/>
        </p:spPr>
        <p:txBody>
          <a:bodyPr/>
          <a:lstStyle/>
          <a:p>
            <a:endParaRPr lang="en-US"/>
          </a:p>
        </p:txBody>
      </p:sp>
      <p:sp>
        <p:nvSpPr>
          <p:cNvPr id="11" name="Text 9"/>
          <p:cNvSpPr/>
          <p:nvPr/>
        </p:nvSpPr>
        <p:spPr>
          <a:xfrm>
            <a:off x="4754880" y="2487168"/>
            <a:ext cx="6720840" cy="1078992"/>
          </a:xfrm>
          <a:prstGeom prst="rect">
            <a:avLst/>
          </a:prstGeom>
          <a:noFill/>
          <a:ln/>
        </p:spPr>
        <p:txBody>
          <a:bodyPr wrap="square" lIns="0" tIns="0" rIns="0" bIns="0" rtlCol="0" anchor="ctr"/>
          <a:lstStyle/>
          <a:p>
            <a:pPr marL="0" indent="0">
              <a:lnSpc>
                <a:spcPct val="104000"/>
              </a:lnSpc>
              <a:buNone/>
            </a:pPr>
            <a:r>
              <a:rPr lang="en-US" sz="1350">
                <a:solidFill>
                  <a:srgbClr val="242424"/>
                </a:solidFill>
                <a:latin typeface="Segoe UI" pitchFamily="34" charset="0"/>
                <a:ea typeface="Segoe UI" pitchFamily="34" charset="-122"/>
                <a:cs typeface="Segoe UI" pitchFamily="34" charset="-120"/>
              </a:rPr>
              <a:t>Tools perform operations. Five skills guide one agent. Foundry Toolbox unifies the tool surface and connection references.</a:t>
            </a:r>
            <a:endParaRPr lang="en-US" sz="1350" dirty="0"/>
          </a:p>
        </p:txBody>
      </p:sp>
      <p:sp>
        <p:nvSpPr>
          <p:cNvPr id="12" name="Shape 10"/>
          <p:cNvSpPr/>
          <p:nvPr/>
        </p:nvSpPr>
        <p:spPr>
          <a:xfrm>
            <a:off x="548640" y="3840480"/>
            <a:ext cx="3063240" cy="1078992"/>
          </a:xfrm>
          <a:prstGeom prst="roundRect">
            <a:avLst>
              <a:gd name="adj" fmla="val 7627"/>
            </a:avLst>
          </a:prstGeom>
          <a:solidFill>
            <a:srgbClr val="E7E7EE"/>
          </a:solidFill>
          <a:ln/>
        </p:spPr>
        <p:txBody>
          <a:bodyPr/>
          <a:lstStyle/>
          <a:p>
            <a:endParaRPr lang="en-US"/>
          </a:p>
        </p:txBody>
      </p:sp>
      <p:sp>
        <p:nvSpPr>
          <p:cNvPr id="13" name="Text 11"/>
          <p:cNvSpPr/>
          <p:nvPr/>
        </p:nvSpPr>
        <p:spPr>
          <a:xfrm>
            <a:off x="777240" y="3840480"/>
            <a:ext cx="2697480" cy="1078992"/>
          </a:xfrm>
          <a:prstGeom prst="rect">
            <a:avLst/>
          </a:prstGeom>
          <a:noFill/>
          <a:ln/>
        </p:spPr>
        <p:txBody>
          <a:bodyPr wrap="square" lIns="0" tIns="0" rIns="0" bIns="0" rtlCol="0" anchor="ctr"/>
          <a:lstStyle/>
          <a:p>
            <a:pPr marL="0" indent="0">
              <a:lnSpc>
                <a:spcPct val="102000"/>
              </a:lnSpc>
              <a:buNone/>
            </a:pPr>
            <a:r>
              <a:rPr lang="en-US" sz="1650">
                <a:solidFill>
                  <a:srgbClr val="8A8A96"/>
                </a:solidFill>
                <a:latin typeface="Segoe UI Semibold" pitchFamily="34" charset="0"/>
                <a:ea typeface="Segoe UI Semibold" pitchFamily="34" charset="-122"/>
                <a:cs typeface="Segoe UI Semibold" pitchFamily="34" charset="-120"/>
              </a:rPr>
              <a:t>Extension design</a:t>
            </a:r>
          </a:p>
          <a:p>
            <a:pPr marL="0" indent="0">
              <a:lnSpc>
                <a:spcPct val="102000"/>
              </a:lnSpc>
              <a:buNone/>
            </a:pPr>
            <a:r>
              <a:rPr lang="en-US" sz="1650">
                <a:solidFill>
                  <a:srgbClr val="8A8A96"/>
                </a:solidFill>
                <a:latin typeface="Segoe UI Semibold" pitchFamily="34" charset="0"/>
                <a:ea typeface="Segoe UI Semibold" pitchFamily="34" charset="-122"/>
                <a:cs typeface="Segoe UI Semibold" pitchFamily="34" charset="-120"/>
              </a:rPr>
              <a:t>specialists | durable workflows</a:t>
            </a:r>
            <a:endParaRPr lang="en-US" sz="1650" dirty="0"/>
          </a:p>
        </p:txBody>
      </p:sp>
      <p:sp>
        <p:nvSpPr>
          <p:cNvPr id="14" name="Text 12"/>
          <p:cNvSpPr/>
          <p:nvPr/>
        </p:nvSpPr>
        <p:spPr>
          <a:xfrm>
            <a:off x="3675888" y="3840480"/>
            <a:ext cx="640080" cy="1078992"/>
          </a:xfrm>
          <a:prstGeom prst="rect">
            <a:avLst/>
          </a:prstGeom>
          <a:noFill/>
          <a:ln/>
        </p:spPr>
        <p:txBody>
          <a:bodyPr wrap="square" lIns="0" tIns="0" rIns="0" bIns="0" rtlCol="0" anchor="ctr"/>
          <a:lstStyle/>
          <a:p>
            <a:pPr marL="0" indent="0" algn="ctr">
              <a:buNone/>
            </a:pPr>
            <a:r>
              <a:rPr lang="en-US" sz="2600" dirty="0">
                <a:solidFill>
                  <a:srgbClr val="4B44E0"/>
                </a:solidFill>
                <a:latin typeface="Segoe UI" pitchFamily="34" charset="0"/>
                <a:ea typeface="Segoe UI" pitchFamily="34" charset="-122"/>
                <a:cs typeface="Segoe UI" pitchFamily="34" charset="-120"/>
              </a:rPr>
              <a:t>→</a:t>
            </a:r>
            <a:endParaRPr lang="en-US" sz="2600" dirty="0"/>
          </a:p>
        </p:txBody>
      </p:sp>
      <p:sp>
        <p:nvSpPr>
          <p:cNvPr id="15" name="Shape 13"/>
          <p:cNvSpPr/>
          <p:nvPr/>
        </p:nvSpPr>
        <p:spPr>
          <a:xfrm>
            <a:off x="4407408" y="3840480"/>
            <a:ext cx="7223760" cy="1078992"/>
          </a:xfrm>
          <a:prstGeom prst="roundRect">
            <a:avLst>
              <a:gd name="adj" fmla="val 7627"/>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16" name="Shape 14"/>
          <p:cNvSpPr/>
          <p:nvPr/>
        </p:nvSpPr>
        <p:spPr>
          <a:xfrm>
            <a:off x="4407408" y="3840480"/>
            <a:ext cx="128016" cy="1078992"/>
          </a:xfrm>
          <a:prstGeom prst="roundRect">
            <a:avLst>
              <a:gd name="adj" fmla="val 35714"/>
            </a:avLst>
          </a:prstGeom>
          <a:solidFill>
            <a:srgbClr val="4B44E0"/>
          </a:solidFill>
          <a:ln/>
        </p:spPr>
        <p:txBody>
          <a:bodyPr/>
          <a:lstStyle/>
          <a:p>
            <a:endParaRPr lang="en-US"/>
          </a:p>
        </p:txBody>
      </p:sp>
      <p:sp>
        <p:nvSpPr>
          <p:cNvPr id="17" name="Text 15"/>
          <p:cNvSpPr/>
          <p:nvPr/>
        </p:nvSpPr>
        <p:spPr>
          <a:xfrm>
            <a:off x="4754880" y="3840480"/>
            <a:ext cx="6720840" cy="1078992"/>
          </a:xfrm>
          <a:prstGeom prst="rect">
            <a:avLst/>
          </a:prstGeom>
          <a:noFill/>
          <a:ln/>
        </p:spPr>
        <p:txBody>
          <a:bodyPr wrap="square" lIns="0" tIns="0" rIns="0" bIns="0" rtlCol="0" anchor="ctr"/>
          <a:lstStyle/>
          <a:p>
            <a:pPr marL="0" indent="0">
              <a:lnSpc>
                <a:spcPct val="104000"/>
              </a:lnSpc>
              <a:buNone/>
            </a:pPr>
            <a:r>
              <a:rPr lang="en-US" sz="1350">
                <a:solidFill>
                  <a:srgbClr val="242424"/>
                </a:solidFill>
                <a:latin typeface="Segoe UI" pitchFamily="34" charset="0"/>
                <a:ea typeface="Segoe UI" pitchFamily="34" charset="-122"/>
                <a:cs typeface="Segoe UI" pitchFamily="34" charset="-120"/>
              </a:rPr>
              <a:t>Multi-agent handoffs, scheduled routines and durable approval workflows need additional implementation and identities.</a:t>
            </a:r>
            <a:endParaRPr lang="en-US" sz="1350" dirty="0"/>
          </a:p>
        </p:txBody>
      </p:sp>
      <p:sp>
        <p:nvSpPr>
          <p:cNvPr id="18" name="Shape 16"/>
          <p:cNvSpPr/>
          <p:nvPr/>
        </p:nvSpPr>
        <p:spPr>
          <a:xfrm>
            <a:off x="548640" y="5340096"/>
            <a:ext cx="11082528" cy="603504"/>
          </a:xfrm>
          <a:prstGeom prst="roundRect">
            <a:avLst>
              <a:gd name="adj" fmla="val 50000"/>
            </a:avLst>
          </a:prstGeom>
          <a:solidFill>
            <a:srgbClr val="4B44E0"/>
          </a:solidFill>
          <a:ln/>
        </p:spPr>
        <p:txBody>
          <a:bodyPr/>
          <a:lstStyle/>
          <a:p>
            <a:endParaRPr lang="en-US"/>
          </a:p>
        </p:txBody>
      </p:sp>
      <p:sp>
        <p:nvSpPr>
          <p:cNvPr id="19" name="Text 17"/>
          <p:cNvSpPr/>
          <p:nvPr/>
        </p:nvSpPr>
        <p:spPr>
          <a:xfrm>
            <a:off x="548640" y="5340096"/>
            <a:ext cx="11082528" cy="603504"/>
          </a:xfrm>
          <a:prstGeom prst="rect">
            <a:avLst/>
          </a:prstGeom>
          <a:noFill/>
          <a:ln/>
        </p:spPr>
        <p:txBody>
          <a:bodyPr wrap="square" lIns="0" tIns="0" rIns="0" bIns="0" rtlCol="0" anchor="ctr"/>
          <a:lstStyle/>
          <a:p>
            <a:pPr marL="0" indent="0" algn="ctr">
              <a:buNone/>
            </a:pPr>
            <a:r>
              <a:rPr lang="en-US" sz="1500">
                <a:solidFill>
                  <a:srgbClr val="FFFFFF"/>
                </a:solidFill>
                <a:latin typeface="Segoe UI Semibold" pitchFamily="34" charset="0"/>
                <a:ea typeface="Segoe UI Semibold" pitchFamily="34" charset="-122"/>
                <a:cs typeface="Segoe UI Semibold" pitchFamily="34" charset="-120"/>
              </a:rPr>
              <a:t>One deployed agent + five instruction skills is not a multi-agent system.</a:t>
            </a:r>
            <a:endParaRPr lang="en-US" sz="1500" dirty="0"/>
          </a:p>
        </p:txBody>
      </p:sp>
      <p:sp>
        <p:nvSpPr>
          <p:cNvPr id="20" name="Text 18"/>
          <p:cNvSpPr/>
          <p:nvPr/>
        </p:nvSpPr>
        <p:spPr>
          <a:xfrm>
            <a:off x="548640" y="6071616"/>
            <a:ext cx="11082528" cy="310896"/>
          </a:xfrm>
          <a:prstGeom prst="rect">
            <a:avLst/>
          </a:prstGeom>
          <a:noFill/>
          <a:ln/>
        </p:spPr>
        <p:txBody>
          <a:bodyPr wrap="square" lIns="0" tIns="0" rIns="0" bIns="0" rtlCol="0" anchor="ctr"/>
          <a:lstStyle/>
          <a:p>
            <a:pPr marL="0" indent="0" algn="ctr">
              <a:buNone/>
            </a:pPr>
            <a:r>
              <a:rPr lang="en-US" sz="1150">
                <a:solidFill>
                  <a:srgbClr val="6B6B75"/>
                </a:solidFill>
                <a:latin typeface="Segoe UI" pitchFamily="34" charset="0"/>
                <a:ea typeface="Segoe UI" pitchFamily="34" charset="-122"/>
                <a:cs typeface="Segoe UI" pitchFamily="34" charset="-120"/>
              </a:rPr>
              <a:t>Chat-driven orchestration today; no routines, triggers or coordinator service are deployed.</a:t>
            </a:r>
            <a:endParaRPr lang="en-US" sz="1150" dirty="0"/>
          </a:p>
        </p:txBody>
      </p:sp>
      <p:sp>
        <p:nvSpPr>
          <p:cNvPr id="21" name="Text 19"/>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3757236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548640" y="502920"/>
            <a:ext cx="1645920" cy="310896"/>
          </a:xfrm>
          <a:prstGeom prst="roundRect">
            <a:avLst>
              <a:gd name="adj" fmla="val 50000"/>
            </a:avLst>
          </a:prstGeom>
          <a:solidFill>
            <a:srgbClr val="4B44E0"/>
          </a:solidFill>
          <a:ln/>
        </p:spPr>
        <p:txBody>
          <a:bodyPr/>
          <a:lstStyle/>
          <a:p>
            <a:endParaRPr lang="en-US"/>
          </a:p>
        </p:txBody>
      </p:sp>
      <p:sp>
        <p:nvSpPr>
          <p:cNvPr id="3" name="Text 1"/>
          <p:cNvSpPr/>
          <p:nvPr/>
        </p:nvSpPr>
        <p:spPr>
          <a:xfrm>
            <a:off x="548640" y="502920"/>
            <a:ext cx="1645920" cy="310896"/>
          </a:xfrm>
          <a:prstGeom prst="rect">
            <a:avLst/>
          </a:prstGeom>
          <a:noFill/>
          <a:ln/>
        </p:spPr>
        <p:txBody>
          <a:bodyPr wrap="square" lIns="0" tIns="0" rIns="0" bIns="0" rtlCol="0" anchor="ctr"/>
          <a:lstStyle/>
          <a:p>
            <a:pPr marL="0" indent="0" algn="ctr">
              <a:buNone/>
            </a:pPr>
            <a:r>
              <a:rPr lang="en-US" sz="1050" kern="0" spc="150" dirty="0">
                <a:solidFill>
                  <a:srgbClr val="FFFFFF"/>
                </a:solidFill>
                <a:latin typeface="Segoe UI Semibold" pitchFamily="34" charset="0"/>
                <a:ea typeface="Segoe UI Semibold" pitchFamily="34" charset="-122"/>
                <a:cs typeface="Segoe UI Semibold" pitchFamily="34" charset="-120"/>
              </a:rPr>
              <a:t>REPRODUCIBILITY</a:t>
            </a:r>
            <a:endParaRPr lang="en-US" sz="1050" dirty="0"/>
          </a:p>
        </p:txBody>
      </p:sp>
      <p:sp>
        <p:nvSpPr>
          <p:cNvPr id="4" name="Text 2"/>
          <p:cNvSpPr/>
          <p:nvPr/>
        </p:nvSpPr>
        <p:spPr>
          <a:xfrm>
            <a:off x="548640" y="896112"/>
            <a:ext cx="11064240" cy="731520"/>
          </a:xfrm>
          <a:prstGeom prst="rect">
            <a:avLst/>
          </a:prstGeom>
          <a:noFill/>
          <a:ln/>
        </p:spPr>
        <p:txBody>
          <a:bodyPr wrap="square" rtlCol="0" anchor="ctr"/>
          <a:lstStyle/>
          <a:p>
            <a:pPr marL="0" indent="0" algn="l">
              <a:buNone/>
            </a:pPr>
            <a:r>
              <a:rPr lang="en-US" sz="3000">
                <a:solidFill>
                  <a:srgbClr val="242424"/>
                </a:solidFill>
                <a:latin typeface="Segoe UI Light" pitchFamily="34" charset="0"/>
                <a:ea typeface="Segoe UI Light" pitchFamily="34" charset="-122"/>
                <a:cs typeface="Segoe UI Light" pitchFamily="34" charset="-120"/>
              </a:rPr>
              <a:t>Versioning that fits DevOps and GitOps</a:t>
            </a:r>
            <a:endParaRPr lang="en-US" sz="3000" dirty="0"/>
          </a:p>
        </p:txBody>
      </p:sp>
      <p:sp>
        <p:nvSpPr>
          <p:cNvPr id="5" name="Text 3"/>
          <p:cNvSpPr/>
          <p:nvPr/>
        </p:nvSpPr>
        <p:spPr>
          <a:xfrm>
            <a:off x="566928" y="1591056"/>
            <a:ext cx="10789920" cy="548640"/>
          </a:xfrm>
          <a:prstGeom prst="rect">
            <a:avLst/>
          </a:prstGeom>
          <a:noFill/>
          <a:ln/>
        </p:spPr>
        <p:txBody>
          <a:bodyPr wrap="square" rtlCol="0" anchor="ctr"/>
          <a:lstStyle/>
          <a:p>
            <a:pPr marL="0" indent="0" algn="l">
              <a:lnSpc>
                <a:spcPct val="102000"/>
              </a:lnSpc>
              <a:buNone/>
            </a:pPr>
            <a:r>
              <a:rPr lang="en-US" sz="1550">
                <a:solidFill>
                  <a:srgbClr val="4B44E0"/>
                </a:solidFill>
                <a:latin typeface="Segoe UI Semibold" pitchFamily="34" charset="0"/>
                <a:ea typeface="Segoe UI Semibold" pitchFamily="34" charset="-122"/>
                <a:cs typeface="Segoe UI Semibold" pitchFamily="34" charset="-120"/>
              </a:rPr>
              <a:t>Review source and promote verified artifacts; storing files in Git is not a deployment controller.</a:t>
            </a:r>
            <a:endParaRPr lang="en-US" sz="1550" dirty="0"/>
          </a:p>
        </p:txBody>
      </p:sp>
      <p:sp>
        <p:nvSpPr>
          <p:cNvPr id="6" name="Shape 4"/>
          <p:cNvSpPr/>
          <p:nvPr/>
        </p:nvSpPr>
        <p:spPr>
          <a:xfrm>
            <a:off x="548640" y="2286000"/>
            <a:ext cx="5074920" cy="2395728"/>
          </a:xfrm>
          <a:prstGeom prst="roundRect">
            <a:avLst>
              <a:gd name="adj" fmla="val 3817"/>
            </a:avLst>
          </a:prstGeom>
          <a:solidFill>
            <a:srgbClr val="F4F1F0"/>
          </a:solidFill>
          <a:ln w="12700">
            <a:solidFill>
              <a:srgbClr val="E0DAD6"/>
            </a:solidFill>
            <a:prstDash val="solid"/>
          </a:ln>
        </p:spPr>
        <p:txBody>
          <a:bodyPr/>
          <a:lstStyle/>
          <a:p>
            <a:endParaRPr lang="en-US"/>
          </a:p>
        </p:txBody>
      </p:sp>
      <p:sp>
        <p:nvSpPr>
          <p:cNvPr id="7" name="Text 5"/>
          <p:cNvSpPr/>
          <p:nvPr/>
        </p:nvSpPr>
        <p:spPr>
          <a:xfrm>
            <a:off x="822960" y="2487168"/>
            <a:ext cx="4526280" cy="274320"/>
          </a:xfrm>
          <a:prstGeom prst="rect">
            <a:avLst/>
          </a:prstGeom>
          <a:noFill/>
          <a:ln/>
        </p:spPr>
        <p:txBody>
          <a:bodyPr wrap="square" lIns="0" tIns="0" rIns="0" bIns="0" rtlCol="0" anchor="ctr"/>
          <a:lstStyle/>
          <a:p>
            <a:pPr marL="0" indent="0">
              <a:buNone/>
            </a:pPr>
            <a:r>
              <a:rPr lang="en-US" sz="1050" kern="0" spc="100">
                <a:solidFill>
                  <a:srgbClr val="B4703C"/>
                </a:solidFill>
                <a:latin typeface="Segoe UI Semibold" pitchFamily="34" charset="0"/>
                <a:ea typeface="Segoe UI Semibold" pitchFamily="34" charset="-122"/>
                <a:cs typeface="Segoe UI Semibold" pitchFamily="34" charset="-120"/>
              </a:rPr>
              <a:t>FIBEY RELEASE RECORD</a:t>
            </a:r>
            <a:endParaRPr lang="en-US" sz="1050" dirty="0"/>
          </a:p>
        </p:txBody>
      </p:sp>
      <p:sp>
        <p:nvSpPr>
          <p:cNvPr id="8" name="Shape 6"/>
          <p:cNvSpPr/>
          <p:nvPr/>
        </p:nvSpPr>
        <p:spPr>
          <a:xfrm>
            <a:off x="822960" y="2852928"/>
            <a:ext cx="2189988" cy="310896"/>
          </a:xfrm>
          <a:prstGeom prst="roundRect">
            <a:avLst>
              <a:gd name="adj" fmla="val 14706"/>
            </a:avLst>
          </a:prstGeom>
          <a:solidFill>
            <a:srgbClr val="FFFFFF"/>
          </a:solidFill>
          <a:ln w="12700">
            <a:solidFill>
              <a:srgbClr val="E0DAD6"/>
            </a:solidFill>
            <a:prstDash val="solid"/>
          </a:ln>
        </p:spPr>
        <p:txBody>
          <a:bodyPr/>
          <a:lstStyle/>
          <a:p>
            <a:endParaRPr lang="en-US"/>
          </a:p>
        </p:txBody>
      </p:sp>
      <p:sp>
        <p:nvSpPr>
          <p:cNvPr id="9" name="Text 7"/>
          <p:cNvSpPr/>
          <p:nvPr/>
        </p:nvSpPr>
        <p:spPr>
          <a:xfrm>
            <a:off x="822960" y="2852928"/>
            <a:ext cx="2189988" cy="310896"/>
          </a:xfrm>
          <a:prstGeom prst="rect">
            <a:avLst/>
          </a:prstGeom>
          <a:noFill/>
          <a:ln/>
        </p:spPr>
        <p:txBody>
          <a:bodyPr wrap="square" lIns="0" tIns="0" rIns="0" bIns="0" rtlCol="0" anchor="ctr"/>
          <a:lstStyle/>
          <a:p>
            <a:pPr marL="0" indent="0" algn="ctr">
              <a:buNone/>
            </a:pPr>
            <a:r>
              <a:rPr lang="en-US" sz="1150">
                <a:solidFill>
                  <a:srgbClr val="6B6B75"/>
                </a:solidFill>
                <a:latin typeface="Segoe UI" pitchFamily="34" charset="0"/>
                <a:ea typeface="Segoe UI" pitchFamily="34" charset="-122"/>
                <a:cs typeface="Segoe UI" pitchFamily="34" charset="-120"/>
              </a:rPr>
              <a:t>Commit</a:t>
            </a:r>
            <a:endParaRPr lang="en-US" sz="1150" dirty="0"/>
          </a:p>
        </p:txBody>
      </p:sp>
      <p:sp>
        <p:nvSpPr>
          <p:cNvPr id="10" name="Shape 8"/>
          <p:cNvSpPr/>
          <p:nvPr/>
        </p:nvSpPr>
        <p:spPr>
          <a:xfrm>
            <a:off x="3159252" y="2852928"/>
            <a:ext cx="2189988" cy="310896"/>
          </a:xfrm>
          <a:prstGeom prst="roundRect">
            <a:avLst>
              <a:gd name="adj" fmla="val 14706"/>
            </a:avLst>
          </a:prstGeom>
          <a:solidFill>
            <a:srgbClr val="FFFFFF"/>
          </a:solidFill>
          <a:ln w="12700">
            <a:solidFill>
              <a:srgbClr val="E0DAD6"/>
            </a:solidFill>
            <a:prstDash val="solid"/>
          </a:ln>
        </p:spPr>
        <p:txBody>
          <a:bodyPr/>
          <a:lstStyle/>
          <a:p>
            <a:endParaRPr lang="en-US"/>
          </a:p>
        </p:txBody>
      </p:sp>
      <p:sp>
        <p:nvSpPr>
          <p:cNvPr id="11" name="Text 9"/>
          <p:cNvSpPr/>
          <p:nvPr/>
        </p:nvSpPr>
        <p:spPr>
          <a:xfrm>
            <a:off x="3159252" y="2852928"/>
            <a:ext cx="2189988" cy="310896"/>
          </a:xfrm>
          <a:prstGeom prst="rect">
            <a:avLst/>
          </a:prstGeom>
          <a:noFill/>
          <a:ln/>
        </p:spPr>
        <p:txBody>
          <a:bodyPr wrap="square" lIns="0" tIns="0" rIns="0" bIns="0" rtlCol="0" anchor="ctr"/>
          <a:lstStyle/>
          <a:p>
            <a:pPr marL="0" indent="0" algn="ctr">
              <a:buNone/>
            </a:pPr>
            <a:r>
              <a:rPr lang="en-US" sz="1150">
                <a:solidFill>
                  <a:srgbClr val="6B6B75"/>
                </a:solidFill>
                <a:latin typeface="Segoe UI" pitchFamily="34" charset="0"/>
                <a:ea typeface="Segoe UI" pitchFamily="34" charset="-122"/>
                <a:cs typeface="Segoe UI" pitchFamily="34" charset="-120"/>
              </a:rPr>
              <a:t>Model</a:t>
            </a:r>
            <a:endParaRPr lang="en-US" sz="1150" dirty="0"/>
          </a:p>
        </p:txBody>
      </p:sp>
      <p:sp>
        <p:nvSpPr>
          <p:cNvPr id="12" name="Shape 10"/>
          <p:cNvSpPr/>
          <p:nvPr/>
        </p:nvSpPr>
        <p:spPr>
          <a:xfrm>
            <a:off x="822960" y="3236976"/>
            <a:ext cx="2189988" cy="310896"/>
          </a:xfrm>
          <a:prstGeom prst="roundRect">
            <a:avLst>
              <a:gd name="adj" fmla="val 14706"/>
            </a:avLst>
          </a:prstGeom>
          <a:solidFill>
            <a:srgbClr val="FFFFFF"/>
          </a:solidFill>
          <a:ln w="12700">
            <a:solidFill>
              <a:srgbClr val="E0DAD6"/>
            </a:solidFill>
            <a:prstDash val="solid"/>
          </a:ln>
        </p:spPr>
        <p:txBody>
          <a:bodyPr/>
          <a:lstStyle/>
          <a:p>
            <a:endParaRPr lang="en-US"/>
          </a:p>
        </p:txBody>
      </p:sp>
      <p:sp>
        <p:nvSpPr>
          <p:cNvPr id="13" name="Text 11"/>
          <p:cNvSpPr/>
          <p:nvPr/>
        </p:nvSpPr>
        <p:spPr>
          <a:xfrm>
            <a:off x="822960" y="3236976"/>
            <a:ext cx="2189988" cy="310896"/>
          </a:xfrm>
          <a:prstGeom prst="rect">
            <a:avLst/>
          </a:prstGeom>
          <a:noFill/>
          <a:ln/>
        </p:spPr>
        <p:txBody>
          <a:bodyPr wrap="square" lIns="0" tIns="0" rIns="0" bIns="0" rtlCol="0" anchor="ctr"/>
          <a:lstStyle/>
          <a:p>
            <a:pPr marL="0" indent="0" algn="ctr">
              <a:buNone/>
            </a:pPr>
            <a:r>
              <a:rPr lang="en-US" sz="1150">
                <a:solidFill>
                  <a:srgbClr val="6B6B75"/>
                </a:solidFill>
                <a:latin typeface="Segoe UI" pitchFamily="34" charset="0"/>
                <a:ea typeface="Segoe UI" pitchFamily="34" charset="-122"/>
                <a:cs typeface="Segoe UI" pitchFamily="34" charset="-120"/>
              </a:rPr>
              <a:t>Toolbox</a:t>
            </a:r>
            <a:endParaRPr lang="en-US" sz="1150" dirty="0"/>
          </a:p>
        </p:txBody>
      </p:sp>
      <p:sp>
        <p:nvSpPr>
          <p:cNvPr id="14" name="Shape 12"/>
          <p:cNvSpPr/>
          <p:nvPr/>
        </p:nvSpPr>
        <p:spPr>
          <a:xfrm>
            <a:off x="3159252" y="3236976"/>
            <a:ext cx="2189988" cy="310896"/>
          </a:xfrm>
          <a:prstGeom prst="roundRect">
            <a:avLst>
              <a:gd name="adj" fmla="val 14706"/>
            </a:avLst>
          </a:prstGeom>
          <a:solidFill>
            <a:srgbClr val="FFFFFF"/>
          </a:solidFill>
          <a:ln w="12700">
            <a:solidFill>
              <a:srgbClr val="E0DAD6"/>
            </a:solidFill>
            <a:prstDash val="solid"/>
          </a:ln>
        </p:spPr>
        <p:txBody>
          <a:bodyPr/>
          <a:lstStyle/>
          <a:p>
            <a:endParaRPr lang="en-US"/>
          </a:p>
        </p:txBody>
      </p:sp>
      <p:sp>
        <p:nvSpPr>
          <p:cNvPr id="15" name="Text 13"/>
          <p:cNvSpPr/>
          <p:nvPr/>
        </p:nvSpPr>
        <p:spPr>
          <a:xfrm>
            <a:off x="3159252" y="3236976"/>
            <a:ext cx="2189988" cy="310896"/>
          </a:xfrm>
          <a:prstGeom prst="rect">
            <a:avLst/>
          </a:prstGeom>
          <a:noFill/>
          <a:ln/>
        </p:spPr>
        <p:txBody>
          <a:bodyPr wrap="square" lIns="0" tIns="0" rIns="0" bIns="0" rtlCol="0" anchor="ctr"/>
          <a:lstStyle/>
          <a:p>
            <a:pPr marL="0" indent="0" algn="ctr">
              <a:buNone/>
            </a:pPr>
            <a:r>
              <a:rPr lang="en-US" sz="1150">
                <a:solidFill>
                  <a:srgbClr val="6B6B75"/>
                </a:solidFill>
                <a:latin typeface="Segoe UI" pitchFamily="34" charset="0"/>
                <a:ea typeface="Segoe UI" pitchFamily="34" charset="-122"/>
                <a:cs typeface="Segoe UI" pitchFamily="34" charset="-120"/>
              </a:rPr>
              <a:t>Locks</a:t>
            </a:r>
            <a:endParaRPr lang="en-US" sz="1150" dirty="0"/>
          </a:p>
        </p:txBody>
      </p:sp>
      <p:sp>
        <p:nvSpPr>
          <p:cNvPr id="16" name="Shape 14"/>
          <p:cNvSpPr/>
          <p:nvPr/>
        </p:nvSpPr>
        <p:spPr>
          <a:xfrm>
            <a:off x="822960" y="3621024"/>
            <a:ext cx="2189988" cy="310896"/>
          </a:xfrm>
          <a:prstGeom prst="roundRect">
            <a:avLst>
              <a:gd name="adj" fmla="val 14706"/>
            </a:avLst>
          </a:prstGeom>
          <a:solidFill>
            <a:srgbClr val="FFFFFF"/>
          </a:solidFill>
          <a:ln w="12700">
            <a:solidFill>
              <a:srgbClr val="E0DAD6"/>
            </a:solidFill>
            <a:prstDash val="solid"/>
          </a:ln>
        </p:spPr>
        <p:txBody>
          <a:bodyPr/>
          <a:lstStyle/>
          <a:p>
            <a:endParaRPr lang="en-US"/>
          </a:p>
        </p:txBody>
      </p:sp>
      <p:sp>
        <p:nvSpPr>
          <p:cNvPr id="17" name="Text 15"/>
          <p:cNvSpPr/>
          <p:nvPr/>
        </p:nvSpPr>
        <p:spPr>
          <a:xfrm>
            <a:off x="822960" y="3621024"/>
            <a:ext cx="2189988" cy="310896"/>
          </a:xfrm>
          <a:prstGeom prst="rect">
            <a:avLst/>
          </a:prstGeom>
          <a:noFill/>
          <a:ln/>
        </p:spPr>
        <p:txBody>
          <a:bodyPr wrap="square" lIns="0" tIns="0" rIns="0" bIns="0" rtlCol="0" anchor="ctr"/>
          <a:lstStyle/>
          <a:p>
            <a:pPr marL="0" indent="0" algn="ctr">
              <a:buNone/>
            </a:pPr>
            <a:r>
              <a:rPr lang="en-US" sz="1150">
                <a:solidFill>
                  <a:srgbClr val="6B6B75"/>
                </a:solidFill>
                <a:latin typeface="Segoe UI" pitchFamily="34" charset="0"/>
                <a:ea typeface="Segoe UI" pitchFamily="34" charset="-122"/>
                <a:cs typeface="Segoe UI" pitchFamily="34" charset="-120"/>
              </a:rPr>
              <a:t>Roles</a:t>
            </a:r>
            <a:endParaRPr lang="en-US" sz="1150" dirty="0"/>
          </a:p>
        </p:txBody>
      </p:sp>
      <p:sp>
        <p:nvSpPr>
          <p:cNvPr id="18" name="Shape 16"/>
          <p:cNvSpPr/>
          <p:nvPr/>
        </p:nvSpPr>
        <p:spPr>
          <a:xfrm>
            <a:off x="3159252" y="3621024"/>
            <a:ext cx="2189988" cy="310896"/>
          </a:xfrm>
          <a:prstGeom prst="roundRect">
            <a:avLst>
              <a:gd name="adj" fmla="val 14706"/>
            </a:avLst>
          </a:prstGeom>
          <a:solidFill>
            <a:srgbClr val="EDE6E2"/>
          </a:solidFill>
          <a:ln/>
        </p:spPr>
        <p:txBody>
          <a:bodyPr/>
          <a:lstStyle/>
          <a:p>
            <a:endParaRPr lang="en-US"/>
          </a:p>
        </p:txBody>
      </p:sp>
      <p:sp>
        <p:nvSpPr>
          <p:cNvPr id="19" name="Text 17"/>
          <p:cNvSpPr/>
          <p:nvPr/>
        </p:nvSpPr>
        <p:spPr>
          <a:xfrm>
            <a:off x="3159252" y="3621024"/>
            <a:ext cx="2189988" cy="310896"/>
          </a:xfrm>
          <a:prstGeom prst="rect">
            <a:avLst/>
          </a:prstGeom>
          <a:noFill/>
          <a:ln/>
        </p:spPr>
        <p:txBody>
          <a:bodyPr wrap="square" lIns="0" tIns="0" rIns="0" bIns="0" rtlCol="0" anchor="ctr"/>
          <a:lstStyle/>
          <a:p>
            <a:pPr marL="0" indent="0" algn="ctr">
              <a:buNone/>
            </a:pPr>
            <a:r>
              <a:rPr lang="en-US" sz="1100">
                <a:solidFill>
                  <a:srgbClr val="B4703C"/>
                </a:solidFill>
                <a:latin typeface="Segoe UI Semibold" pitchFamily="34" charset="0"/>
                <a:ea typeface="Segoe UI Semibold" pitchFamily="34" charset="-122"/>
                <a:cs typeface="Segoe UI Semibold" pitchFamily="34" charset="-120"/>
              </a:rPr>
              <a:t>Images + versions</a:t>
            </a:r>
            <a:endParaRPr lang="en-US" sz="1100" dirty="0"/>
          </a:p>
        </p:txBody>
      </p:sp>
      <p:sp>
        <p:nvSpPr>
          <p:cNvPr id="20" name="Text 18"/>
          <p:cNvSpPr/>
          <p:nvPr/>
        </p:nvSpPr>
        <p:spPr>
          <a:xfrm>
            <a:off x="822960" y="4224528"/>
            <a:ext cx="4526280" cy="365760"/>
          </a:xfrm>
          <a:prstGeom prst="rect">
            <a:avLst/>
          </a:prstGeom>
          <a:noFill/>
          <a:ln/>
        </p:spPr>
        <p:txBody>
          <a:bodyPr wrap="square" lIns="0" tIns="0" rIns="0" bIns="0" rtlCol="0" anchor="ctr"/>
          <a:lstStyle/>
          <a:p>
            <a:pPr marL="0" indent="0">
              <a:lnSpc>
                <a:spcPct val="102000"/>
              </a:lnSpc>
              <a:buNone/>
            </a:pPr>
            <a:r>
              <a:rPr lang="en-US" sz="1100">
                <a:solidFill>
                  <a:srgbClr val="8A7F79"/>
                </a:solidFill>
                <a:latin typeface="Segoe UI" pitchFamily="34" charset="0"/>
                <a:ea typeface="Segoe UI" pitchFamily="34" charset="-122"/>
                <a:cs typeface="Segoe UI" pitchFamily="34" charset="-120"/>
              </a:rPr>
              <a:t>Record source commit, image digests, toolbox default and hosted-agent version.</a:t>
            </a:r>
            <a:endParaRPr lang="en-US" sz="1100" dirty="0"/>
          </a:p>
        </p:txBody>
      </p:sp>
      <p:sp>
        <p:nvSpPr>
          <p:cNvPr id="21" name="Shape 19"/>
          <p:cNvSpPr/>
          <p:nvPr/>
        </p:nvSpPr>
        <p:spPr>
          <a:xfrm>
            <a:off x="5852160" y="2286000"/>
            <a:ext cx="5779008" cy="2395728"/>
          </a:xfrm>
          <a:prstGeom prst="roundRect">
            <a:avLst>
              <a:gd name="adj" fmla="val 3817"/>
            </a:avLst>
          </a:prstGeom>
          <a:solidFill>
            <a:srgbClr val="FFFFFF"/>
          </a:solidFill>
          <a:ln w="12700">
            <a:solidFill>
              <a:srgbClr val="E3E3E8"/>
            </a:solidFill>
            <a:prstDash val="solid"/>
          </a:ln>
          <a:effectLst>
            <a:outerShdw blurRad="63500" dist="19050" dir="5400000" algn="bl" rotWithShape="0">
              <a:srgbClr val="B9B9C6">
                <a:alpha val="25000"/>
              </a:srgbClr>
            </a:outerShdw>
          </a:effectLst>
        </p:spPr>
        <p:txBody>
          <a:bodyPr/>
          <a:lstStyle/>
          <a:p>
            <a:endParaRPr lang="en-US"/>
          </a:p>
        </p:txBody>
      </p:sp>
      <p:sp>
        <p:nvSpPr>
          <p:cNvPr id="22" name="Shape 20"/>
          <p:cNvSpPr/>
          <p:nvPr/>
        </p:nvSpPr>
        <p:spPr>
          <a:xfrm>
            <a:off x="5852160" y="2286000"/>
            <a:ext cx="5779008" cy="146304"/>
          </a:xfrm>
          <a:prstGeom prst="roundRect">
            <a:avLst>
              <a:gd name="adj" fmla="val 37500"/>
            </a:avLst>
          </a:prstGeom>
          <a:solidFill>
            <a:srgbClr val="4B44E0"/>
          </a:solidFill>
          <a:ln/>
        </p:spPr>
        <p:txBody>
          <a:bodyPr/>
          <a:lstStyle/>
          <a:p>
            <a:endParaRPr lang="en-US"/>
          </a:p>
        </p:txBody>
      </p:sp>
      <p:sp>
        <p:nvSpPr>
          <p:cNvPr id="23" name="Text 21"/>
          <p:cNvSpPr/>
          <p:nvPr/>
        </p:nvSpPr>
        <p:spPr>
          <a:xfrm>
            <a:off x="6144768" y="2615184"/>
            <a:ext cx="5193792" cy="548640"/>
          </a:xfrm>
          <a:prstGeom prst="rect">
            <a:avLst/>
          </a:prstGeom>
          <a:noFill/>
          <a:ln/>
        </p:spPr>
        <p:txBody>
          <a:bodyPr wrap="square" lIns="0" tIns="0" rIns="0" bIns="0" rtlCol="0" anchor="ctr"/>
          <a:lstStyle/>
          <a:p>
            <a:pPr marL="0" indent="0">
              <a:buNone/>
            </a:pPr>
            <a:r>
              <a:rPr lang="en-US" sz="2700">
                <a:solidFill>
                  <a:srgbClr val="242424"/>
                </a:solidFill>
                <a:latin typeface="Segoe UI Light" pitchFamily="34" charset="0"/>
                <a:ea typeface="Segoe UI Light" pitchFamily="34" charset="-122"/>
                <a:cs typeface="Segoe UI Light" pitchFamily="34" charset="-120"/>
              </a:rPr>
              <a:t>Release gates</a:t>
            </a:r>
            <a:endParaRPr lang="en-US" sz="2700" dirty="0"/>
          </a:p>
        </p:txBody>
      </p:sp>
      <p:sp>
        <p:nvSpPr>
          <p:cNvPr id="24" name="Shape 22"/>
          <p:cNvSpPr/>
          <p:nvPr/>
        </p:nvSpPr>
        <p:spPr>
          <a:xfrm>
            <a:off x="6163056" y="3364992"/>
            <a:ext cx="100584" cy="100584"/>
          </a:xfrm>
          <a:prstGeom prst="ellipse">
            <a:avLst/>
          </a:prstGeom>
          <a:solidFill>
            <a:srgbClr val="4B44E0"/>
          </a:solidFill>
          <a:ln/>
        </p:spPr>
        <p:txBody>
          <a:bodyPr/>
          <a:lstStyle/>
          <a:p>
            <a:endParaRPr lang="en-US"/>
          </a:p>
        </p:txBody>
      </p:sp>
      <p:sp>
        <p:nvSpPr>
          <p:cNvPr id="25" name="Text 23"/>
          <p:cNvSpPr/>
          <p:nvPr/>
        </p:nvSpPr>
        <p:spPr>
          <a:xfrm>
            <a:off x="6419088" y="3264408"/>
            <a:ext cx="4910328" cy="384048"/>
          </a:xfrm>
          <a:prstGeom prst="rect">
            <a:avLst/>
          </a:prstGeom>
          <a:noFill/>
          <a:ln/>
        </p:spPr>
        <p:txBody>
          <a:bodyPr wrap="square" lIns="0" tIns="0" rIns="0" bIns="0" rtlCol="0" anchor="ctr"/>
          <a:lstStyle/>
          <a:p>
            <a:pPr marL="0" indent="0">
              <a:buNone/>
            </a:pPr>
            <a:r>
              <a:rPr lang="en-US" sz="1250">
                <a:solidFill>
                  <a:srgbClr val="242424"/>
                </a:solidFill>
                <a:latin typeface="Segoe UI" pitchFamily="34" charset="0"/>
                <a:ea typeface="Segoe UI" pitchFamily="34" charset="-122"/>
                <a:cs typeface="Segoe UI" pitchFamily="34" charset="-120"/>
              </a:rPr>
              <a:t>Frozen Python locks and npm ci</a:t>
            </a:r>
            <a:endParaRPr lang="en-US" sz="1250" dirty="0"/>
          </a:p>
        </p:txBody>
      </p:sp>
      <p:sp>
        <p:nvSpPr>
          <p:cNvPr id="26" name="Shape 24"/>
          <p:cNvSpPr/>
          <p:nvPr/>
        </p:nvSpPr>
        <p:spPr>
          <a:xfrm>
            <a:off x="6163056" y="3785616"/>
            <a:ext cx="100584" cy="100584"/>
          </a:xfrm>
          <a:prstGeom prst="ellipse">
            <a:avLst/>
          </a:prstGeom>
          <a:solidFill>
            <a:srgbClr val="4B44E0"/>
          </a:solidFill>
          <a:ln/>
        </p:spPr>
        <p:txBody>
          <a:bodyPr/>
          <a:lstStyle/>
          <a:p>
            <a:endParaRPr lang="en-US"/>
          </a:p>
        </p:txBody>
      </p:sp>
      <p:sp>
        <p:nvSpPr>
          <p:cNvPr id="27" name="Text 25"/>
          <p:cNvSpPr/>
          <p:nvPr/>
        </p:nvSpPr>
        <p:spPr>
          <a:xfrm>
            <a:off x="6419088" y="3685032"/>
            <a:ext cx="4910328" cy="384048"/>
          </a:xfrm>
          <a:prstGeom prst="rect">
            <a:avLst/>
          </a:prstGeom>
          <a:noFill/>
          <a:ln/>
        </p:spPr>
        <p:txBody>
          <a:bodyPr wrap="square" lIns="0" tIns="0" rIns="0" bIns="0" rtlCol="0" anchor="ctr"/>
          <a:lstStyle/>
          <a:p>
            <a:pPr marL="0" indent="0">
              <a:buNone/>
            </a:pPr>
            <a:r>
              <a:rPr lang="en-US" sz="1250">
                <a:solidFill>
                  <a:srgbClr val="242424"/>
                </a:solidFill>
                <a:latin typeface="Segoe UI" pitchFamily="34" charset="0"/>
                <a:ea typeface="Segoe UI" pitchFamily="34" charset="-122"/>
                <a:cs typeface="Segoe UI" pitchFamily="34" charset="-120"/>
              </a:rPr>
              <a:t>Review Bicep, schemas and skills</a:t>
            </a:r>
            <a:endParaRPr lang="en-US" sz="1250" dirty="0"/>
          </a:p>
        </p:txBody>
      </p:sp>
      <p:sp>
        <p:nvSpPr>
          <p:cNvPr id="28" name="Shape 26"/>
          <p:cNvSpPr/>
          <p:nvPr/>
        </p:nvSpPr>
        <p:spPr>
          <a:xfrm>
            <a:off x="6163056" y="4206240"/>
            <a:ext cx="100584" cy="100584"/>
          </a:xfrm>
          <a:prstGeom prst="ellipse">
            <a:avLst/>
          </a:prstGeom>
          <a:solidFill>
            <a:srgbClr val="4B44E0"/>
          </a:solidFill>
          <a:ln/>
        </p:spPr>
        <p:txBody>
          <a:bodyPr/>
          <a:lstStyle/>
          <a:p>
            <a:endParaRPr lang="en-US"/>
          </a:p>
        </p:txBody>
      </p:sp>
      <p:sp>
        <p:nvSpPr>
          <p:cNvPr id="29" name="Text 27"/>
          <p:cNvSpPr/>
          <p:nvPr/>
        </p:nvSpPr>
        <p:spPr>
          <a:xfrm>
            <a:off x="6419088" y="4105656"/>
            <a:ext cx="4910328" cy="384048"/>
          </a:xfrm>
          <a:prstGeom prst="rect">
            <a:avLst/>
          </a:prstGeom>
          <a:noFill/>
          <a:ln/>
        </p:spPr>
        <p:txBody>
          <a:bodyPr wrap="square" lIns="0" tIns="0" rIns="0" bIns="0" rtlCol="0" anchor="ctr"/>
          <a:lstStyle/>
          <a:p>
            <a:pPr marL="0" indent="0">
              <a:buNone/>
            </a:pPr>
            <a:r>
              <a:rPr lang="en-US" sz="1250">
                <a:solidFill>
                  <a:srgbClr val="242424"/>
                </a:solidFill>
                <a:latin typeface="Segoe UI" pitchFamily="34" charset="0"/>
                <a:ea typeface="Segoe UI" pitchFamily="34" charset="-122"/>
                <a:cs typeface="Segoe UI" pitchFamily="34" charset="-120"/>
              </a:rPr>
              <a:t>Verify access and real tool calls</a:t>
            </a:r>
            <a:endParaRPr lang="en-US" sz="1250" dirty="0"/>
          </a:p>
        </p:txBody>
      </p:sp>
      <p:sp>
        <p:nvSpPr>
          <p:cNvPr id="30" name="Shape 28"/>
          <p:cNvSpPr/>
          <p:nvPr/>
        </p:nvSpPr>
        <p:spPr>
          <a:xfrm>
            <a:off x="548640" y="4956048"/>
            <a:ext cx="3538728" cy="1097280"/>
          </a:xfrm>
          <a:prstGeom prst="roundRect">
            <a:avLst>
              <a:gd name="adj" fmla="val 7500"/>
            </a:avLst>
          </a:prstGeom>
          <a:solidFill>
            <a:srgbClr val="ECEAFB"/>
          </a:solidFill>
          <a:ln/>
        </p:spPr>
        <p:txBody>
          <a:bodyPr/>
          <a:lstStyle/>
          <a:p>
            <a:endParaRPr lang="en-US"/>
          </a:p>
        </p:txBody>
      </p:sp>
      <p:sp>
        <p:nvSpPr>
          <p:cNvPr id="31" name="Text 29"/>
          <p:cNvSpPr/>
          <p:nvPr/>
        </p:nvSpPr>
        <p:spPr>
          <a:xfrm>
            <a:off x="822960" y="4956048"/>
            <a:ext cx="1371600" cy="1097280"/>
          </a:xfrm>
          <a:prstGeom prst="rect">
            <a:avLst/>
          </a:prstGeom>
          <a:noFill/>
          <a:ln/>
        </p:spPr>
        <p:txBody>
          <a:bodyPr wrap="square" lIns="0" tIns="0" rIns="0" bIns="0" rtlCol="0" anchor="ctr"/>
          <a:lstStyle/>
          <a:p>
            <a:pPr marL="0" indent="0" algn="l">
              <a:buNone/>
            </a:pPr>
            <a:r>
              <a:rPr lang="en-US" sz="1500">
                <a:solidFill>
                  <a:srgbClr val="4B44E0"/>
                </a:solidFill>
                <a:latin typeface="Segoe UI Semibold" pitchFamily="34" charset="0"/>
                <a:ea typeface="Segoe UI Semibold" pitchFamily="34" charset="-122"/>
                <a:cs typeface="Segoe UI Semibold" pitchFamily="34" charset="-120"/>
              </a:rPr>
              <a:t>BUILD</a:t>
            </a:r>
            <a:endParaRPr lang="en-US" sz="1500" dirty="0"/>
          </a:p>
        </p:txBody>
      </p:sp>
      <p:sp>
        <p:nvSpPr>
          <p:cNvPr id="32" name="Text 30"/>
          <p:cNvSpPr/>
          <p:nvPr/>
        </p:nvSpPr>
        <p:spPr>
          <a:xfrm>
            <a:off x="2011680" y="4956048"/>
            <a:ext cx="1847088" cy="1097280"/>
          </a:xfrm>
          <a:prstGeom prst="rect">
            <a:avLst/>
          </a:prstGeom>
          <a:noFill/>
          <a:ln/>
        </p:spPr>
        <p:txBody>
          <a:bodyPr wrap="square" lIns="0" tIns="0" rIns="0" bIns="0" rtlCol="0" anchor="ctr"/>
          <a:lstStyle/>
          <a:p>
            <a:pPr marL="0" indent="0">
              <a:lnSpc>
                <a:spcPct val="105000"/>
              </a:lnSpc>
              <a:buNone/>
            </a:pPr>
            <a:r>
              <a:rPr lang="en-US" sz="1200">
                <a:solidFill>
                  <a:srgbClr val="33333A"/>
                </a:solidFill>
                <a:latin typeface="Segoe UI" pitchFamily="34" charset="0"/>
                <a:ea typeface="Segoe UI" pitchFamily="34" charset="-122"/>
                <a:cs typeface="Segoe UI" pitchFamily="34" charset="-120"/>
              </a:rPr>
              <a:t>Publish all five ACA images</a:t>
            </a:r>
            <a:endParaRPr lang="en-US" sz="1200" dirty="0"/>
          </a:p>
        </p:txBody>
      </p:sp>
      <p:sp>
        <p:nvSpPr>
          <p:cNvPr id="33" name="Shape 31"/>
          <p:cNvSpPr/>
          <p:nvPr/>
        </p:nvSpPr>
        <p:spPr>
          <a:xfrm>
            <a:off x="4320540" y="4956048"/>
            <a:ext cx="3538728" cy="1097280"/>
          </a:xfrm>
          <a:prstGeom prst="roundRect">
            <a:avLst>
              <a:gd name="adj" fmla="val 7500"/>
            </a:avLst>
          </a:prstGeom>
          <a:solidFill>
            <a:srgbClr val="ECEAFB"/>
          </a:solidFill>
          <a:ln/>
        </p:spPr>
        <p:txBody>
          <a:bodyPr/>
          <a:lstStyle/>
          <a:p>
            <a:endParaRPr lang="en-US"/>
          </a:p>
        </p:txBody>
      </p:sp>
      <p:sp>
        <p:nvSpPr>
          <p:cNvPr id="34" name="Text 32"/>
          <p:cNvSpPr/>
          <p:nvPr/>
        </p:nvSpPr>
        <p:spPr>
          <a:xfrm>
            <a:off x="4594860" y="4956048"/>
            <a:ext cx="1371600" cy="1097280"/>
          </a:xfrm>
          <a:prstGeom prst="rect">
            <a:avLst/>
          </a:prstGeom>
          <a:noFill/>
          <a:ln/>
        </p:spPr>
        <p:txBody>
          <a:bodyPr wrap="square" lIns="0" tIns="0" rIns="0" bIns="0" rtlCol="0" anchor="ctr"/>
          <a:lstStyle/>
          <a:p>
            <a:pPr marL="0" indent="0" algn="l">
              <a:buNone/>
            </a:pPr>
            <a:r>
              <a:rPr lang="en-US" sz="1500">
                <a:solidFill>
                  <a:srgbClr val="4B44E0"/>
                </a:solidFill>
                <a:latin typeface="Segoe UI Semibold" pitchFamily="34" charset="0"/>
                <a:ea typeface="Segoe UI Semibold" pitchFamily="34" charset="-122"/>
                <a:cs typeface="Segoe UI Semibold" pitchFamily="34" charset="-120"/>
              </a:rPr>
              <a:t>APPLY</a:t>
            </a:r>
            <a:endParaRPr lang="en-US" sz="1500" dirty="0"/>
          </a:p>
        </p:txBody>
      </p:sp>
      <p:sp>
        <p:nvSpPr>
          <p:cNvPr id="35" name="Text 33"/>
          <p:cNvSpPr/>
          <p:nvPr/>
        </p:nvSpPr>
        <p:spPr>
          <a:xfrm>
            <a:off x="5783580" y="4956048"/>
            <a:ext cx="1847088" cy="1097280"/>
          </a:xfrm>
          <a:prstGeom prst="rect">
            <a:avLst/>
          </a:prstGeom>
          <a:noFill/>
          <a:ln/>
        </p:spPr>
        <p:txBody>
          <a:bodyPr wrap="square" lIns="0" tIns="0" rIns="0" bIns="0" rtlCol="0" anchor="ctr"/>
          <a:lstStyle/>
          <a:p>
            <a:pPr marL="0" indent="0">
              <a:lnSpc>
                <a:spcPct val="105000"/>
              </a:lnSpc>
              <a:buNone/>
            </a:pPr>
            <a:r>
              <a:rPr lang="en-US" sz="1200">
                <a:solidFill>
                  <a:srgbClr val="33333A"/>
                </a:solidFill>
                <a:latin typeface="Segoe UI" pitchFamily="34" charset="0"/>
                <a:ea typeface="Segoe UI" pitchFamily="34" charset="-122"/>
                <a:cs typeface="Segoe UI" pitchFamily="34" charset="-120"/>
              </a:rPr>
              <a:t>Provision ports and probes</a:t>
            </a:r>
            <a:endParaRPr lang="en-US" sz="1200" dirty="0"/>
          </a:p>
        </p:txBody>
      </p:sp>
      <p:sp>
        <p:nvSpPr>
          <p:cNvPr id="36" name="Shape 34"/>
          <p:cNvSpPr/>
          <p:nvPr/>
        </p:nvSpPr>
        <p:spPr>
          <a:xfrm>
            <a:off x="8092440" y="4956048"/>
            <a:ext cx="3538728" cy="1097280"/>
          </a:xfrm>
          <a:prstGeom prst="roundRect">
            <a:avLst>
              <a:gd name="adj" fmla="val 7500"/>
            </a:avLst>
          </a:prstGeom>
          <a:solidFill>
            <a:srgbClr val="ECEAFB"/>
          </a:solidFill>
          <a:ln/>
        </p:spPr>
        <p:txBody>
          <a:bodyPr/>
          <a:lstStyle/>
          <a:p>
            <a:endParaRPr lang="en-US"/>
          </a:p>
        </p:txBody>
      </p:sp>
      <p:sp>
        <p:nvSpPr>
          <p:cNvPr id="37" name="Text 35"/>
          <p:cNvSpPr/>
          <p:nvPr/>
        </p:nvSpPr>
        <p:spPr>
          <a:xfrm>
            <a:off x="8366760" y="4956048"/>
            <a:ext cx="1371600" cy="1097280"/>
          </a:xfrm>
          <a:prstGeom prst="rect">
            <a:avLst/>
          </a:prstGeom>
          <a:noFill/>
          <a:ln/>
        </p:spPr>
        <p:txBody>
          <a:bodyPr wrap="square" lIns="0" tIns="0" rIns="0" bIns="0" rtlCol="0" anchor="ctr"/>
          <a:lstStyle/>
          <a:p>
            <a:pPr marL="0" indent="0" algn="l">
              <a:buNone/>
            </a:pPr>
            <a:r>
              <a:rPr lang="en-US" sz="1500">
                <a:solidFill>
                  <a:srgbClr val="4B44E0"/>
                </a:solidFill>
                <a:latin typeface="Segoe UI Semibold" pitchFamily="34" charset="0"/>
                <a:ea typeface="Segoe UI Semibold" pitchFamily="34" charset="-122"/>
                <a:cs typeface="Segoe UI Semibold" pitchFamily="34" charset="-120"/>
              </a:rPr>
              <a:t>ACCEPT</a:t>
            </a:r>
            <a:endParaRPr lang="en-US" sz="1500" dirty="0"/>
          </a:p>
        </p:txBody>
      </p:sp>
      <p:sp>
        <p:nvSpPr>
          <p:cNvPr id="38" name="Text 36"/>
          <p:cNvSpPr/>
          <p:nvPr/>
        </p:nvSpPr>
        <p:spPr>
          <a:xfrm>
            <a:off x="9555480" y="4956048"/>
            <a:ext cx="1847088" cy="1097280"/>
          </a:xfrm>
          <a:prstGeom prst="rect">
            <a:avLst/>
          </a:prstGeom>
          <a:noFill/>
          <a:ln/>
        </p:spPr>
        <p:txBody>
          <a:bodyPr wrap="square" lIns="0" tIns="0" rIns="0" bIns="0" rtlCol="0" anchor="ctr"/>
          <a:lstStyle/>
          <a:p>
            <a:pPr marL="0" indent="0">
              <a:lnSpc>
                <a:spcPct val="105000"/>
              </a:lnSpc>
              <a:buNone/>
            </a:pPr>
            <a:r>
              <a:rPr lang="en-US" sz="1200">
                <a:solidFill>
                  <a:srgbClr val="33333A"/>
                </a:solidFill>
                <a:latin typeface="Segoe UI" pitchFamily="34" charset="0"/>
                <a:ea typeface="Segoe UI" pitchFamily="34" charset="-122"/>
                <a:cs typeface="Segoe UI" pitchFamily="34" charset="-120"/>
              </a:rPr>
              <a:t>Test tools, chat and telemetry</a:t>
            </a:r>
            <a:endParaRPr lang="en-US" sz="1200" dirty="0"/>
          </a:p>
        </p:txBody>
      </p:sp>
      <p:sp>
        <p:nvSpPr>
          <p:cNvPr id="39" name="Text 37"/>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Tree>
    <p:extLst>
      <p:ext uri="{BB962C8B-B14F-4D97-AF65-F5344CB8AC3E}">
        <p14:creationId xmlns:p14="http://schemas.microsoft.com/office/powerpoint/2010/main" val="4284678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rtlCol="0" anchor="ctr"/>
          <a:lstStyle/>
          <a:p>
            <a:pPr marL="0" indent="0" algn="l">
              <a:buNone/>
            </a:pPr>
            <a:r>
              <a:rPr lang="en-US" sz="3400">
                <a:solidFill>
                  <a:srgbClr val="242424"/>
                </a:solidFill>
                <a:latin typeface="Segoe UI Light" pitchFamily="34" charset="0"/>
                <a:ea typeface="Segoe UI Light" pitchFamily="34" charset="-122"/>
                <a:cs typeface="Segoe UI Light" pitchFamily="34" charset="-120"/>
              </a:rPr>
              <a:t>Before scale: close the application gaps</a:t>
            </a:r>
            <a:endParaRPr lang="en-US" sz="3400" dirty="0"/>
          </a:p>
        </p:txBody>
      </p:sp>
      <p:sp>
        <p:nvSpPr>
          <p:cNvPr id="4" name="Shape 1"/>
          <p:cNvSpPr/>
          <p:nvPr/>
        </p:nvSpPr>
        <p:spPr>
          <a:xfrm>
            <a:off x="548640" y="4343400"/>
            <a:ext cx="2688336" cy="1783080"/>
          </a:xfrm>
          <a:prstGeom prst="roundRect">
            <a:avLst>
              <a:gd name="adj" fmla="val 5128"/>
            </a:avLst>
          </a:prstGeom>
          <a:solidFill>
            <a:srgbClr val="ECEAFB"/>
          </a:solidFill>
          <a:ln/>
        </p:spPr>
        <p:txBody>
          <a:bodyPr/>
          <a:lstStyle/>
          <a:p>
            <a:endParaRPr lang="en-US"/>
          </a:p>
        </p:txBody>
      </p:sp>
      <p:sp>
        <p:nvSpPr>
          <p:cNvPr id="5" name="Text 2"/>
          <p:cNvSpPr/>
          <p:nvPr/>
        </p:nvSpPr>
        <p:spPr>
          <a:xfrm>
            <a:off x="841248" y="4526280"/>
            <a:ext cx="2139696" cy="685800"/>
          </a:xfrm>
          <a:prstGeom prst="rect">
            <a:avLst/>
          </a:prstGeom>
          <a:noFill/>
          <a:ln/>
        </p:spPr>
        <p:txBody>
          <a:bodyPr wrap="square" lIns="0" tIns="0" rIns="0" bIns="0" rtlCol="0" anchor="ctr"/>
          <a:lstStyle/>
          <a:p>
            <a:pPr marL="0" indent="0">
              <a:buNone/>
            </a:pPr>
            <a:r>
              <a:rPr lang="en-US" sz="4000">
                <a:solidFill>
                  <a:srgbClr val="4B44E0"/>
                </a:solidFill>
                <a:latin typeface="Segoe UI Light" pitchFamily="34" charset="0"/>
                <a:ea typeface="Segoe UI Light" pitchFamily="34" charset="-122"/>
                <a:cs typeface="Segoe UI Light" pitchFamily="34" charset="-120"/>
              </a:rPr>
              <a:t>STATE</a:t>
            </a:r>
            <a:endParaRPr lang="en-US" sz="4000" dirty="0"/>
          </a:p>
        </p:txBody>
      </p:sp>
      <p:sp>
        <p:nvSpPr>
          <p:cNvPr id="6" name="Text 3"/>
          <p:cNvSpPr/>
          <p:nvPr/>
        </p:nvSpPr>
        <p:spPr>
          <a:xfrm>
            <a:off x="859536" y="5257800"/>
            <a:ext cx="2139696" cy="320040"/>
          </a:xfrm>
          <a:prstGeom prst="rect">
            <a:avLst/>
          </a:prstGeom>
          <a:noFill/>
          <a:ln/>
        </p:spPr>
        <p:txBody>
          <a:bodyPr wrap="square" lIns="0" tIns="0" rIns="0" bIns="0" rtlCol="0" anchor="ctr"/>
          <a:lstStyle/>
          <a:p>
            <a:pPr marL="0" indent="0">
              <a:buNone/>
            </a:pPr>
            <a:r>
              <a:rPr lang="en-US" sz="1400">
                <a:solidFill>
                  <a:srgbClr val="242424"/>
                </a:solidFill>
                <a:latin typeface="Segoe UI Semibold" pitchFamily="34" charset="0"/>
                <a:ea typeface="Segoe UI Semibold" pitchFamily="34" charset="-122"/>
                <a:cs typeface="Segoe UI Semibold" pitchFamily="34" charset="-120"/>
              </a:rPr>
              <a:t>Durability</a:t>
            </a:r>
            <a:endParaRPr lang="en-US" sz="1400" dirty="0"/>
          </a:p>
        </p:txBody>
      </p:sp>
      <p:sp>
        <p:nvSpPr>
          <p:cNvPr id="7" name="Text 4"/>
          <p:cNvSpPr/>
          <p:nvPr/>
        </p:nvSpPr>
        <p:spPr>
          <a:xfrm>
            <a:off x="859536" y="5577840"/>
            <a:ext cx="2185416" cy="457200"/>
          </a:xfrm>
          <a:prstGeom prst="rect">
            <a:avLst/>
          </a:prstGeom>
          <a:noFill/>
          <a:ln/>
        </p:spPr>
        <p:txBody>
          <a:bodyPr wrap="square" lIns="0" tIns="0" rIns="0" bIns="0" rtlCol="0" anchor="ctr"/>
          <a:lstStyle/>
          <a:p>
            <a:pPr marL="0" indent="0">
              <a:lnSpc>
                <a:spcPct val="100000"/>
              </a:lnSpc>
              <a:buNone/>
            </a:pPr>
            <a:r>
              <a:rPr lang="en-US" sz="1100">
                <a:solidFill>
                  <a:srgbClr val="6B6B75"/>
                </a:solidFill>
                <a:latin typeface="Segoe UI" pitchFamily="34" charset="0"/>
                <a:ea typeface="Segoe UI" pitchFamily="34" charset="-122"/>
                <a:cs typeface="Segoe UI" pitchFamily="34" charset="-120"/>
              </a:rPr>
              <a:t>Externalize sessions and orders before adding replicas</a:t>
            </a:r>
            <a:endParaRPr lang="en-US" sz="1100" dirty="0"/>
          </a:p>
        </p:txBody>
      </p:sp>
      <p:sp>
        <p:nvSpPr>
          <p:cNvPr id="8" name="Shape 5"/>
          <p:cNvSpPr/>
          <p:nvPr/>
        </p:nvSpPr>
        <p:spPr>
          <a:xfrm>
            <a:off x="3410712" y="4343400"/>
            <a:ext cx="2688336" cy="1783080"/>
          </a:xfrm>
          <a:prstGeom prst="roundRect">
            <a:avLst>
              <a:gd name="adj" fmla="val 5128"/>
            </a:avLst>
          </a:prstGeom>
          <a:solidFill>
            <a:srgbClr val="ECEAFB"/>
          </a:solidFill>
          <a:ln/>
        </p:spPr>
        <p:txBody>
          <a:bodyPr/>
          <a:lstStyle/>
          <a:p>
            <a:endParaRPr lang="en-US"/>
          </a:p>
        </p:txBody>
      </p:sp>
      <p:sp>
        <p:nvSpPr>
          <p:cNvPr id="9" name="Text 6"/>
          <p:cNvSpPr/>
          <p:nvPr/>
        </p:nvSpPr>
        <p:spPr>
          <a:xfrm>
            <a:off x="3703320" y="4526280"/>
            <a:ext cx="2139696" cy="685800"/>
          </a:xfrm>
          <a:prstGeom prst="rect">
            <a:avLst/>
          </a:prstGeom>
          <a:noFill/>
          <a:ln/>
        </p:spPr>
        <p:txBody>
          <a:bodyPr wrap="square" lIns="0" tIns="0" rIns="0" bIns="0" rtlCol="0" anchor="ctr"/>
          <a:lstStyle/>
          <a:p>
            <a:pPr marL="0" indent="0">
              <a:buNone/>
            </a:pPr>
            <a:r>
              <a:rPr lang="en-US" sz="4000">
                <a:solidFill>
                  <a:srgbClr val="4B44E0"/>
                </a:solidFill>
                <a:latin typeface="Segoe UI Light" pitchFamily="34" charset="0"/>
                <a:ea typeface="Segoe UI Light" pitchFamily="34" charset="-122"/>
                <a:cs typeface="Segoe UI Light" pitchFamily="34" charset="-120"/>
              </a:rPr>
              <a:t>AUTH</a:t>
            </a:r>
            <a:endParaRPr lang="en-US" sz="4000" dirty="0"/>
          </a:p>
        </p:txBody>
      </p:sp>
      <p:sp>
        <p:nvSpPr>
          <p:cNvPr id="10" name="Text 7"/>
          <p:cNvSpPr/>
          <p:nvPr/>
        </p:nvSpPr>
        <p:spPr>
          <a:xfrm>
            <a:off x="3721608" y="5257800"/>
            <a:ext cx="2139696" cy="320040"/>
          </a:xfrm>
          <a:prstGeom prst="rect">
            <a:avLst/>
          </a:prstGeom>
          <a:noFill/>
          <a:ln/>
        </p:spPr>
        <p:txBody>
          <a:bodyPr wrap="square" lIns="0" tIns="0" rIns="0" bIns="0" rtlCol="0" anchor="ctr"/>
          <a:lstStyle/>
          <a:p>
            <a:pPr marL="0" indent="0">
              <a:buNone/>
            </a:pPr>
            <a:r>
              <a:rPr lang="en-US" sz="1400">
                <a:solidFill>
                  <a:srgbClr val="242424"/>
                </a:solidFill>
                <a:latin typeface="Segoe UI Semibold" pitchFamily="34" charset="0"/>
                <a:ea typeface="Segoe UI Semibold" pitchFamily="34" charset="-122"/>
                <a:cs typeface="Segoe UI Semibold" pitchFamily="34" charset="-120"/>
              </a:rPr>
              <a:t>Ownership</a:t>
            </a:r>
            <a:endParaRPr lang="en-US" sz="1400" dirty="0"/>
          </a:p>
        </p:txBody>
      </p:sp>
      <p:sp>
        <p:nvSpPr>
          <p:cNvPr id="11" name="Text 8"/>
          <p:cNvSpPr/>
          <p:nvPr/>
        </p:nvSpPr>
        <p:spPr>
          <a:xfrm>
            <a:off x="3721608" y="5577840"/>
            <a:ext cx="2185416" cy="457200"/>
          </a:xfrm>
          <a:prstGeom prst="rect">
            <a:avLst/>
          </a:prstGeom>
          <a:noFill/>
          <a:ln/>
        </p:spPr>
        <p:txBody>
          <a:bodyPr wrap="square" lIns="0" tIns="0" rIns="0" bIns="0" rtlCol="0" anchor="ctr"/>
          <a:lstStyle/>
          <a:p>
            <a:pPr marL="0" indent="0">
              <a:lnSpc>
                <a:spcPct val="100000"/>
              </a:lnSpc>
              <a:buNone/>
            </a:pPr>
            <a:r>
              <a:rPr lang="en-US" sz="1100">
                <a:solidFill>
                  <a:srgbClr val="6B6B75"/>
                </a:solidFill>
                <a:latin typeface="Segoe UI" pitchFamily="34" charset="0"/>
                <a:ea typeface="Segoe UI" pitchFamily="34" charset="-122"/>
                <a:cs typeface="Segoe UI" pitchFamily="34" charset="-120"/>
              </a:rPr>
              <a:t>Bind sessions and permitted actions to the signed-in user</a:t>
            </a:r>
            <a:endParaRPr lang="en-US" sz="1100" dirty="0"/>
          </a:p>
        </p:txBody>
      </p:sp>
      <p:sp>
        <p:nvSpPr>
          <p:cNvPr id="12" name="Shape 9"/>
          <p:cNvSpPr/>
          <p:nvPr/>
        </p:nvSpPr>
        <p:spPr>
          <a:xfrm>
            <a:off x="6272784" y="4343400"/>
            <a:ext cx="2688336" cy="1783080"/>
          </a:xfrm>
          <a:prstGeom prst="roundRect">
            <a:avLst>
              <a:gd name="adj" fmla="val 5128"/>
            </a:avLst>
          </a:prstGeom>
          <a:solidFill>
            <a:srgbClr val="ECEAFB"/>
          </a:solidFill>
          <a:ln/>
        </p:spPr>
        <p:txBody>
          <a:bodyPr/>
          <a:lstStyle/>
          <a:p>
            <a:endParaRPr lang="en-US"/>
          </a:p>
        </p:txBody>
      </p:sp>
      <p:sp>
        <p:nvSpPr>
          <p:cNvPr id="13" name="Text 10"/>
          <p:cNvSpPr/>
          <p:nvPr/>
        </p:nvSpPr>
        <p:spPr>
          <a:xfrm>
            <a:off x="6565392" y="4526280"/>
            <a:ext cx="2139696" cy="685800"/>
          </a:xfrm>
          <a:prstGeom prst="rect">
            <a:avLst/>
          </a:prstGeom>
          <a:noFill/>
          <a:ln/>
        </p:spPr>
        <p:txBody>
          <a:bodyPr wrap="square" lIns="0" tIns="0" rIns="0" bIns="0" rtlCol="0" anchor="ctr"/>
          <a:lstStyle/>
          <a:p>
            <a:pPr marL="0" indent="0">
              <a:buNone/>
            </a:pPr>
            <a:r>
              <a:rPr lang="en-US" sz="4000">
                <a:solidFill>
                  <a:srgbClr val="4B44E0"/>
                </a:solidFill>
                <a:latin typeface="Segoe UI Light" pitchFamily="34" charset="0"/>
                <a:ea typeface="Segoe UI Light" pitchFamily="34" charset="-122"/>
                <a:cs typeface="Segoe UI Light" pitchFamily="34" charset="-120"/>
              </a:rPr>
              <a:t>WRITE</a:t>
            </a:r>
            <a:endParaRPr lang="en-US" sz="4000" dirty="0"/>
          </a:p>
        </p:txBody>
      </p:sp>
      <p:sp>
        <p:nvSpPr>
          <p:cNvPr id="14" name="Text 11"/>
          <p:cNvSpPr/>
          <p:nvPr/>
        </p:nvSpPr>
        <p:spPr>
          <a:xfrm>
            <a:off x="6583680" y="5257800"/>
            <a:ext cx="2139696" cy="320040"/>
          </a:xfrm>
          <a:prstGeom prst="rect">
            <a:avLst/>
          </a:prstGeom>
          <a:noFill/>
          <a:ln/>
        </p:spPr>
        <p:txBody>
          <a:bodyPr wrap="square" lIns="0" tIns="0" rIns="0" bIns="0" rtlCol="0" anchor="ctr"/>
          <a:lstStyle/>
          <a:p>
            <a:pPr marL="0" indent="0">
              <a:buNone/>
            </a:pPr>
            <a:r>
              <a:rPr lang="en-US" sz="1400">
                <a:solidFill>
                  <a:srgbClr val="242424"/>
                </a:solidFill>
                <a:latin typeface="Segoe UI Semibold" pitchFamily="34" charset="0"/>
                <a:ea typeface="Segoe UI Semibold" pitchFamily="34" charset="-122"/>
                <a:cs typeface="Segoe UI Semibold" pitchFamily="34" charset="-120"/>
              </a:rPr>
              <a:t>Approval</a:t>
            </a:r>
            <a:endParaRPr lang="en-US" sz="1400" dirty="0"/>
          </a:p>
        </p:txBody>
      </p:sp>
      <p:sp>
        <p:nvSpPr>
          <p:cNvPr id="3" name="Text 12"/>
          <p:cNvSpPr/>
          <p:nvPr/>
        </p:nvSpPr>
        <p:spPr>
          <a:xfrm>
            <a:off x="6583680" y="5577840"/>
            <a:ext cx="2185416" cy="457200"/>
          </a:xfrm>
          <a:prstGeom prst="rect">
            <a:avLst/>
          </a:prstGeom>
          <a:noFill/>
          <a:ln/>
        </p:spPr>
        <p:txBody>
          <a:bodyPr wrap="square" lIns="0" tIns="0" rIns="0" bIns="0" rtlCol="0" anchor="ctr"/>
          <a:lstStyle/>
          <a:p>
            <a:pPr marL="0" indent="0">
              <a:lnSpc>
                <a:spcPct val="100000"/>
              </a:lnSpc>
              <a:buNone/>
            </a:pPr>
            <a:r>
              <a:rPr lang="en-US" sz="1100">
                <a:solidFill>
                  <a:srgbClr val="6B6B75"/>
                </a:solidFill>
                <a:latin typeface="Segoe UI" pitchFamily="34" charset="0"/>
                <a:ea typeface="Segoe UI" pitchFamily="34" charset="-122"/>
                <a:cs typeface="Segoe UI" pitchFamily="34" charset="-120"/>
              </a:rPr>
              <a:t>Approve exact arguments; audit and make writes idempotent</a:t>
            </a:r>
            <a:endParaRPr lang="en-US" sz="1100" dirty="0"/>
          </a:p>
        </p:txBody>
      </p:sp>
      <p:sp>
        <p:nvSpPr>
          <p:cNvPr id="16" name="Shape 13"/>
          <p:cNvSpPr/>
          <p:nvPr/>
        </p:nvSpPr>
        <p:spPr>
          <a:xfrm>
            <a:off x="9134856" y="4343400"/>
            <a:ext cx="2688336" cy="1783080"/>
          </a:xfrm>
          <a:prstGeom prst="roundRect">
            <a:avLst>
              <a:gd name="adj" fmla="val 5128"/>
            </a:avLst>
          </a:prstGeom>
          <a:solidFill>
            <a:srgbClr val="ECEAFB"/>
          </a:solidFill>
          <a:ln/>
        </p:spPr>
        <p:txBody>
          <a:bodyPr/>
          <a:lstStyle/>
          <a:p>
            <a:endParaRPr lang="en-US"/>
          </a:p>
        </p:txBody>
      </p:sp>
      <p:sp>
        <p:nvSpPr>
          <p:cNvPr id="17" name="Text 14"/>
          <p:cNvSpPr/>
          <p:nvPr/>
        </p:nvSpPr>
        <p:spPr>
          <a:xfrm>
            <a:off x="9427464" y="4526280"/>
            <a:ext cx="2139696" cy="685800"/>
          </a:xfrm>
          <a:prstGeom prst="rect">
            <a:avLst/>
          </a:prstGeom>
          <a:noFill/>
          <a:ln/>
        </p:spPr>
        <p:txBody>
          <a:bodyPr wrap="square" lIns="0" tIns="0" rIns="0" bIns="0" rtlCol="0" anchor="ctr"/>
          <a:lstStyle/>
          <a:p>
            <a:pPr marL="0" indent="0">
              <a:buNone/>
            </a:pPr>
            <a:r>
              <a:rPr lang="en-US" sz="4000">
                <a:solidFill>
                  <a:srgbClr val="4B44E0"/>
                </a:solidFill>
                <a:latin typeface="Segoe UI Light" pitchFamily="34" charset="0"/>
                <a:ea typeface="Segoe UI Light" pitchFamily="34" charset="-122"/>
                <a:cs typeface="Segoe UI Light" pitchFamily="34" charset="-120"/>
              </a:rPr>
              <a:t>SLO</a:t>
            </a:r>
            <a:endParaRPr lang="en-US" sz="4000" dirty="0"/>
          </a:p>
        </p:txBody>
      </p:sp>
      <p:sp>
        <p:nvSpPr>
          <p:cNvPr id="18" name="Text 15"/>
          <p:cNvSpPr/>
          <p:nvPr/>
        </p:nvSpPr>
        <p:spPr>
          <a:xfrm>
            <a:off x="9445752" y="5257800"/>
            <a:ext cx="2139696" cy="320040"/>
          </a:xfrm>
          <a:prstGeom prst="rect">
            <a:avLst/>
          </a:prstGeom>
          <a:noFill/>
          <a:ln/>
        </p:spPr>
        <p:txBody>
          <a:bodyPr wrap="square" lIns="0" tIns="0" rIns="0" bIns="0" rtlCol="0" anchor="ctr"/>
          <a:lstStyle/>
          <a:p>
            <a:pPr marL="0" indent="0">
              <a:buNone/>
            </a:pPr>
            <a:r>
              <a:rPr lang="en-US" sz="1400">
                <a:solidFill>
                  <a:srgbClr val="242424"/>
                </a:solidFill>
                <a:latin typeface="Segoe UI Semibold" pitchFamily="34" charset="0"/>
                <a:ea typeface="Segoe UI Semibold" pitchFamily="34" charset="-122"/>
                <a:cs typeface="Segoe UI Semibold" pitchFamily="34" charset="-120"/>
              </a:rPr>
              <a:t>Reliability</a:t>
            </a:r>
            <a:endParaRPr lang="en-US" sz="1400" dirty="0"/>
          </a:p>
        </p:txBody>
      </p:sp>
      <p:sp>
        <p:nvSpPr>
          <p:cNvPr id="19" name="Text 16"/>
          <p:cNvSpPr/>
          <p:nvPr/>
        </p:nvSpPr>
        <p:spPr>
          <a:xfrm>
            <a:off x="9445752" y="5577840"/>
            <a:ext cx="2185416" cy="457200"/>
          </a:xfrm>
          <a:prstGeom prst="rect">
            <a:avLst/>
          </a:prstGeom>
          <a:noFill/>
          <a:ln/>
        </p:spPr>
        <p:txBody>
          <a:bodyPr wrap="square" lIns="0" tIns="0" rIns="0" bIns="0" rtlCol="0" anchor="ctr"/>
          <a:lstStyle/>
          <a:p>
            <a:pPr marL="0" indent="0">
              <a:lnSpc>
                <a:spcPct val="100000"/>
              </a:lnSpc>
              <a:buNone/>
            </a:pPr>
            <a:r>
              <a:rPr lang="en-US" sz="1100">
                <a:solidFill>
                  <a:srgbClr val="6B6B75"/>
                </a:solidFill>
                <a:latin typeface="Segoe UI" pitchFamily="34" charset="0"/>
                <a:ea typeface="Segoe UI" pitchFamily="34" charset="-122"/>
                <a:cs typeface="Segoe UI" pitchFamily="34" charset="-120"/>
              </a:rPr>
              <a:t>Load-test budgets, monitor failures and rehearse recovery</a:t>
            </a:r>
            <a:endParaRPr lang="en-US" sz="1100" dirty="0"/>
          </a:p>
        </p:txBody>
      </p:sp>
      <p:sp>
        <p:nvSpPr>
          <p:cNvPr id="20" name="Text 17"/>
          <p:cNvSpPr/>
          <p:nvPr/>
        </p:nvSpPr>
        <p:spPr>
          <a:xfrm>
            <a:off x="502920" y="6492240"/>
            <a:ext cx="5486400" cy="274320"/>
          </a:xfrm>
          <a:prstGeom prst="rect">
            <a:avLst/>
          </a:prstGeom>
          <a:noFill/>
          <a:ln/>
        </p:spPr>
        <p:txBody>
          <a:bodyPr wrap="square" rtlCol="0" anchor="ctr"/>
          <a:lstStyle/>
          <a:p>
            <a:pPr marL="0" indent="0" algn="l">
              <a:buNone/>
            </a:pPr>
            <a:endParaRPr lang="en-US" sz="850" dirty="0"/>
          </a:p>
        </p:txBody>
      </p:sp>
      <p:sp>
        <p:nvSpPr>
          <p:cNvPr id="21" name="TextBox 20">
            <a:extLst>
              <a:ext uri="{FF2B5EF4-FFF2-40B4-BE49-F238E27FC236}">
                <a16:creationId xmlns:a16="http://schemas.microsoft.com/office/drawing/2014/main" id="{B7C7B5B4-2472-2D4F-CC9F-30771C725BE9}"/>
              </a:ext>
            </a:extLst>
          </p:cNvPr>
          <p:cNvSpPr txBox="1"/>
          <p:nvPr/>
        </p:nvSpPr>
        <p:spPr>
          <a:xfrm>
            <a:off x="571500" y="1524000"/>
            <a:ext cx="10795000" cy="646331"/>
          </a:xfrm>
          <a:prstGeom prst="rect">
            <a:avLst/>
          </a:prstGeom>
          <a:noFill/>
        </p:spPr>
        <p:txBody>
          <a:bodyPr vert="horz" rtlCol="0">
            <a:spAutoFit/>
          </a:bodyPr>
          <a:lstStyle/>
          <a:p>
            <a:r>
              <a:rPr lang="en-US">
                <a:solidFill>
                  <a:srgbClr val="444A5D"/>
                </a:solidFill>
                <a:latin typeface="Aptos" panose="020B0004020202020204" pitchFamily="34" charset="0"/>
              </a:rPr>
              <a:t>Managed hosted scaling does not remove the gateway and work-order service's in-memory, single-replica limits.</a:t>
            </a:r>
          </a:p>
        </p:txBody>
      </p:sp>
    </p:spTree>
    <p:extLst>
      <p:ext uri="{BB962C8B-B14F-4D97-AF65-F5344CB8AC3E}">
        <p14:creationId xmlns:p14="http://schemas.microsoft.com/office/powerpoint/2010/main" val="1450232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118872" cy="118872"/>
          </a:xfrm>
          <a:prstGeom prst="rect">
            <a:avLst/>
          </a:prstGeom>
          <a:solidFill>
            <a:srgbClr val="F25022"/>
          </a:solidFill>
          <a:ln/>
        </p:spPr>
        <p:txBody>
          <a:bodyPr/>
          <a:lstStyle/>
          <a:p>
            <a:endParaRPr lang="en-US"/>
          </a:p>
        </p:txBody>
      </p:sp>
      <p:sp>
        <p:nvSpPr>
          <p:cNvPr id="3" name="Shape 1"/>
          <p:cNvSpPr/>
          <p:nvPr/>
        </p:nvSpPr>
        <p:spPr>
          <a:xfrm>
            <a:off x="694944" y="502920"/>
            <a:ext cx="118872" cy="118872"/>
          </a:xfrm>
          <a:prstGeom prst="rect">
            <a:avLst/>
          </a:prstGeom>
          <a:solidFill>
            <a:srgbClr val="7FBA00"/>
          </a:solidFill>
          <a:ln/>
        </p:spPr>
        <p:txBody>
          <a:bodyPr/>
          <a:lstStyle/>
          <a:p>
            <a:endParaRPr lang="en-US"/>
          </a:p>
        </p:txBody>
      </p:sp>
      <p:sp>
        <p:nvSpPr>
          <p:cNvPr id="4" name="Shape 2"/>
          <p:cNvSpPr/>
          <p:nvPr/>
        </p:nvSpPr>
        <p:spPr>
          <a:xfrm>
            <a:off x="548640" y="649224"/>
            <a:ext cx="118872" cy="118872"/>
          </a:xfrm>
          <a:prstGeom prst="rect">
            <a:avLst/>
          </a:prstGeom>
          <a:solidFill>
            <a:srgbClr val="00A4EF"/>
          </a:solidFill>
          <a:ln/>
        </p:spPr>
        <p:txBody>
          <a:bodyPr/>
          <a:lstStyle/>
          <a:p>
            <a:endParaRPr lang="en-US"/>
          </a:p>
        </p:txBody>
      </p:sp>
      <p:sp>
        <p:nvSpPr>
          <p:cNvPr id="5" name="Shape 3"/>
          <p:cNvSpPr/>
          <p:nvPr/>
        </p:nvSpPr>
        <p:spPr>
          <a:xfrm>
            <a:off x="694944" y="649224"/>
            <a:ext cx="118872" cy="118872"/>
          </a:xfrm>
          <a:prstGeom prst="rect">
            <a:avLst/>
          </a:prstGeom>
          <a:solidFill>
            <a:srgbClr val="FFB900"/>
          </a:solidFill>
          <a:ln/>
        </p:spPr>
        <p:txBody>
          <a:bodyPr/>
          <a:lstStyle/>
          <a:p>
            <a:endParaRPr lang="en-US"/>
          </a:p>
        </p:txBody>
      </p:sp>
      <p:sp>
        <p:nvSpPr>
          <p:cNvPr id="6" name="Text 4"/>
          <p:cNvSpPr/>
          <p:nvPr/>
        </p:nvSpPr>
        <p:spPr>
          <a:xfrm>
            <a:off x="923544" y="448056"/>
            <a:ext cx="2926080" cy="365760"/>
          </a:xfrm>
          <a:prstGeom prst="rect">
            <a:avLst/>
          </a:prstGeom>
          <a:noFill/>
          <a:ln/>
        </p:spPr>
        <p:txBody>
          <a:bodyPr wrap="square" lIns="0" tIns="0" rIns="0" bIns="0" rtlCol="0" anchor="ctr"/>
          <a:lstStyle/>
          <a:p>
            <a:pPr marL="0" indent="0">
              <a:buNone/>
            </a:pPr>
            <a:r>
              <a:rPr lang="en-US" sz="1500" dirty="0">
                <a:solidFill>
                  <a:srgbClr val="595963"/>
                </a:solidFill>
                <a:latin typeface="Segoe UI Semibold" pitchFamily="34" charset="0"/>
                <a:ea typeface="Segoe UI Semibold" pitchFamily="34" charset="-122"/>
                <a:cs typeface="Segoe UI Semibold" pitchFamily="34" charset="-120"/>
              </a:rPr>
              <a:t>Microsoft Foundry</a:t>
            </a:r>
            <a:endParaRPr lang="en-US" sz="1500" dirty="0"/>
          </a:p>
        </p:txBody>
      </p:sp>
      <p:sp>
        <p:nvSpPr>
          <p:cNvPr id="7" name="Text 5"/>
          <p:cNvSpPr/>
          <p:nvPr/>
        </p:nvSpPr>
        <p:spPr>
          <a:xfrm>
            <a:off x="530352" y="1828800"/>
            <a:ext cx="10607040" cy="1371600"/>
          </a:xfrm>
          <a:prstGeom prst="rect">
            <a:avLst/>
          </a:prstGeom>
          <a:noFill/>
          <a:ln/>
        </p:spPr>
        <p:txBody>
          <a:bodyPr wrap="square" rtlCol="0" anchor="ctr"/>
          <a:lstStyle/>
          <a:p>
            <a:pPr marL="0" indent="0">
              <a:lnSpc>
                <a:spcPct val="98000"/>
              </a:lnSpc>
              <a:buNone/>
            </a:pPr>
            <a:r>
              <a:rPr lang="en-US" sz="3800">
                <a:solidFill>
                  <a:srgbClr val="242424"/>
                </a:solidFill>
                <a:latin typeface="Segoe UI Light" pitchFamily="34" charset="0"/>
                <a:ea typeface="Segoe UI Light" pitchFamily="34" charset="-122"/>
                <a:cs typeface="Segoe UI Light" pitchFamily="34" charset="-120"/>
              </a:rPr>
              <a:t>One useful workflow. Verified boundaries.</a:t>
            </a:r>
            <a:endParaRPr lang="en-US" sz="4400" dirty="0"/>
          </a:p>
        </p:txBody>
      </p:sp>
      <p:sp>
        <p:nvSpPr>
          <p:cNvPr id="8" name="Text 6"/>
          <p:cNvSpPr/>
          <p:nvPr/>
        </p:nvSpPr>
        <p:spPr>
          <a:xfrm>
            <a:off x="566928" y="3063240"/>
            <a:ext cx="8412480" cy="1737360"/>
          </a:xfrm>
          <a:prstGeom prst="rect">
            <a:avLst/>
          </a:prstGeom>
          <a:noFill/>
          <a:ln/>
        </p:spPr>
        <p:txBody>
          <a:bodyPr wrap="square" lIns="0" tIns="0" rIns="0" bIns="0" rtlCol="0" anchor="ctr"/>
          <a:lstStyle/>
          <a:p>
            <a:pPr marL="228600" indent="-228600">
              <a:spcAft>
                <a:spcPts val="800"/>
              </a:spcAft>
              <a:buSzPct val="100000"/>
              <a:buChar char="•"/>
            </a:pPr>
            <a:r>
              <a:rPr lang="en-US" sz="1500">
                <a:solidFill>
                  <a:srgbClr val="33333A"/>
                </a:solidFill>
                <a:latin typeface="Segoe UI" pitchFamily="34" charset="0"/>
                <a:ea typeface="Segoe UI" pitchFamily="34" charset="-122"/>
                <a:cs typeface="Segoe UI" pitchFamily="34" charset="-120"/>
              </a:rPr>
              <a:t>Design - one hosted agent, five skills and composable tool contracts</a:t>
            </a:r>
          </a:p>
          <a:p>
            <a:pPr marL="228600" indent="-228600">
              <a:spcAft>
                <a:spcPts val="800"/>
              </a:spcAft>
              <a:buSzPct val="100000"/>
              <a:buChar char="•"/>
            </a:pPr>
            <a:r>
              <a:rPr lang="en-US" sz="1500">
                <a:solidFill>
                  <a:srgbClr val="33333A"/>
                </a:solidFill>
                <a:latin typeface="Segoe UI" pitchFamily="34" charset="0"/>
                <a:ea typeface="Segoe UI" pitchFamily="34" charset="-122"/>
                <a:cs typeface="Segoe UI" pitchFamily="34" charset="-120"/>
              </a:rPr>
              <a:t>Integrate - inventory MCP, work-order OpenAPI and Search knowledge</a:t>
            </a:r>
          </a:p>
          <a:p>
            <a:pPr marL="228600" indent="-228600">
              <a:spcAft>
                <a:spcPts val="800"/>
              </a:spcAft>
              <a:buSzPct val="100000"/>
              <a:buChar char="•"/>
            </a:pPr>
            <a:r>
              <a:rPr lang="en-US" sz="1500">
                <a:solidFill>
                  <a:srgbClr val="33333A"/>
                </a:solidFill>
                <a:latin typeface="Segoe UI" pitchFamily="34" charset="0"/>
                <a:ea typeface="Segoe UI" pitchFamily="34" charset="-122"/>
                <a:cs typeface="Segoe UI" pitchFamily="34" charset="-120"/>
              </a:rPr>
              <a:t>Orchestrate - a grounded WO-007 briefing; multi-agent design is next</a:t>
            </a:r>
          </a:p>
          <a:p>
            <a:pPr marL="228600" indent="-228600">
              <a:spcAft>
                <a:spcPts val="800"/>
              </a:spcAft>
              <a:buSzPct val="100000"/>
              <a:buChar char="•"/>
            </a:pPr>
            <a:r>
              <a:rPr lang="en-US" sz="1500">
                <a:solidFill>
                  <a:srgbClr val="33333A"/>
                </a:solidFill>
                <a:latin typeface="Segoe UI" pitchFamily="34" charset="0"/>
                <a:ea typeface="Segoe UI" pitchFamily="34" charset="-122"/>
                <a:cs typeface="Segoe UI" pitchFamily="34" charset="-120"/>
              </a:rPr>
              <a:t>Secure - distinguish UI, runtime and downstream identities</a:t>
            </a:r>
          </a:p>
          <a:p>
            <a:pPr marL="228600" indent="-228600">
              <a:spcAft>
                <a:spcPts val="800"/>
              </a:spcAft>
              <a:buSzPct val="100000"/>
              <a:buChar char="•"/>
            </a:pPr>
            <a:r>
              <a:rPr lang="en-US" sz="1500">
                <a:solidFill>
                  <a:srgbClr val="33333A"/>
                </a:solidFill>
                <a:latin typeface="Segoe UI" pitchFamily="34" charset="0"/>
                <a:ea typeface="Segoe UI" pitchFamily="34" charset="-122"/>
                <a:cs typeface="Segoe UI" pitchFamily="34" charset="-120"/>
              </a:rPr>
              <a:t>Operate - verify logs, traces, errors, state and recovery</a:t>
            </a:r>
          </a:p>
          <a:p>
            <a:pPr marL="228600" indent="-228600">
              <a:spcAft>
                <a:spcPts val="800"/>
              </a:spcAft>
              <a:buSzPct val="100000"/>
              <a:buChar char="•"/>
            </a:pPr>
            <a:r>
              <a:rPr lang="en-US" sz="1500">
                <a:solidFill>
                  <a:srgbClr val="33333A"/>
                </a:solidFill>
                <a:latin typeface="Segoe UI" pitchFamily="34" charset="0"/>
                <a:ea typeface="Segoe UI" pitchFamily="34" charset="-122"/>
                <a:cs typeface="Segoe UI" pitchFamily="34" charset="-120"/>
              </a:rPr>
              <a:t>Ship - follow the staged deployment and record accepted versions</a:t>
            </a:r>
            <a:endParaRPr lang="en-US" sz="1500" dirty="0"/>
          </a:p>
        </p:txBody>
      </p:sp>
      <p:sp>
        <p:nvSpPr>
          <p:cNvPr id="9" name="Text 7"/>
          <p:cNvSpPr/>
          <p:nvPr/>
        </p:nvSpPr>
        <p:spPr>
          <a:xfrm>
            <a:off x="566928" y="4965700"/>
            <a:ext cx="8229600" cy="365760"/>
          </a:xfrm>
          <a:prstGeom prst="rect">
            <a:avLst/>
          </a:prstGeom>
          <a:noFill/>
          <a:ln/>
        </p:spPr>
        <p:txBody>
          <a:bodyPr wrap="square" rtlCol="0" anchor="ctr"/>
          <a:lstStyle/>
          <a:p>
            <a:pPr marL="0" indent="0">
              <a:buNone/>
            </a:pPr>
            <a:r>
              <a:rPr lang="en-US" sz="1300">
                <a:solidFill>
                  <a:srgbClr val="4B44E0"/>
                </a:solidFill>
                <a:latin typeface="Segoe UI Semibold" pitchFamily="34" charset="0"/>
                <a:ea typeface="Segoe UI Semibold" pitchFamily="34" charset="-122"/>
                <a:cs typeface="Segoe UI Semibold" pitchFamily="34" charset="-120"/>
              </a:rPr>
              <a:t>Sample and guide: github.com/leestott/fibey-toolbox-demo | deployment_guide.md</a:t>
            </a:r>
            <a:endParaRPr lang="en-US" sz="1300" dirty="0"/>
          </a:p>
        </p:txBody>
      </p:sp>
      <p:pic>
        <p:nvPicPr>
          <p:cNvPr id="10" name="Image 0" descr="assets/wave.png"/>
          <p:cNvPicPr>
            <a:picLocks noChangeAspect="1"/>
          </p:cNvPicPr>
          <p:nvPr/>
        </p:nvPicPr>
        <p:blipFill>
          <a:blip r:embed="rId3"/>
          <a:srcRect l="641" r="641"/>
          <a:stretch>
            <a:fillRect/>
          </a:stretch>
        </p:blipFill>
        <p:spPr>
          <a:xfrm>
            <a:off x="0" y="5458968"/>
            <a:ext cx="12191695" cy="1399032"/>
          </a:xfrm>
          <a:prstGeom prst="rect">
            <a:avLst/>
          </a:prstGeom>
        </p:spPr>
      </p:pic>
    </p:spTree>
    <p:extLst>
      <p:ext uri="{BB962C8B-B14F-4D97-AF65-F5344CB8AC3E}">
        <p14:creationId xmlns:p14="http://schemas.microsoft.com/office/powerpoint/2010/main" val="2603935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48640" y="320040"/>
            <a:ext cx="11064240" cy="640080"/>
          </a:xfrm>
          <a:prstGeom prst="rect">
            <a:avLst/>
          </a:prstGeom>
        </p:spPr>
        <p:txBody>
          <a:bodyPr wrap="square" rtlCol="0">
            <a:spAutoFit/>
          </a:bodyPr>
          <a:lstStyle/>
          <a:p>
            <a:r>
              <a:rPr sz="3000">
                <a:solidFill>
                  <a:srgbClr val="242424"/>
                </a:solidFill>
                <a:latin typeface="Segoe UI Semibold"/>
              </a:rPr>
              <a:t>Fibey on Azure: hosted solution architecture</a:t>
            </a:r>
          </a:p>
        </p:txBody>
      </p:sp>
      <p:sp>
        <p:nvSpPr>
          <p:cNvPr id="3" name="TextBox 3"/>
          <p:cNvSpPr txBox="1"/>
          <p:nvPr/>
        </p:nvSpPr>
        <p:spPr>
          <a:xfrm>
            <a:off x="548640" y="914400"/>
            <a:ext cx="11064240" cy="457200"/>
          </a:xfrm>
          <a:prstGeom prst="rect">
            <a:avLst/>
          </a:prstGeom>
        </p:spPr>
        <p:txBody>
          <a:bodyPr wrap="square" rtlCol="0">
            <a:spAutoFit/>
          </a:bodyPr>
          <a:lstStyle/>
          <a:p>
            <a:r>
              <a:rPr sz="1500">
                <a:solidFill>
                  <a:srgbClr val="595963"/>
                </a:solidFill>
                <a:latin typeface="Segoe UI"/>
              </a:rPr>
              <a:t>Five supporting ACA apps. One Foundry-hosted agent. Synthetic operations; not a private end-to-end network.</a:t>
            </a:r>
          </a:p>
        </p:txBody>
      </p:sp>
      <p:sp>
        <p:nvSpPr>
          <p:cNvPr id="4" name="Shape 4"/>
          <p:cNvSpPr/>
          <p:nvPr/>
        </p:nvSpPr>
        <p:spPr>
          <a:xfrm>
            <a:off x="548640" y="1554480"/>
            <a:ext cx="2331720" cy="914400"/>
          </a:xfrm>
          <a:prstGeom prst="roundRect">
            <a:avLst/>
          </a:prstGeom>
          <a:solidFill>
            <a:srgbClr val="EDEAFB"/>
          </a:solidFill>
        </p:spPr>
        <p:txBody>
          <a:bodyPr rtlCol="0" anchor="ctr"/>
          <a:lstStyle/>
          <a:p>
            <a:r>
              <a:rPr b="1" sz="1400">
                <a:solidFill>
                  <a:srgbClr val="4B3FCE"/>
                </a:solidFill>
                <a:latin typeface="Segoe UI"/>
              </a:rPr>
              <a:t>Entra user -&gt; UI</a:t>
            </a:r>
          </a:p>
          <a:p>
            <a:r>
              <a:rPr sz="1200">
                <a:solidFill>
                  <a:srgbClr val="242424"/>
                </a:solidFill>
                <a:latin typeface="Segoe UI"/>
              </a:rPr>
              <a:t>ACA external :80</a:t>
            </a:r>
          </a:p>
          <a:p>
            <a:r>
              <a:rPr sz="1200">
                <a:solidFill>
                  <a:srgbClr val="242424"/>
                </a:solidFill>
                <a:latin typeface="Segoe UI"/>
              </a:rPr>
              <a:t>Nginx + user allowlist</a:t>
            </a:r>
          </a:p>
        </p:txBody>
      </p:sp>
      <p:sp>
        <p:nvSpPr>
          <p:cNvPr id="5" name="Shape 5"/>
          <p:cNvSpPr/>
          <p:nvPr/>
        </p:nvSpPr>
        <p:spPr>
          <a:xfrm>
            <a:off x="3520440" y="1554480"/>
            <a:ext cx="2331720" cy="914400"/>
          </a:xfrm>
          <a:prstGeom prst="roundRect">
            <a:avLst/>
          </a:prstGeom>
          <a:solidFill>
            <a:srgbClr val="EDEAFB"/>
          </a:solidFill>
        </p:spPr>
        <p:txBody>
          <a:bodyPr rtlCol="0" anchor="ctr"/>
          <a:lstStyle/>
          <a:p>
            <a:r>
              <a:rPr b="1" sz="1400">
                <a:solidFill>
                  <a:srgbClr val="4B3FCE"/>
                </a:solidFill>
                <a:latin typeface="Segoe UI"/>
              </a:rPr>
              <a:t>Internal gateway</a:t>
            </a:r>
          </a:p>
          <a:p>
            <a:r>
              <a:rPr sz="1200">
                <a:solidFill>
                  <a:srgbClr val="242424"/>
                </a:solidFill>
                <a:latin typeface="Segoe UI"/>
              </a:rPr>
              <a:t>ACA internal :8000</a:t>
            </a:r>
          </a:p>
          <a:p>
            <a:r>
              <a:rPr sz="1200">
                <a:solidFill>
                  <a:srgbClr val="242424"/>
                </a:solidFill>
                <a:latin typeface="Segoe UI"/>
              </a:rPr>
              <a:t>Managed identity; 1 replica</a:t>
            </a:r>
          </a:p>
        </p:txBody>
      </p:sp>
      <p:sp>
        <p:nvSpPr>
          <p:cNvPr id="6" name="Shape 6"/>
          <p:cNvSpPr/>
          <p:nvPr/>
        </p:nvSpPr>
        <p:spPr>
          <a:xfrm>
            <a:off x="6492240" y="1554480"/>
            <a:ext cx="2331720" cy="914400"/>
          </a:xfrm>
          <a:prstGeom prst="roundRect">
            <a:avLst/>
          </a:prstGeom>
          <a:solidFill>
            <a:srgbClr val="EDEAFB"/>
          </a:solidFill>
        </p:spPr>
        <p:txBody>
          <a:bodyPr rtlCol="0" anchor="ctr"/>
          <a:lstStyle/>
          <a:p>
            <a:r>
              <a:rPr b="1" sz="1400">
                <a:solidFill>
                  <a:srgbClr val="4B3FCE"/>
                </a:solidFill>
                <a:latin typeface="Segoe UI"/>
              </a:rPr>
              <a:t>Fibey hosted agent</a:t>
            </a:r>
          </a:p>
          <a:p>
            <a:r>
              <a:rPr sz="1200">
                <a:solidFill>
                  <a:srgbClr val="242424"/>
                </a:solidFill>
                <a:latin typeface="Segoe UI"/>
              </a:rPr>
              <a:t>Responses 2.0.0 + skills</a:t>
            </a:r>
          </a:p>
          <a:p>
            <a:r>
              <a:rPr sz="1200">
                <a:solidFill>
                  <a:srgbClr val="242424"/>
                </a:solidFill>
                <a:latin typeface="Segoe UI"/>
              </a:rPr>
              <a:t>Foundry GPT-5.4-mini model</a:t>
            </a:r>
          </a:p>
        </p:txBody>
      </p:sp>
      <p:sp>
        <p:nvSpPr>
          <p:cNvPr id="7" name="Shape 7"/>
          <p:cNvSpPr/>
          <p:nvPr/>
        </p:nvSpPr>
        <p:spPr>
          <a:xfrm>
            <a:off x="9464040" y="1554480"/>
            <a:ext cx="2194560" cy="914400"/>
          </a:xfrm>
          <a:prstGeom prst="roundRect">
            <a:avLst/>
          </a:prstGeom>
          <a:solidFill>
            <a:srgbClr val="EDEAFB"/>
          </a:solidFill>
        </p:spPr>
        <p:txBody>
          <a:bodyPr rtlCol="0" anchor="ctr"/>
          <a:lstStyle/>
          <a:p>
            <a:r>
              <a:rPr b="1" sz="1400">
                <a:solidFill>
                  <a:srgbClr val="4B3FCE"/>
                </a:solidFill>
                <a:latin typeface="Segoe UI"/>
              </a:rPr>
              <a:t>Foundry Toolbox</a:t>
            </a:r>
          </a:p>
          <a:p>
            <a:r>
              <a:rPr sz="1200">
                <a:solidFill>
                  <a:srgbClr val="242424"/>
                </a:solidFill>
                <a:latin typeface="Segoe UI"/>
              </a:rPr>
              <a:t>MCP + connections</a:t>
            </a:r>
          </a:p>
          <a:p>
            <a:r>
              <a:rPr sz="1200">
                <a:solidFill>
                  <a:srgbClr val="242424"/>
                </a:solidFill>
                <a:latin typeface="Segoe UI"/>
              </a:rPr>
              <a:t>Keys / project identity</a:t>
            </a:r>
          </a:p>
        </p:txBody>
      </p:sp>
      <p:sp>
        <p:nvSpPr>
          <p:cNvPr id="8" name="Shape 8"/>
          <p:cNvSpPr/>
          <p:nvPr/>
        </p:nvSpPr>
        <p:spPr>
          <a:xfrm>
            <a:off x="3017520" y="1874520"/>
            <a:ext cx="365760" cy="274320"/>
          </a:xfrm>
          <a:prstGeom prst="rightArrow">
            <a:avLst/>
          </a:prstGeom>
          <a:solidFill>
            <a:srgbClr val="4B3FCE"/>
          </a:solidFill>
        </p:spPr>
        <p:txBody>
          <a:bodyPr rtlCol="0" anchor="ctr"/>
          <a:lstStyle/>
          <a:p/>
        </p:txBody>
      </p:sp>
      <p:sp>
        <p:nvSpPr>
          <p:cNvPr id="9" name="Shape 9"/>
          <p:cNvSpPr/>
          <p:nvPr/>
        </p:nvSpPr>
        <p:spPr>
          <a:xfrm>
            <a:off x="5989320" y="1874520"/>
            <a:ext cx="365760" cy="274320"/>
          </a:xfrm>
          <a:prstGeom prst="rightArrow">
            <a:avLst/>
          </a:prstGeom>
          <a:solidFill>
            <a:srgbClr val="4B3FCE"/>
          </a:solidFill>
        </p:spPr>
        <p:txBody>
          <a:bodyPr rtlCol="0" anchor="ctr"/>
          <a:lstStyle/>
          <a:p/>
        </p:txBody>
      </p:sp>
      <p:sp>
        <p:nvSpPr>
          <p:cNvPr id="10" name="Shape 10"/>
          <p:cNvSpPr/>
          <p:nvPr/>
        </p:nvSpPr>
        <p:spPr>
          <a:xfrm>
            <a:off x="8961120" y="1874520"/>
            <a:ext cx="365760" cy="274320"/>
          </a:xfrm>
          <a:prstGeom prst="rightArrow">
            <a:avLst/>
          </a:prstGeom>
          <a:solidFill>
            <a:srgbClr val="4B3FCE"/>
          </a:solidFill>
        </p:spPr>
        <p:txBody>
          <a:bodyPr rtlCol="0" anchor="ctr"/>
          <a:lstStyle/>
          <a:p/>
        </p:txBody>
      </p:sp>
      <p:sp>
        <p:nvSpPr>
          <p:cNvPr id="11" name="TextBox 11"/>
          <p:cNvSpPr txBox="1"/>
          <p:nvPr/>
        </p:nvSpPr>
        <p:spPr>
          <a:xfrm>
            <a:off x="548640" y="2606040"/>
            <a:ext cx="11109960" cy="365760"/>
          </a:xfrm>
          <a:prstGeom prst="rect">
            <a:avLst/>
          </a:prstGeom>
        </p:spPr>
        <p:txBody>
          <a:bodyPr wrap="square" rtlCol="0">
            <a:spAutoFit/>
          </a:bodyPr>
          <a:lstStyle/>
          <a:p>
            <a:r>
              <a:rPr sz="1300">
                <a:solidFill>
                  <a:srgbClr val="4B3FCE"/>
                </a:solidFill>
                <a:latin typeface="Segoe UI Semibold"/>
              </a:rPr>
              <a:t>TOOLBOX ROUTES: inventory MCP | work-order OpenAPI | knowledge-base MCP</a:t>
            </a:r>
          </a:p>
        </p:txBody>
      </p:sp>
      <p:sp>
        <p:nvSpPr>
          <p:cNvPr id="12" name="Shape 12"/>
          <p:cNvSpPr/>
          <p:nvPr/>
        </p:nvSpPr>
        <p:spPr>
          <a:xfrm>
            <a:off x="548640" y="3063240"/>
            <a:ext cx="3383280" cy="914400"/>
          </a:xfrm>
          <a:prstGeom prst="roundRect">
            <a:avLst/>
          </a:prstGeom>
          <a:solidFill>
            <a:srgbClr val="F0F6FC"/>
          </a:solidFill>
        </p:spPr>
        <p:txBody>
          <a:bodyPr rtlCol="0" anchor="ctr"/>
          <a:lstStyle/>
          <a:p>
            <a:r>
              <a:rPr b="1" sz="1500">
                <a:solidFill>
                  <a:srgbClr val="242424"/>
                </a:solidFill>
                <a:latin typeface="Segoe UI"/>
              </a:rPr>
              <a:t>Inventory MCP</a:t>
            </a:r>
          </a:p>
          <a:p>
            <a:r>
              <a:rPr sz="1200">
                <a:solidFill>
                  <a:srgbClr val="242424"/>
                </a:solidFill>
                <a:latin typeface="Segoe UI"/>
              </a:rPr>
              <a:t>ACA external :8001; API key</a:t>
            </a:r>
          </a:p>
          <a:p>
            <a:r>
              <a:rPr sz="1200">
                <a:solidFill>
                  <a:srgbClr val="242424"/>
                </a:solidFill>
                <a:latin typeface="Segoe UI"/>
              </a:rPr>
              <a:t>Stock and fixed-dashboard status</a:t>
            </a:r>
          </a:p>
        </p:txBody>
      </p:sp>
      <p:sp>
        <p:nvSpPr>
          <p:cNvPr id="13" name="Shape 13"/>
          <p:cNvSpPr/>
          <p:nvPr/>
        </p:nvSpPr>
        <p:spPr>
          <a:xfrm>
            <a:off x="4434840" y="3063240"/>
            <a:ext cx="3383280" cy="914400"/>
          </a:xfrm>
          <a:prstGeom prst="roundRect">
            <a:avLst/>
          </a:prstGeom>
          <a:solidFill>
            <a:srgbClr val="F0F6FC"/>
          </a:solidFill>
        </p:spPr>
        <p:txBody>
          <a:bodyPr rtlCol="0" anchor="ctr"/>
          <a:lstStyle/>
          <a:p>
            <a:r>
              <a:rPr b="1" sz="1500">
                <a:solidFill>
                  <a:srgbClr val="242424"/>
                </a:solidFill>
                <a:latin typeface="Segoe UI"/>
              </a:rPr>
              <a:t>Work-orders API</a:t>
            </a:r>
          </a:p>
          <a:p>
            <a:r>
              <a:rPr sz="1200">
                <a:solidFill>
                  <a:srgbClr val="242424"/>
                </a:solidFill>
                <a:latin typeface="Segoe UI"/>
              </a:rPr>
              <a:t>ACA external :8002; API key</a:t>
            </a:r>
          </a:p>
          <a:p>
            <a:r>
              <a:rPr sz="1200">
                <a:solidFill>
                  <a:srgbClr val="242424"/>
                </a:solidFill>
                <a:latin typeface="Segoe UI"/>
              </a:rPr>
              <a:t>Synthetic in-memory orders; 1 replica</a:t>
            </a:r>
          </a:p>
        </p:txBody>
      </p:sp>
      <p:sp>
        <p:nvSpPr>
          <p:cNvPr id="14" name="Shape 14"/>
          <p:cNvSpPr/>
          <p:nvPr/>
        </p:nvSpPr>
        <p:spPr>
          <a:xfrm>
            <a:off x="8321040" y="3063240"/>
            <a:ext cx="3337560" cy="914400"/>
          </a:xfrm>
          <a:prstGeom prst="roundRect">
            <a:avLst/>
          </a:prstGeom>
          <a:solidFill>
            <a:srgbClr val="F0F6FC"/>
          </a:solidFill>
        </p:spPr>
        <p:txBody>
          <a:bodyPr rtlCol="0" anchor="ctr"/>
          <a:lstStyle/>
          <a:p>
            <a:r>
              <a:rPr b="1" sz="1500">
                <a:solidFill>
                  <a:srgbClr val="242424"/>
                </a:solidFill>
                <a:latin typeface="Segoe UI"/>
              </a:rPr>
              <a:t>Azure AI Search / Foundry IQ</a:t>
            </a:r>
          </a:p>
          <a:p>
            <a:r>
              <a:rPr sz="1200">
                <a:solidFill>
                  <a:srgbClr val="242424"/>
                </a:solidFill>
                <a:latin typeface="Segoe UI"/>
              </a:rPr>
              <a:t>Index + knowledge source + KB MCP</a:t>
            </a:r>
          </a:p>
          <a:p>
            <a:r>
              <a:rPr sz="1200">
                <a:solidFill>
                  <a:srgbClr val="242424"/>
                </a:solidFill>
                <a:latin typeface="Segoe UI"/>
              </a:rPr>
              <a:t>Project identity; public network endpoint</a:t>
            </a:r>
          </a:p>
        </p:txBody>
      </p:sp>
      <p:sp>
        <p:nvSpPr>
          <p:cNvPr id="15" name="Shape 15"/>
          <p:cNvSpPr/>
          <p:nvPr/>
        </p:nvSpPr>
        <p:spPr>
          <a:xfrm>
            <a:off x="2057400" y="4023360"/>
            <a:ext cx="274320" cy="274320"/>
          </a:xfrm>
          <a:prstGeom prst="downArrow">
            <a:avLst/>
          </a:prstGeom>
          <a:solidFill>
            <a:srgbClr val="4B3FCE"/>
          </a:solidFill>
        </p:spPr>
        <p:txBody>
          <a:bodyPr rtlCol="0" anchor="ctr"/>
          <a:lstStyle/>
          <a:p/>
        </p:txBody>
      </p:sp>
      <p:sp>
        <p:nvSpPr>
          <p:cNvPr id="16" name="Shape 16"/>
          <p:cNvSpPr/>
          <p:nvPr/>
        </p:nvSpPr>
        <p:spPr>
          <a:xfrm>
            <a:off x="9835560" y="4023360"/>
            <a:ext cx="274320" cy="274320"/>
          </a:xfrm>
          <a:prstGeom prst="upArrow">
            <a:avLst/>
          </a:prstGeom>
          <a:solidFill>
            <a:srgbClr val="4B3FCE"/>
          </a:solidFill>
        </p:spPr>
        <p:txBody>
          <a:bodyPr rtlCol="0" anchor="ctr"/>
          <a:lstStyle/>
          <a:p/>
        </p:txBody>
      </p:sp>
      <p:sp>
        <p:nvSpPr>
          <p:cNvPr id="17" name="Shape 17"/>
          <p:cNvSpPr/>
          <p:nvPr/>
        </p:nvSpPr>
        <p:spPr>
          <a:xfrm>
            <a:off x="548640" y="4343400"/>
            <a:ext cx="3383280" cy="914400"/>
          </a:xfrm>
          <a:prstGeom prst="roundRect">
            <a:avLst/>
          </a:prstGeom>
          <a:solidFill>
            <a:srgbClr val="F7F7F6"/>
          </a:solidFill>
        </p:spPr>
        <p:txBody>
          <a:bodyPr rtlCol="0" anchor="ctr"/>
          <a:lstStyle/>
          <a:p>
            <a:r>
              <a:rPr b="1" sz="1500">
                <a:solidFill>
                  <a:srgbClr val="242424"/>
                </a:solidFill>
                <a:latin typeface="Segoe UI"/>
              </a:rPr>
              <a:t>Internal status dashboard</a:t>
            </a:r>
          </a:p>
          <a:p>
            <a:r>
              <a:rPr sz="1200">
                <a:solidFill>
                  <a:srgbClr val="242424"/>
                </a:solidFill>
                <a:latin typeface="Segoe UI"/>
              </a:rPr>
              <a:t>ACA internal :8003; Nginx + HTML</a:t>
            </a:r>
          </a:p>
          <a:p>
            <a:r>
              <a:rPr sz="1200">
                <a:solidFill>
                  <a:srgbClr val="242424"/>
                </a:solidFill>
                <a:latin typeface="Segoe UI"/>
              </a:rPr>
              <a:t>Inventory reads the configured URL</a:t>
            </a:r>
          </a:p>
        </p:txBody>
      </p:sp>
      <p:sp>
        <p:nvSpPr>
          <p:cNvPr id="18" name="Shape 18"/>
          <p:cNvSpPr/>
          <p:nvPr/>
        </p:nvSpPr>
        <p:spPr>
          <a:xfrm>
            <a:off x="4434840" y="4343400"/>
            <a:ext cx="3383280" cy="914400"/>
          </a:xfrm>
          <a:prstGeom prst="roundRect">
            <a:avLst/>
          </a:prstGeom>
          <a:solidFill>
            <a:srgbClr val="F7F7F6"/>
          </a:solidFill>
        </p:spPr>
        <p:txBody>
          <a:bodyPr rtlCol="0" anchor="ctr"/>
          <a:lstStyle/>
          <a:p>
            <a:r>
              <a:rPr b="1" sz="1500">
                <a:solidFill>
                  <a:srgbClr val="242424"/>
                </a:solidFill>
                <a:latin typeface="Segoe UI"/>
              </a:rPr>
              <a:t>Azure Container Registry</a:t>
            </a:r>
          </a:p>
          <a:p>
            <a:r>
              <a:rPr sz="1200">
                <a:solidFill>
                  <a:srgbClr val="242424"/>
                </a:solidFill>
                <a:latin typeface="Segoe UI"/>
              </a:rPr>
              <a:t>Images -&gt; hosted runtime + five ACA apps</a:t>
            </a:r>
          </a:p>
          <a:p>
            <a:r>
              <a:rPr sz="1200">
                <a:solidFill>
                  <a:srgbClr val="242424"/>
                </a:solidFill>
                <a:latin typeface="Segoe UI"/>
              </a:rPr>
              <a:t>Pull roles AND registry identity links</a:t>
            </a:r>
          </a:p>
        </p:txBody>
      </p:sp>
      <p:sp>
        <p:nvSpPr>
          <p:cNvPr id="19" name="Shape 19"/>
          <p:cNvSpPr/>
          <p:nvPr/>
        </p:nvSpPr>
        <p:spPr>
          <a:xfrm>
            <a:off x="8321040" y="4343400"/>
            <a:ext cx="3337560" cy="914400"/>
          </a:xfrm>
          <a:prstGeom prst="roundRect">
            <a:avLst/>
          </a:prstGeom>
          <a:solidFill>
            <a:srgbClr val="F7F7F6"/>
          </a:solidFill>
        </p:spPr>
        <p:txBody>
          <a:bodyPr rtlCol="0" anchor="ctr"/>
          <a:lstStyle/>
          <a:p>
            <a:r>
              <a:rPr b="1" sz="1400">
                <a:solidFill>
                  <a:srgbClr val="242424"/>
                </a:solidFill>
                <a:latin typeface="Segoe UI"/>
              </a:rPr>
              <a:t>Azure Blob Storage -&gt; Search indexer</a:t>
            </a:r>
          </a:p>
          <a:p>
            <a:r>
              <a:rPr sz="1200">
                <a:solidFill>
                  <a:srgbClr val="242424"/>
                </a:solidFill>
                <a:latin typeface="Segoe UI"/>
              </a:rPr>
              <a:t>Private foundry-iq-docs container</a:t>
            </a:r>
          </a:p>
          <a:p>
            <a:r>
              <a:rPr sz="1200">
                <a:solidFill>
                  <a:srgbClr val="242424"/>
                </a:solidFill>
                <a:latin typeface="Segoe UI"/>
              </a:rPr>
              <a:t>Search identity reads eight documents</a:t>
            </a:r>
          </a:p>
        </p:txBody>
      </p:sp>
      <p:sp>
        <p:nvSpPr>
          <p:cNvPr id="20" name="Shape 20"/>
          <p:cNvSpPr/>
          <p:nvPr/>
        </p:nvSpPr>
        <p:spPr>
          <a:xfrm>
            <a:off x="548640" y="5520690"/>
            <a:ext cx="11109960" cy="594360"/>
          </a:xfrm>
          <a:prstGeom prst="roundRect">
            <a:avLst/>
          </a:prstGeom>
          <a:solidFill>
            <a:srgbClr val="EDEAFB"/>
          </a:solidFill>
        </p:spPr>
        <p:txBody>
          <a:bodyPr rtlCol="0" anchor="ctr"/>
          <a:lstStyle/>
          <a:p>
            <a:r>
              <a:rPr b="1" sz="1200">
                <a:solidFill>
                  <a:srgbClr val="4B3FCE"/>
                </a:solidFill>
                <a:latin typeface="Segoe UI"/>
              </a:rPr>
              <a:t>Azure Monitor: ACA logs -&gt; Log Analytics | Hosted OpenTelemetry -&gt; linked Application Insights, if configured</a:t>
            </a:r>
          </a:p>
          <a:p>
            <a:r>
              <a:rPr sz="1100">
                <a:solidFill>
                  <a:srgbClr val="595963"/>
                </a:solidFill>
                <a:latin typeface="Segoe UI"/>
              </a:rPr>
              <a:t>Bicep provisions Log Analytics, not Application Insights. Verify the hosted trace destination.</a:t>
            </a:r>
          </a:p>
        </p:txBody>
      </p:sp>
      <p:sp>
        <p:nvSpPr>
          <p:cNvPr id="21" name="TextBox 21"/>
          <p:cNvSpPr txBox="1"/>
          <p:nvPr/>
        </p:nvSpPr>
        <p:spPr>
          <a:xfrm>
            <a:off x="548640" y="6248400"/>
            <a:ext cx="11109960" cy="457200"/>
          </a:xfrm>
          <a:prstGeom prst="rect">
            <a:avLst/>
          </a:prstGeom>
        </p:spPr>
        <p:txBody>
          <a:bodyPr wrap="square" rtlCol="0">
            <a:spAutoFit/>
          </a:bodyPr>
          <a:lstStyle/>
          <a:p>
            <a:r>
              <a:rPr sz="1200">
                <a:solidFill>
                  <a:srgbClr val="595963"/>
                </a:solidFill>
                <a:latin typeface="Segoe UI"/>
              </a:rPr>
              <a:t>Control plane: Git + azd + Bicep -&gt; ARM resources and scoped RBAC. Full diagram: docs/architecture.md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34</TotalTime>
  <Words>2992</Words>
  <Application>Microsoft Office PowerPoint</Application>
  <PresentationFormat>Widescreen</PresentationFormat>
  <Paragraphs>314</Paragraphs>
  <Slides>15</Slides>
  <Notes>15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Linda Li</dc:creator>
  <cp:lastModifiedBy>Lee Stott</cp:lastModifiedBy>
  <cp:revision>6</cp:revision>
  <dcterms:created xsi:type="dcterms:W3CDTF">2026-09-15T07:19:45Z</dcterms:created>
  <dcterms:modified xsi:type="dcterms:W3CDTF">2026-09-17T09:24:44Z</dcterms:modified>
</cp:coreProperties>
</file>